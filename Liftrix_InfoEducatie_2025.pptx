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828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TITLU
Deschide cu un ton calm și profesionist. Prezintă-te: "Mă numesc [PRENUME NUME] și am creat Liftrix — o platformă Android completă de tracking fitness cu coaching AI și funcționalități sociale." Lasă un moment de pauză. Subliniază că aplicația este funcțională, nu un prototip. Menționează: 8 servicii Firebase integrate, arhitectură clean profesionistă, funcționalitate offline-first.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PROBLEMA
Explică de ce această problemă este reală și relevantă. Menționează că ai identificat aceste fricțiuni analizând aplicațiile existente și feedback-ul utilizatorilor. Subliniază că problema nu este trivială: tracking fragmentat + offline unreliable + coaching generic = experiență slabă. Liftrix rezolvă toate patru simultan.
[NOTE: Înlocuiește statisticile marcate cu date reale dacă le ai sau citează surse publice]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PUBLIC ȚINTĂ
Descrie concret cine folosește aplicația. Dacă ai date reale despre utilizatori (vârstă, număr, feedback), menționează-le acum. Explică că ai gândit cele 3 personas pornind de la nevoi reale. Subliniază că suportul pentru SDK 24+ înseamnă că aplicația rulează pe 95%+ din dispozitivele Android active.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SOLUȚIA
Prezintă cei 4 piloni ai aplicației. Subliniază că nu este o aplicație simplă de todo-list sau calculator — este o platformă complexă cu 4 sisteme majore integrate. Accentuează offline-first ca diferențiator major față de concurență. Menționează că AI Coaching este bazat pe Gemini 2.5 Flash Lite prin Firebase AI SDK.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FLUX UTILIZATOR
Dacă ai un demo live, acesta este momentul să îl arăți. Dacă nu, descrie verbal fluxul pas cu pas. Subliniază tranziția lină între pași și că aplicația funcționează perfect și offline. Menționează mecanismul de sync automat — este un diferențiator tehnic major. Dacă ai screenshot-uri din aplicație, le poți integra pe acest slide.
[RECOMANDARE: Adaugă screenshot-uri reale din aplicație pe acest slide pentru impact vizual maxim]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FUNCȚIONALITĂȚI
Treci rapid prin cele 4 categorii. Nu citi fiecare bullet — prezintă conceptual. Accentuează că toate 4 sisteme sunt integrate, nu separate. Menționează că AI Coach-ul folosește contextul real al antrenamentelor utilizatorului, nu sfaturi generice. Subliniază că AI-ul nu este încă public (în testing), dar arhitectura este complet implementată.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ARHITECTURĂ
Explică că ai ales Clean Architecture nu pentru că "era la modă", ci pentru că permite testarea independentă a fiecărui strat și scalabilitatea codului. Menționează dependency rule: fiecare strat depinde doar de stratul imediat inferior. Subliniază că ai 30 module Hilt — aceasta demonstrează granularitate și profesionalism. Explică MVI: unidirecțional, predictibil, ușor de debugat.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INOVAȚIE TEHNICĂ
Acesta este unul dintre cele mai importante slide-uri pentru juriu. Explică în detaliu cel puțin 2-3 provocări tehnice. Arată că ai înțeles problemele, nu doar că ai implementat. Subliniază că graficele țintă 60fps fără librărie externă demonstrează înțelegerea Canvas API. Conflict resolution offline este o problemă recunoscută în industry (distributed systems).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COMPARAȚIE CONCURENȚĂ
Subliniază că Liftrix este SINGURUL care combină toate 4: tracking complet + AI coaching + social + offline-first. Concurenții fie sunt specializați (Strong = doar workout, Strava = cardio), fie nu au AI real integrat. QR Pairing la sală este funcționalitate unică în piață. [INFERENȚĂ: Datele concurenților se bazează pe analiza publică a acestora]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METRICI
[CRITIC: Înlocuiește TOATE metricile marcate cu [DE ÎNLOCUIT] cu date reale înainte de prezentare]
Metricile tehnice (țintă 60fps, țintă &lt;100ms) sunt extrase din documentație și sunt REALE. Metricile de utilizare trebuie completate din Firebase Analytics sau din testele tale. Dacă nu ai utilizatori externi, prezintă datele din testarea personală sau sesiunile de testing.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TESTIMONIALE
[CRITIC: Înlocuiește TOATE testimonialele cu feedback real înainte de prezentare]
Dacă ai feedback de la prieteni, colegi sau oricine a testat aplicația — pune-l aici. Testimonialele specifice (QR pairing, grafice progress) sunt mai convingătoare decât cele generice. Poți colecta feedback printr-un formular Google Forms simplu și îl prezinți ca date de testare.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REPO &amp; DEZVOLTARE
Explică că ai urmărit un proces de dezvoltare structurat, nu ai scris tot codul dintr-o dată. Demonstrează că există tag-uri de versiune și că fiecare versiune adaugă funcționalități clar definite. Subliniază că ai documentație completă (README + docs/). [DE ÎNLOCUIT: Menționează numărul real de commit-uri, data primului commit, etc.]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RESURSE &amp; AI
Fii complet transparent despre folosirea AI-ului. Juriul apreciază onestitatea. Subliniază că logica de business, arhitectura și implementarea sunt ale tale, iar AI-ul a ajutat la documentare și brainstorming — exact cum ai folosi Stack Overflow sau documentația oficială. Menționează că aplicația în sine include AI (Gemini 2.5 pentru coaching), deci înțelegi AI ca tehnologie, nu doar ca unealtă de scris cod.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IMPACT
Acesta este momentul să "vinzi" proiectul. Fii specific și concret — nu vag. Subliniază că ai construit ceva funcțional, nu un prototip. Menționează că arhitectura este comparabilă cu proiecte enterprise reale (clean arch, hilt, room, firebase). Dacă ai date reale despre utilizatori sau feedback, integrează-le acum.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CONCLUZIE
Termină cu energie pozitivă. Rezumă în 2 propoziții ce face aplicația și de ce e relevantă. Menționează că APK-ul este disponibil și că ești deschis la feedback. Dacă juriul are întrebări, acesta este momentul — ești pregătit pentru orice.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0C9B7"/>
          </a:solidFill>
          <a:ln w="12700">
            <a:solidFill>
              <a:srgbClr val="20C9B7"/>
            </a:solidFill>
            <a:prstDash val="solid"/>
          </a:ln>
        </p:spPr>
        <p:txBody>
          <a:bodyPr/>
          <a:lstStyle/>
          <a:p>
            <a:endParaRPr lang="en-US"/>
          </a:p>
        </p:txBody>
      </p:sp>
      <p:sp>
        <p:nvSpPr>
          <p:cNvPr id="3" name="Shape 1"/>
          <p:cNvSpPr/>
          <p:nvPr/>
        </p:nvSpPr>
        <p:spPr>
          <a:xfrm>
            <a:off x="7132320" y="-731520"/>
            <a:ext cx="3200400" cy="3200400"/>
          </a:xfrm>
          <a:prstGeom prst="ellipse">
            <a:avLst/>
          </a:prstGeom>
          <a:solidFill>
            <a:srgbClr val="20C9B7">
              <a:alpha val="12000"/>
            </a:srgbClr>
          </a:solidFill>
          <a:ln w="12700">
            <a:solidFill>
              <a:srgbClr val="20C9B7">
                <a:alpha val="20000"/>
              </a:srgbClr>
            </a:solidFill>
            <a:prstDash val="solid"/>
          </a:ln>
        </p:spPr>
        <p:txBody>
          <a:bodyPr/>
          <a:lstStyle/>
          <a:p>
            <a:endParaRPr lang="en-US"/>
          </a:p>
        </p:txBody>
      </p:sp>
      <p:sp>
        <p:nvSpPr>
          <p:cNvPr id="4" name="Shape 2"/>
          <p:cNvSpPr/>
          <p:nvPr/>
        </p:nvSpPr>
        <p:spPr>
          <a:xfrm>
            <a:off x="7589520" y="3200400"/>
            <a:ext cx="2011680" cy="2011680"/>
          </a:xfrm>
          <a:prstGeom prst="ellipse">
            <a:avLst/>
          </a:prstGeom>
          <a:solidFill>
            <a:srgbClr val="20C9B7">
              <a:alpha val="8000"/>
            </a:srgbClr>
          </a:solidFill>
          <a:ln w="12700">
            <a:solidFill>
              <a:srgbClr val="20C9B7">
                <a:alpha val="12000"/>
              </a:srgbClr>
            </a:solidFill>
            <a:prstDash val="solid"/>
          </a:ln>
        </p:spPr>
        <p:txBody>
          <a:bodyPr/>
          <a:lstStyle/>
          <a:p>
            <a:endParaRPr lang="en-US"/>
          </a:p>
        </p:txBody>
      </p:sp>
      <p:sp>
        <p:nvSpPr>
          <p:cNvPr id="5" name="Text 3"/>
          <p:cNvSpPr/>
          <p:nvPr/>
        </p:nvSpPr>
        <p:spPr>
          <a:xfrm>
            <a:off x="365760" y="868680"/>
            <a:ext cx="5943600" cy="777240"/>
          </a:xfrm>
          <a:prstGeom prst="rect">
            <a:avLst/>
          </a:prstGeom>
          <a:noFill/>
          <a:ln/>
        </p:spPr>
        <p:txBody>
          <a:bodyPr wrap="square" lIns="0" tIns="0" rIns="0" bIns="0" rtlCol="0" anchor="ctr"/>
          <a:lstStyle/>
          <a:p>
            <a:pPr marL="0" indent="0" algn="l">
              <a:buNone/>
            </a:pPr>
            <a:r>
              <a:rPr lang="en-US" sz="5200" b="1" kern="0" spc="600" dirty="0">
                <a:solidFill>
                  <a:srgbClr val="FFFFFF"/>
                </a:solidFill>
                <a:latin typeface="Calibri" pitchFamily="34" charset="0"/>
                <a:ea typeface="Calibri" pitchFamily="34" charset="-122"/>
                <a:cs typeface="Calibri" pitchFamily="34" charset="-120"/>
              </a:rPr>
              <a:t>LIFTRIX</a:t>
            </a:r>
            <a:endParaRPr lang="en-US" sz="5200" dirty="0"/>
          </a:p>
        </p:txBody>
      </p:sp>
      <p:sp>
        <p:nvSpPr>
          <p:cNvPr id="6" name="Text 4"/>
          <p:cNvSpPr/>
          <p:nvPr/>
        </p:nvSpPr>
        <p:spPr>
          <a:xfrm>
            <a:off x="365760" y="1691640"/>
            <a:ext cx="6217920" cy="731520"/>
          </a:xfrm>
          <a:prstGeom prst="rect">
            <a:avLst/>
          </a:prstGeom>
          <a:noFill/>
          <a:ln/>
        </p:spPr>
        <p:txBody>
          <a:bodyPr wrap="square" lIns="0" tIns="0" rIns="0" bIns="0" rtlCol="0" anchor="ctr"/>
          <a:lstStyle/>
          <a:p>
            <a:pPr marL="0" indent="0" algn="l">
              <a:buNone/>
            </a:pPr>
            <a:r>
              <a:rPr lang="en-US" sz="1700" dirty="0">
                <a:solidFill>
                  <a:srgbClr val="B2F5EF"/>
                </a:solidFill>
                <a:latin typeface="Calibri" pitchFamily="34" charset="0"/>
                <a:ea typeface="Calibri" pitchFamily="34" charset="-122"/>
                <a:cs typeface="Calibri" pitchFamily="34" charset="-120"/>
              </a:rPr>
              <a:t>Platformă Android de fitness cu tracking inteligent,</a:t>
            </a:r>
            <a:endParaRPr lang="en-US" sz="1700" dirty="0"/>
          </a:p>
          <a:p>
            <a:pPr marL="0" indent="0" algn="l">
              <a:buNone/>
            </a:pPr>
            <a:r>
              <a:rPr lang="en-US" sz="1700" dirty="0">
                <a:solidFill>
                  <a:srgbClr val="B2F5EF"/>
                </a:solidFill>
                <a:latin typeface="Calibri" pitchFamily="34" charset="0"/>
                <a:ea typeface="Calibri" pitchFamily="34" charset="-122"/>
                <a:cs typeface="Calibri" pitchFamily="34" charset="-120"/>
              </a:rPr>
              <a:t>coaching AI și engagement social</a:t>
            </a:r>
            <a:endParaRPr lang="en-US" sz="1700" dirty="0"/>
          </a:p>
        </p:txBody>
      </p:sp>
      <p:sp>
        <p:nvSpPr>
          <p:cNvPr id="7" name="Shape 5"/>
          <p:cNvSpPr/>
          <p:nvPr/>
        </p:nvSpPr>
        <p:spPr>
          <a:xfrm>
            <a:off x="365760" y="2514600"/>
            <a:ext cx="2286000" cy="36576"/>
          </a:xfrm>
          <a:prstGeom prst="rect">
            <a:avLst/>
          </a:prstGeom>
          <a:solidFill>
            <a:srgbClr val="20C9B7"/>
          </a:solidFill>
          <a:ln w="12700">
            <a:solidFill>
              <a:srgbClr val="20C9B7"/>
            </a:solidFill>
            <a:prstDash val="solid"/>
          </a:ln>
        </p:spPr>
        <p:txBody>
          <a:bodyPr/>
          <a:lstStyle/>
          <a:p>
            <a:endParaRPr lang="en-US"/>
          </a:p>
        </p:txBody>
      </p:sp>
      <p:sp>
        <p:nvSpPr>
          <p:cNvPr id="8" name="Text 6"/>
          <p:cNvSpPr/>
          <p:nvPr/>
        </p:nvSpPr>
        <p:spPr>
          <a:xfrm>
            <a:off x="365760" y="2697480"/>
            <a:ext cx="2011680" cy="640080"/>
          </a:xfrm>
          <a:prstGeom prst="rect">
            <a:avLst/>
          </a:prstGeom>
          <a:noFill/>
          <a:ln/>
        </p:spPr>
        <p:txBody>
          <a:bodyPr wrap="square" lIns="0" tIns="0" rIns="0" bIns="0" rtlCol="0" anchor="ctr"/>
          <a:lstStyle/>
          <a:p>
            <a:pPr marL="0" indent="0" algn="l">
              <a:buNone/>
            </a:pPr>
            <a:r>
              <a:rPr lang="en-US" sz="2800" b="1" dirty="0">
                <a:solidFill>
                  <a:srgbClr val="20C9B7"/>
                </a:solidFill>
                <a:latin typeface="Calibri" pitchFamily="34" charset="0"/>
                <a:ea typeface="Calibri" pitchFamily="34" charset="-122"/>
                <a:cs typeface="Calibri" pitchFamily="34" charset="-120"/>
              </a:rPr>
              <a:t>12</a:t>
            </a:r>
            <a:endParaRPr lang="en-US" sz="2800" dirty="0"/>
          </a:p>
        </p:txBody>
      </p:sp>
      <p:sp>
        <p:nvSpPr>
          <p:cNvPr id="9" name="Text 7"/>
          <p:cNvSpPr/>
          <p:nvPr/>
        </p:nvSpPr>
        <p:spPr>
          <a:xfrm>
            <a:off x="365760" y="3310128"/>
            <a:ext cx="2011680" cy="320040"/>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Servicii Firebase</a:t>
            </a:r>
            <a:endParaRPr lang="en-US" sz="1100" dirty="0"/>
          </a:p>
        </p:txBody>
      </p:sp>
      <p:sp>
        <p:nvSpPr>
          <p:cNvPr id="10" name="Text 8"/>
          <p:cNvSpPr/>
          <p:nvPr/>
        </p:nvSpPr>
        <p:spPr>
          <a:xfrm>
            <a:off x="2514600" y="2697480"/>
            <a:ext cx="2011680" cy="640080"/>
          </a:xfrm>
          <a:prstGeom prst="rect">
            <a:avLst/>
          </a:prstGeom>
          <a:noFill/>
          <a:ln/>
        </p:spPr>
        <p:txBody>
          <a:bodyPr wrap="square" lIns="0" tIns="0" rIns="0" bIns="0" rtlCol="0" anchor="ctr"/>
          <a:lstStyle/>
          <a:p>
            <a:pPr marL="0" indent="0" algn="l">
              <a:buNone/>
            </a:pPr>
            <a:r>
              <a:rPr lang="en-US" sz="2800" b="1" dirty="0">
                <a:solidFill>
                  <a:srgbClr val="20C9B7"/>
                </a:solidFill>
                <a:latin typeface="Calibri" pitchFamily="34" charset="0"/>
                <a:ea typeface="Calibri" pitchFamily="34" charset="-122"/>
                <a:cs typeface="Calibri" pitchFamily="34" charset="-120"/>
              </a:rPr>
              <a:t>62</a:t>
            </a:r>
            <a:endParaRPr lang="en-US" sz="2800" dirty="0"/>
          </a:p>
        </p:txBody>
      </p:sp>
      <p:sp>
        <p:nvSpPr>
          <p:cNvPr id="11" name="Text 9"/>
          <p:cNvSpPr/>
          <p:nvPr/>
        </p:nvSpPr>
        <p:spPr>
          <a:xfrm>
            <a:off x="2514600" y="3310128"/>
            <a:ext cx="2011680" cy="320040"/>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Use Cases</a:t>
            </a:r>
            <a:endParaRPr lang="en-US" sz="1100" dirty="0"/>
          </a:p>
        </p:txBody>
      </p:sp>
      <p:sp>
        <p:nvSpPr>
          <p:cNvPr id="12" name="Text 10"/>
          <p:cNvSpPr/>
          <p:nvPr/>
        </p:nvSpPr>
        <p:spPr>
          <a:xfrm>
            <a:off x="4663440" y="2697480"/>
            <a:ext cx="2011680" cy="640080"/>
          </a:xfrm>
          <a:prstGeom prst="rect">
            <a:avLst/>
          </a:prstGeom>
          <a:noFill/>
          <a:ln/>
        </p:spPr>
        <p:txBody>
          <a:bodyPr wrap="square" lIns="0" tIns="0" rIns="0" bIns="0" rtlCol="0" anchor="ctr"/>
          <a:lstStyle/>
          <a:p>
            <a:pPr marL="0" indent="0" algn="l">
              <a:buNone/>
            </a:pPr>
            <a:r>
              <a:rPr lang="en-US" sz="2800" b="1" dirty="0">
                <a:solidFill>
                  <a:srgbClr val="20C9B7"/>
                </a:solidFill>
                <a:latin typeface="Calibri" pitchFamily="34" charset="0"/>
                <a:ea typeface="Calibri" pitchFamily="34" charset="-122"/>
                <a:cs typeface="Calibri" pitchFamily="34" charset="-120"/>
              </a:rPr>
              <a:t>65</a:t>
            </a:r>
            <a:endParaRPr lang="en-US" sz="2800" dirty="0"/>
          </a:p>
        </p:txBody>
      </p:sp>
      <p:sp>
        <p:nvSpPr>
          <p:cNvPr id="13" name="Text 11"/>
          <p:cNvSpPr/>
          <p:nvPr/>
        </p:nvSpPr>
        <p:spPr>
          <a:xfrm>
            <a:off x="4663440" y="3310128"/>
            <a:ext cx="2011680" cy="320040"/>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Entități Room</a:t>
            </a:r>
            <a:endParaRPr lang="en-US" sz="1100" dirty="0"/>
          </a:p>
        </p:txBody>
      </p:sp>
      <p:sp>
        <p:nvSpPr>
          <p:cNvPr id="14" name="Text 12"/>
          <p:cNvSpPr/>
          <p:nvPr/>
        </p:nvSpPr>
        <p:spPr>
          <a:xfrm>
            <a:off x="6812280" y="2697480"/>
            <a:ext cx="2011680" cy="640080"/>
          </a:xfrm>
          <a:prstGeom prst="rect">
            <a:avLst/>
          </a:prstGeom>
          <a:noFill/>
          <a:ln/>
        </p:spPr>
        <p:txBody>
          <a:bodyPr wrap="square" lIns="0" tIns="0" rIns="0" bIns="0" rtlCol="0" anchor="ctr"/>
          <a:lstStyle/>
          <a:p>
            <a:pPr marL="0" indent="0" algn="l">
              <a:buNone/>
            </a:pPr>
            <a:r>
              <a:rPr lang="en-US" sz="2800" b="1" dirty="0">
                <a:solidFill>
                  <a:srgbClr val="20C9B7"/>
                </a:solidFill>
                <a:latin typeface="Calibri" pitchFamily="34" charset="0"/>
                <a:ea typeface="Calibri" pitchFamily="34" charset="-122"/>
                <a:cs typeface="Calibri" pitchFamily="34" charset="-120"/>
              </a:rPr>
              <a:t>Clean</a:t>
            </a:r>
            <a:endParaRPr lang="en-US" sz="2800" dirty="0"/>
          </a:p>
          <a:p>
            <a:pPr marL="0" indent="0" algn="l">
              <a:buNone/>
            </a:pPr>
            <a:r>
              <a:rPr lang="en-US" sz="2800" b="1" dirty="0">
                <a:solidFill>
                  <a:srgbClr val="20C9B7"/>
                </a:solidFill>
                <a:latin typeface="Calibri" pitchFamily="34" charset="0"/>
                <a:ea typeface="Calibri" pitchFamily="34" charset="-122"/>
                <a:cs typeface="Calibri" pitchFamily="34" charset="-120"/>
              </a:rPr>
              <a:t>Arch.</a:t>
            </a:r>
            <a:endParaRPr lang="en-US" sz="2800" dirty="0"/>
          </a:p>
        </p:txBody>
      </p:sp>
      <p:sp>
        <p:nvSpPr>
          <p:cNvPr id="15" name="Text 13"/>
          <p:cNvSpPr/>
          <p:nvPr/>
        </p:nvSpPr>
        <p:spPr>
          <a:xfrm>
            <a:off x="6812280" y="3310128"/>
            <a:ext cx="2011680" cy="320040"/>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Arhitectură</a:t>
            </a:r>
            <a:endParaRPr lang="en-US" sz="1100" dirty="0"/>
          </a:p>
        </p:txBody>
      </p:sp>
      <p:sp>
        <p:nvSpPr>
          <p:cNvPr id="16" name="Text 14"/>
          <p:cNvSpPr/>
          <p:nvPr/>
        </p:nvSpPr>
        <p:spPr>
          <a:xfrm>
            <a:off x="365760" y="4572000"/>
            <a:ext cx="8412480" cy="320040"/>
          </a:xfrm>
          <a:prstGeom prst="rect">
            <a:avLst/>
          </a:prstGeom>
          <a:noFill/>
          <a:ln/>
        </p:spPr>
        <p:txBody>
          <a:bodyPr wrap="square" lIns="0" tIns="0" rIns="0" bIns="0" rtlCol="0" anchor="ctr"/>
          <a:lstStyle/>
          <a:p>
            <a:pPr marL="0" indent="0" algn="l">
              <a:buNone/>
            </a:pPr>
            <a:r>
              <a:rPr lang="en-US" sz="1000" dirty="0">
                <a:solidFill>
                  <a:srgbClr val="6B7280"/>
                </a:solidFill>
                <a:latin typeface="Calibri" pitchFamily="34" charset="0"/>
                <a:ea typeface="Calibri" pitchFamily="34" charset="-122"/>
                <a:cs typeface="Calibri" pitchFamily="34" charset="-120"/>
              </a:rPr>
              <a:t>InfoEducație 2026  |  Secțiunea: Aplicații Mobile  |  Android · Kotlin · Jetpack Compose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CONTEXT &amp; PROBLEMĂ</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Care este problema pe care o rezolvă Liftrix?</a:t>
            </a:r>
            <a:endParaRPr lang="en-US" sz="2400" dirty="0"/>
          </a:p>
        </p:txBody>
      </p:sp>
      <p:sp>
        <p:nvSpPr>
          <p:cNvPr id="4" name="Shape 2"/>
          <p:cNvSpPr/>
          <p:nvPr/>
        </p:nvSpPr>
        <p:spPr>
          <a:xfrm>
            <a:off x="365760" y="1143000"/>
            <a:ext cx="5120640" cy="8046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1143000"/>
            <a:ext cx="54864" cy="804672"/>
          </a:xfrm>
          <a:prstGeom prst="rect">
            <a:avLst/>
          </a:prstGeom>
          <a:solidFill>
            <a:srgbClr val="20C9B7"/>
          </a:solidFill>
          <a:ln w="12700">
            <a:solidFill>
              <a:srgbClr val="20C9B7"/>
            </a:solidFill>
            <a:prstDash val="solid"/>
          </a:ln>
        </p:spPr>
        <p:txBody>
          <a:bodyPr/>
          <a:lstStyle/>
          <a:p>
            <a:endParaRPr lang="en-US"/>
          </a:p>
        </p:txBody>
      </p:sp>
      <p:sp>
        <p:nvSpPr>
          <p:cNvPr id="6" name="Text 4"/>
          <p:cNvSpPr/>
          <p:nvPr/>
        </p:nvSpPr>
        <p:spPr>
          <a:xfrm>
            <a:off x="594360" y="1188720"/>
            <a:ext cx="4663440" cy="27432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Tracking fragmentat</a:t>
            </a:r>
            <a:endParaRPr lang="en-US" sz="1200" dirty="0"/>
          </a:p>
        </p:txBody>
      </p:sp>
      <p:sp>
        <p:nvSpPr>
          <p:cNvPr id="7" name="Text 5"/>
          <p:cNvSpPr/>
          <p:nvPr/>
        </p:nvSpPr>
        <p:spPr>
          <a:xfrm>
            <a:off x="594360" y="1472184"/>
            <a:ext cx="4663440" cy="41148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Utilizatorii folosesc 3-4 aplicații separate: una pentru workout, alta pentru progres, alta pentru coaching. Datele nu comunică.</a:t>
            </a:r>
            <a:endParaRPr lang="en-US" sz="1000" dirty="0"/>
          </a:p>
        </p:txBody>
      </p:sp>
      <p:sp>
        <p:nvSpPr>
          <p:cNvPr id="8" name="Shape 6"/>
          <p:cNvSpPr/>
          <p:nvPr/>
        </p:nvSpPr>
        <p:spPr>
          <a:xfrm>
            <a:off x="365760" y="2075688"/>
            <a:ext cx="5120640" cy="8046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9" name="Shape 7"/>
          <p:cNvSpPr/>
          <p:nvPr/>
        </p:nvSpPr>
        <p:spPr>
          <a:xfrm>
            <a:off x="365760" y="2075688"/>
            <a:ext cx="54864" cy="804672"/>
          </a:xfrm>
          <a:prstGeom prst="rect">
            <a:avLst/>
          </a:prstGeom>
          <a:solidFill>
            <a:srgbClr val="20C9B7"/>
          </a:solidFill>
          <a:ln w="12700">
            <a:solidFill>
              <a:srgbClr val="20C9B7"/>
            </a:solidFill>
            <a:prstDash val="solid"/>
          </a:ln>
        </p:spPr>
        <p:txBody>
          <a:bodyPr/>
          <a:lstStyle/>
          <a:p>
            <a:endParaRPr lang="en-US"/>
          </a:p>
        </p:txBody>
      </p:sp>
      <p:sp>
        <p:nvSpPr>
          <p:cNvPr id="10" name="Text 8"/>
          <p:cNvSpPr/>
          <p:nvPr/>
        </p:nvSpPr>
        <p:spPr>
          <a:xfrm>
            <a:off x="594360" y="2121408"/>
            <a:ext cx="4663440" cy="27432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Dependența de internet</a:t>
            </a:r>
            <a:endParaRPr lang="en-US" sz="1200" dirty="0"/>
          </a:p>
        </p:txBody>
      </p:sp>
      <p:sp>
        <p:nvSpPr>
          <p:cNvPr id="11" name="Text 9"/>
          <p:cNvSpPr/>
          <p:nvPr/>
        </p:nvSpPr>
        <p:spPr>
          <a:xfrm>
            <a:off x="594360" y="2404872"/>
            <a:ext cx="4663440" cy="41148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Cele mai populare aplicații de fitness nu funcționează offline — o problemă majoră la sală unde conexiunea este instabilă.</a:t>
            </a:r>
            <a:endParaRPr lang="en-US" sz="1000" dirty="0"/>
          </a:p>
        </p:txBody>
      </p:sp>
      <p:sp>
        <p:nvSpPr>
          <p:cNvPr id="12" name="Shape 10"/>
          <p:cNvSpPr/>
          <p:nvPr/>
        </p:nvSpPr>
        <p:spPr>
          <a:xfrm>
            <a:off x="365760" y="3008376"/>
            <a:ext cx="5120640" cy="8046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3" name="Shape 11"/>
          <p:cNvSpPr/>
          <p:nvPr/>
        </p:nvSpPr>
        <p:spPr>
          <a:xfrm>
            <a:off x="365760" y="3008376"/>
            <a:ext cx="54864" cy="804672"/>
          </a:xfrm>
          <a:prstGeom prst="rect">
            <a:avLst/>
          </a:prstGeom>
          <a:solidFill>
            <a:srgbClr val="20C9B7"/>
          </a:solidFill>
          <a:ln w="12700">
            <a:solidFill>
              <a:srgbClr val="20C9B7"/>
            </a:solidFill>
            <a:prstDash val="solid"/>
          </a:ln>
        </p:spPr>
        <p:txBody>
          <a:bodyPr/>
          <a:lstStyle/>
          <a:p>
            <a:endParaRPr lang="en-US"/>
          </a:p>
        </p:txBody>
      </p:sp>
      <p:sp>
        <p:nvSpPr>
          <p:cNvPr id="14" name="Text 12"/>
          <p:cNvSpPr/>
          <p:nvPr/>
        </p:nvSpPr>
        <p:spPr>
          <a:xfrm>
            <a:off x="594360" y="3054096"/>
            <a:ext cx="4663440" cy="27432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Coaching generic</a:t>
            </a:r>
            <a:endParaRPr lang="en-US" sz="1200" dirty="0"/>
          </a:p>
        </p:txBody>
      </p:sp>
      <p:sp>
        <p:nvSpPr>
          <p:cNvPr id="15" name="Text 13"/>
          <p:cNvSpPr/>
          <p:nvPr/>
        </p:nvSpPr>
        <p:spPr>
          <a:xfrm>
            <a:off x="594360" y="3337560"/>
            <a:ext cx="4663440" cy="41148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Sfaturile AI din aplicațiile existente nu țin cont de istoricul personal de antrenamente al utilizatorului.</a:t>
            </a:r>
            <a:endParaRPr lang="en-US" sz="1000" dirty="0"/>
          </a:p>
        </p:txBody>
      </p:sp>
      <p:sp>
        <p:nvSpPr>
          <p:cNvPr id="16" name="Shape 14"/>
          <p:cNvSpPr/>
          <p:nvPr/>
        </p:nvSpPr>
        <p:spPr>
          <a:xfrm>
            <a:off x="365760" y="3941064"/>
            <a:ext cx="5120640" cy="8046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7" name="Shape 15"/>
          <p:cNvSpPr/>
          <p:nvPr/>
        </p:nvSpPr>
        <p:spPr>
          <a:xfrm>
            <a:off x="365760" y="3941064"/>
            <a:ext cx="54864" cy="804672"/>
          </a:xfrm>
          <a:prstGeom prst="rect">
            <a:avLst/>
          </a:prstGeom>
          <a:solidFill>
            <a:srgbClr val="20C9B7"/>
          </a:solidFill>
          <a:ln w="12700">
            <a:solidFill>
              <a:srgbClr val="20C9B7"/>
            </a:solidFill>
            <a:prstDash val="solid"/>
          </a:ln>
        </p:spPr>
        <p:txBody>
          <a:bodyPr/>
          <a:lstStyle/>
          <a:p>
            <a:endParaRPr lang="en-US"/>
          </a:p>
        </p:txBody>
      </p:sp>
      <p:sp>
        <p:nvSpPr>
          <p:cNvPr id="18" name="Text 16"/>
          <p:cNvSpPr/>
          <p:nvPr/>
        </p:nvSpPr>
        <p:spPr>
          <a:xfrm>
            <a:off x="594360" y="3986784"/>
            <a:ext cx="4663440" cy="27432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Izolarea socială</a:t>
            </a:r>
            <a:endParaRPr lang="en-US" sz="1200" dirty="0"/>
          </a:p>
        </p:txBody>
      </p:sp>
      <p:sp>
        <p:nvSpPr>
          <p:cNvPr id="19" name="Text 17"/>
          <p:cNvSpPr/>
          <p:nvPr/>
        </p:nvSpPr>
        <p:spPr>
          <a:xfrm>
            <a:off x="594360" y="4270248"/>
            <a:ext cx="4663440" cy="41148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Lipsa unui mecanism real de motivație socială contextualizat pe activitatea de antrenament.</a:t>
            </a:r>
            <a:endParaRPr lang="en-US" sz="1000" dirty="0"/>
          </a:p>
        </p:txBody>
      </p:sp>
      <p:sp>
        <p:nvSpPr>
          <p:cNvPr id="20" name="Shape 18"/>
          <p:cNvSpPr/>
          <p:nvPr/>
        </p:nvSpPr>
        <p:spPr>
          <a:xfrm>
            <a:off x="5760720" y="1143000"/>
            <a:ext cx="3017520" cy="3566160"/>
          </a:xfrm>
          <a:prstGeom prst="rect">
            <a:avLst/>
          </a:prstGeom>
          <a:solidFill>
            <a:srgbClr val="F0FFFE"/>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1" name="Shape 19"/>
          <p:cNvSpPr/>
          <p:nvPr/>
        </p:nvSpPr>
        <p:spPr>
          <a:xfrm>
            <a:off x="5760720" y="1143000"/>
            <a:ext cx="3017520" cy="54864"/>
          </a:xfrm>
          <a:prstGeom prst="rect">
            <a:avLst/>
          </a:prstGeom>
          <a:solidFill>
            <a:srgbClr val="20C9B7"/>
          </a:solidFill>
          <a:ln w="12700">
            <a:solidFill>
              <a:srgbClr val="20C9B7"/>
            </a:solidFill>
            <a:prstDash val="solid"/>
          </a:ln>
        </p:spPr>
        <p:txBody>
          <a:bodyPr/>
          <a:lstStyle/>
          <a:p>
            <a:endParaRPr lang="en-US"/>
          </a:p>
        </p:txBody>
      </p:sp>
      <p:sp>
        <p:nvSpPr>
          <p:cNvPr id="22" name="Text 20"/>
          <p:cNvSpPr/>
          <p:nvPr/>
        </p:nvSpPr>
        <p:spPr>
          <a:xfrm>
            <a:off x="5897880" y="1170432"/>
            <a:ext cx="2743200" cy="32004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De ce contează</a:t>
            </a:r>
            <a:endParaRPr lang="en-US" sz="1300" dirty="0"/>
          </a:p>
        </p:txBody>
      </p:sp>
      <p:sp>
        <p:nvSpPr>
          <p:cNvPr id="23" name="Text 21"/>
          <p:cNvSpPr/>
          <p:nvPr/>
        </p:nvSpPr>
        <p:spPr>
          <a:xfrm>
            <a:off x="5897880" y="1620906"/>
            <a:ext cx="2743200" cy="438912"/>
          </a:xfrm>
          <a:prstGeom prst="rect">
            <a:avLst/>
          </a:prstGeom>
          <a:noFill/>
          <a:ln/>
        </p:spPr>
        <p:txBody>
          <a:bodyPr wrap="square" lIns="0" tIns="0" rIns="0" bIns="0" rtlCol="0" anchor="ctr"/>
          <a:lstStyle/>
          <a:p>
            <a:r>
              <a:rPr lang="en-US" sz="1000" dirty="0">
                <a:solidFill>
                  <a:srgbClr val="6B7280"/>
                </a:solidFill>
                <a:latin typeface="Calibri" pitchFamily="34" charset="0"/>
                <a:ea typeface="Calibri" pitchFamily="34" charset="-122"/>
                <a:cs typeface="Calibri" pitchFamily="34" charset="-120"/>
              </a:rPr>
              <a:t>🏋️ </a:t>
            </a:r>
            <a:r>
              <a:rPr lang="en-US" sz="1000" dirty="0">
                <a:solidFill>
                  <a:schemeClr val="bg2">
                    <a:lumMod val="50000"/>
                  </a:schemeClr>
                </a:solidFill>
              </a:rPr>
              <a:t>Peste </a:t>
            </a:r>
            <a:r>
              <a:rPr lang="en-US" sz="1000" b="1" dirty="0">
                <a:solidFill>
                  <a:schemeClr val="bg2">
                    <a:lumMod val="50000"/>
                  </a:schemeClr>
                </a:solidFill>
              </a:rPr>
              <a:t>90%</a:t>
            </a:r>
            <a:r>
              <a:rPr lang="en-US" sz="1000" dirty="0">
                <a:solidFill>
                  <a:schemeClr val="bg2">
                    <a:lumMod val="50000"/>
                  </a:schemeClr>
                </a:solidFill>
              </a:rPr>
              <a:t> </a:t>
            </a:r>
            <a:r>
              <a:rPr lang="en-US" sz="1000" dirty="0" err="1">
                <a:solidFill>
                  <a:schemeClr val="bg2">
                    <a:lumMod val="50000"/>
                  </a:schemeClr>
                </a:solidFill>
              </a:rPr>
              <a:t>dintre</a:t>
            </a:r>
            <a:r>
              <a:rPr lang="en-US" sz="1000" dirty="0">
                <a:solidFill>
                  <a:schemeClr val="bg2">
                    <a:lumMod val="50000"/>
                  </a:schemeClr>
                </a:solidFill>
              </a:rPr>
              <a:t> </a:t>
            </a:r>
            <a:r>
              <a:rPr lang="en-US" sz="1000" dirty="0" err="1">
                <a:solidFill>
                  <a:schemeClr val="bg2">
                    <a:lumMod val="50000"/>
                  </a:schemeClr>
                </a:solidFill>
              </a:rPr>
              <a:t>utilizatorii</a:t>
            </a:r>
            <a:r>
              <a:rPr lang="en-US" sz="1000" dirty="0">
                <a:solidFill>
                  <a:schemeClr val="bg2">
                    <a:lumMod val="50000"/>
                  </a:schemeClr>
                </a:solidFill>
              </a:rPr>
              <a:t> </a:t>
            </a:r>
            <a:r>
              <a:rPr lang="en-US" sz="1000" dirty="0" err="1">
                <a:solidFill>
                  <a:schemeClr val="bg2">
                    <a:lumMod val="50000"/>
                  </a:schemeClr>
                </a:solidFill>
              </a:rPr>
              <a:t>aplicațiilor</a:t>
            </a:r>
            <a:r>
              <a:rPr lang="en-US" sz="1000" dirty="0">
                <a:solidFill>
                  <a:schemeClr val="bg2">
                    <a:lumMod val="50000"/>
                  </a:schemeClr>
                </a:solidFill>
              </a:rPr>
              <a:t> de fitness </a:t>
            </a:r>
            <a:r>
              <a:rPr lang="en-US" sz="1000" dirty="0" err="1">
                <a:solidFill>
                  <a:schemeClr val="bg2">
                    <a:lumMod val="50000"/>
                  </a:schemeClr>
                </a:solidFill>
              </a:rPr>
              <a:t>abandonează</a:t>
            </a:r>
            <a:r>
              <a:rPr lang="en-US" sz="1000" dirty="0">
                <a:solidFill>
                  <a:schemeClr val="bg2">
                    <a:lumMod val="50000"/>
                  </a:schemeClr>
                </a:solidFill>
              </a:rPr>
              <a:t> </a:t>
            </a:r>
            <a:r>
              <a:rPr lang="en-US" sz="1000" dirty="0" err="1">
                <a:solidFill>
                  <a:schemeClr val="bg2">
                    <a:lumMod val="50000"/>
                  </a:schemeClr>
                </a:solidFill>
              </a:rPr>
              <a:t>utilizarea</a:t>
            </a:r>
            <a:r>
              <a:rPr lang="en-US" sz="1000" dirty="0">
                <a:solidFill>
                  <a:schemeClr val="bg2">
                    <a:lumMod val="50000"/>
                  </a:schemeClr>
                </a:solidFill>
              </a:rPr>
              <a:t> </a:t>
            </a:r>
            <a:r>
              <a:rPr lang="en-US" sz="1000" dirty="0" err="1">
                <a:solidFill>
                  <a:schemeClr val="bg2">
                    <a:lumMod val="50000"/>
                  </a:schemeClr>
                </a:solidFill>
              </a:rPr>
              <a:t>în</a:t>
            </a:r>
            <a:r>
              <a:rPr lang="en-US" sz="1000" dirty="0">
                <a:solidFill>
                  <a:schemeClr val="bg2">
                    <a:lumMod val="50000"/>
                  </a:schemeClr>
                </a:solidFill>
              </a:rPr>
              <a:t> </a:t>
            </a:r>
            <a:r>
              <a:rPr lang="en-US" sz="1000" dirty="0" err="1">
                <a:solidFill>
                  <a:schemeClr val="bg2">
                    <a:lumMod val="50000"/>
                  </a:schemeClr>
                </a:solidFill>
              </a:rPr>
              <a:t>primele</a:t>
            </a:r>
            <a:r>
              <a:rPr lang="en-US" sz="1000" dirty="0">
                <a:solidFill>
                  <a:schemeClr val="bg2">
                    <a:lumMod val="50000"/>
                  </a:schemeClr>
                </a:solidFill>
              </a:rPr>
              <a:t> 30 de </a:t>
            </a:r>
            <a:r>
              <a:rPr lang="en-US" sz="1000" dirty="0" err="1">
                <a:solidFill>
                  <a:schemeClr val="bg2">
                    <a:lumMod val="50000"/>
                  </a:schemeClr>
                </a:solidFill>
              </a:rPr>
              <a:t>zile</a:t>
            </a:r>
            <a:r>
              <a:rPr lang="en-US" sz="1000" dirty="0">
                <a:solidFill>
                  <a:schemeClr val="bg2">
                    <a:lumMod val="50000"/>
                  </a:schemeClr>
                </a:solidFill>
              </a:rPr>
              <a:t>. Rata </a:t>
            </a:r>
            <a:r>
              <a:rPr lang="en-US" sz="1000" dirty="0" err="1">
                <a:solidFill>
                  <a:schemeClr val="bg2">
                    <a:lumMod val="50000"/>
                  </a:schemeClr>
                </a:solidFill>
              </a:rPr>
              <a:t>medie</a:t>
            </a:r>
            <a:r>
              <a:rPr lang="en-US" sz="1000" dirty="0">
                <a:solidFill>
                  <a:schemeClr val="bg2">
                    <a:lumMod val="50000"/>
                  </a:schemeClr>
                </a:solidFill>
              </a:rPr>
              <a:t> de </a:t>
            </a:r>
            <a:r>
              <a:rPr lang="en-US" sz="1000" dirty="0" err="1">
                <a:solidFill>
                  <a:schemeClr val="bg2">
                    <a:lumMod val="50000"/>
                  </a:schemeClr>
                </a:solidFill>
              </a:rPr>
              <a:t>retenție</a:t>
            </a:r>
            <a:r>
              <a:rPr lang="en-US" sz="1000" dirty="0">
                <a:solidFill>
                  <a:schemeClr val="bg2">
                    <a:lumMod val="50000"/>
                  </a:schemeClr>
                </a:solidFill>
              </a:rPr>
              <a:t> </a:t>
            </a:r>
            <a:r>
              <a:rPr lang="en-US" sz="1000" dirty="0" err="1">
                <a:solidFill>
                  <a:schemeClr val="bg2">
                    <a:lumMod val="50000"/>
                  </a:schemeClr>
                </a:solidFill>
              </a:rPr>
              <a:t>în</a:t>
            </a:r>
            <a:r>
              <a:rPr lang="en-US" sz="1000" dirty="0">
                <a:solidFill>
                  <a:schemeClr val="bg2">
                    <a:lumMod val="50000"/>
                  </a:schemeClr>
                </a:solidFill>
              </a:rPr>
              <a:t> </a:t>
            </a:r>
            <a:r>
              <a:rPr lang="en-US" sz="1000" dirty="0" err="1">
                <a:solidFill>
                  <a:schemeClr val="bg2">
                    <a:lumMod val="50000"/>
                  </a:schemeClr>
                </a:solidFill>
              </a:rPr>
              <a:t>ziua</a:t>
            </a:r>
            <a:r>
              <a:rPr lang="en-US" sz="1000" dirty="0">
                <a:solidFill>
                  <a:schemeClr val="bg2">
                    <a:lumMod val="50000"/>
                  </a:schemeClr>
                </a:solidFill>
              </a:rPr>
              <a:t> 30 </a:t>
            </a:r>
            <a:r>
              <a:rPr lang="en-US" sz="1000" dirty="0" err="1">
                <a:solidFill>
                  <a:schemeClr val="bg2">
                    <a:lumMod val="50000"/>
                  </a:schemeClr>
                </a:solidFill>
              </a:rPr>
              <a:t>pentru</a:t>
            </a:r>
            <a:r>
              <a:rPr lang="en-US" sz="1000" dirty="0">
                <a:solidFill>
                  <a:schemeClr val="bg2">
                    <a:lumMod val="50000"/>
                  </a:schemeClr>
                </a:solidFill>
              </a:rPr>
              <a:t> </a:t>
            </a:r>
            <a:r>
              <a:rPr lang="en-US" sz="1000" dirty="0" err="1">
                <a:solidFill>
                  <a:schemeClr val="bg2">
                    <a:lumMod val="50000"/>
                  </a:schemeClr>
                </a:solidFill>
              </a:rPr>
              <a:t>categoria</a:t>
            </a:r>
            <a:r>
              <a:rPr lang="en-US" sz="1000" dirty="0">
                <a:solidFill>
                  <a:schemeClr val="bg2">
                    <a:lumMod val="50000"/>
                  </a:schemeClr>
                </a:solidFill>
              </a:rPr>
              <a:t> "Health &amp; Fitness" </a:t>
            </a:r>
            <a:r>
              <a:rPr lang="en-US" sz="1000" dirty="0" err="1">
                <a:solidFill>
                  <a:schemeClr val="bg2">
                    <a:lumMod val="50000"/>
                  </a:schemeClr>
                </a:solidFill>
              </a:rPr>
              <a:t>este</a:t>
            </a:r>
            <a:r>
              <a:rPr lang="en-US" sz="1000" dirty="0">
                <a:solidFill>
                  <a:schemeClr val="bg2">
                    <a:lumMod val="50000"/>
                  </a:schemeClr>
                </a:solidFill>
              </a:rPr>
              <a:t> de </a:t>
            </a:r>
            <a:r>
              <a:rPr lang="en-US" sz="1000" dirty="0" err="1">
                <a:solidFill>
                  <a:schemeClr val="bg2">
                    <a:lumMod val="50000"/>
                  </a:schemeClr>
                </a:solidFill>
              </a:rPr>
              <a:t>doar</a:t>
            </a:r>
            <a:r>
              <a:rPr lang="en-US" sz="1000" dirty="0">
                <a:solidFill>
                  <a:schemeClr val="bg2">
                    <a:lumMod val="50000"/>
                  </a:schemeClr>
                </a:solidFill>
              </a:rPr>
              <a:t> </a:t>
            </a:r>
            <a:r>
              <a:rPr lang="en-US" sz="1000" b="1" dirty="0">
                <a:solidFill>
                  <a:schemeClr val="bg2">
                    <a:lumMod val="50000"/>
                  </a:schemeClr>
                </a:solidFill>
              </a:rPr>
              <a:t>5-8%</a:t>
            </a:r>
            <a:r>
              <a:rPr lang="en-US" sz="1000" dirty="0">
                <a:solidFill>
                  <a:schemeClr val="bg2">
                    <a:lumMod val="50000"/>
                  </a:schemeClr>
                </a:solidFill>
              </a:rPr>
              <a:t>.</a:t>
            </a:r>
          </a:p>
        </p:txBody>
      </p:sp>
      <p:sp>
        <p:nvSpPr>
          <p:cNvPr id="24" name="Text 22"/>
          <p:cNvSpPr/>
          <p:nvPr/>
        </p:nvSpPr>
        <p:spPr>
          <a:xfrm>
            <a:off x="5897880" y="2372868"/>
            <a:ext cx="2743200" cy="438912"/>
          </a:xfrm>
          <a:prstGeom prst="rect">
            <a:avLst/>
          </a:prstGeom>
          <a:noFill/>
          <a:ln/>
        </p:spPr>
        <p:txBody>
          <a:bodyPr wrap="square" lIns="0" tIns="0" rIns="0" bIns="0" rtlCol="0" anchor="ctr"/>
          <a:lstStyle/>
          <a:p>
            <a:r>
              <a:rPr lang="en-US" sz="1000" dirty="0">
                <a:solidFill>
                  <a:schemeClr val="bg2">
                    <a:lumMod val="50000"/>
                  </a:schemeClr>
                </a:solidFill>
                <a:latin typeface="Calibri" pitchFamily="34" charset="0"/>
                <a:ea typeface="Calibri" pitchFamily="34" charset="-122"/>
                <a:cs typeface="Calibri" pitchFamily="34" charset="-120"/>
              </a:rPr>
              <a:t>📱 </a:t>
            </a:r>
            <a:r>
              <a:rPr lang="en-US" altLang="en-US" sz="1000" dirty="0" err="1">
                <a:solidFill>
                  <a:schemeClr val="bg2">
                    <a:lumMod val="50000"/>
                  </a:schemeClr>
                </a:solidFill>
                <a:latin typeface="Arial" panose="020B0604020202020204" pitchFamily="34" charset="0"/>
              </a:rPr>
              <a:t>Piața</a:t>
            </a:r>
            <a:r>
              <a:rPr lang="en-US" altLang="en-US" sz="1000" dirty="0">
                <a:solidFill>
                  <a:schemeClr val="bg2">
                    <a:lumMod val="50000"/>
                  </a:schemeClr>
                </a:solidFill>
                <a:latin typeface="Arial" panose="020B0604020202020204" pitchFamily="34" charset="0"/>
              </a:rPr>
              <a:t> </a:t>
            </a:r>
            <a:r>
              <a:rPr lang="en-US" altLang="en-US" sz="1000" dirty="0" err="1">
                <a:solidFill>
                  <a:schemeClr val="bg2">
                    <a:lumMod val="50000"/>
                  </a:schemeClr>
                </a:solidFill>
                <a:latin typeface="Arial" panose="020B0604020202020204" pitchFamily="34" charset="0"/>
              </a:rPr>
              <a:t>globală</a:t>
            </a:r>
            <a:r>
              <a:rPr lang="en-US" altLang="en-US" sz="1000" dirty="0">
                <a:solidFill>
                  <a:schemeClr val="bg2">
                    <a:lumMod val="50000"/>
                  </a:schemeClr>
                </a:solidFill>
                <a:latin typeface="Arial" panose="020B0604020202020204" pitchFamily="34" charset="0"/>
              </a:rPr>
              <a:t> a </a:t>
            </a:r>
            <a:r>
              <a:rPr lang="en-US" altLang="en-US" sz="1000" dirty="0" err="1">
                <a:solidFill>
                  <a:schemeClr val="bg2">
                    <a:lumMod val="50000"/>
                  </a:schemeClr>
                </a:solidFill>
                <a:latin typeface="Arial" panose="020B0604020202020204" pitchFamily="34" charset="0"/>
              </a:rPr>
              <a:t>aplicațiilor</a:t>
            </a:r>
            <a:r>
              <a:rPr lang="en-US" altLang="en-US" sz="1000" dirty="0">
                <a:solidFill>
                  <a:schemeClr val="bg2">
                    <a:lumMod val="50000"/>
                  </a:schemeClr>
                </a:solidFill>
                <a:latin typeface="Arial" panose="020B0604020202020204" pitchFamily="34" charset="0"/>
              </a:rPr>
              <a:t> de fitness </a:t>
            </a:r>
            <a:r>
              <a:rPr lang="en-US" altLang="en-US" sz="1000" dirty="0" err="1">
                <a:solidFill>
                  <a:schemeClr val="bg2">
                    <a:lumMod val="50000"/>
                  </a:schemeClr>
                </a:solidFill>
                <a:latin typeface="Arial" panose="020B0604020202020204" pitchFamily="34" charset="0"/>
              </a:rPr>
              <a:t>este</a:t>
            </a:r>
            <a:r>
              <a:rPr lang="en-US" altLang="en-US" sz="1000" dirty="0">
                <a:solidFill>
                  <a:schemeClr val="bg2">
                    <a:lumMod val="50000"/>
                  </a:schemeClr>
                </a:solidFill>
                <a:latin typeface="Arial" panose="020B0604020202020204" pitchFamily="34" charset="0"/>
              </a:rPr>
              <a:t> </a:t>
            </a:r>
            <a:r>
              <a:rPr lang="en-US" altLang="en-US" sz="1000" dirty="0" err="1">
                <a:solidFill>
                  <a:schemeClr val="bg2">
                    <a:lumMod val="50000"/>
                  </a:schemeClr>
                </a:solidFill>
                <a:latin typeface="Arial" panose="020B0604020202020204" pitchFamily="34" charset="0"/>
              </a:rPr>
              <a:t>estimată</a:t>
            </a:r>
            <a:r>
              <a:rPr lang="en-US" altLang="en-US" sz="1000" dirty="0">
                <a:solidFill>
                  <a:schemeClr val="bg2">
                    <a:lumMod val="50000"/>
                  </a:schemeClr>
                </a:solidFill>
                <a:latin typeface="Arial" panose="020B0604020202020204" pitchFamily="34" charset="0"/>
              </a:rPr>
              <a:t> </a:t>
            </a:r>
            <a:r>
              <a:rPr lang="en-US" altLang="en-US" sz="1000" dirty="0" err="1">
                <a:solidFill>
                  <a:schemeClr val="bg2">
                    <a:lumMod val="50000"/>
                  </a:schemeClr>
                </a:solidFill>
                <a:latin typeface="Arial" panose="020B0604020202020204" pitchFamily="34" charset="0"/>
              </a:rPr>
              <a:t>să</a:t>
            </a:r>
            <a:r>
              <a:rPr lang="en-US" altLang="en-US" sz="1000" dirty="0">
                <a:solidFill>
                  <a:schemeClr val="bg2">
                    <a:lumMod val="50000"/>
                  </a:schemeClr>
                </a:solidFill>
                <a:latin typeface="Arial" panose="020B0604020202020204" pitchFamily="34" charset="0"/>
              </a:rPr>
              <a:t> </a:t>
            </a:r>
            <a:r>
              <a:rPr lang="en-US" altLang="en-US" sz="1000" dirty="0" err="1">
                <a:solidFill>
                  <a:schemeClr val="bg2">
                    <a:lumMod val="50000"/>
                  </a:schemeClr>
                </a:solidFill>
                <a:latin typeface="Arial" panose="020B0604020202020204" pitchFamily="34" charset="0"/>
              </a:rPr>
              <a:t>atingă</a:t>
            </a:r>
            <a:r>
              <a:rPr lang="en-US" altLang="en-US" sz="1000" dirty="0">
                <a:solidFill>
                  <a:schemeClr val="bg2">
                    <a:lumMod val="50000"/>
                  </a:schemeClr>
                </a:solidFill>
                <a:latin typeface="Arial" panose="020B0604020202020204" pitchFamily="34" charset="0"/>
              </a:rPr>
              <a:t> </a:t>
            </a:r>
            <a:r>
              <a:rPr lang="en-US" altLang="en-US" sz="1000" b="1" dirty="0">
                <a:solidFill>
                  <a:schemeClr val="bg2">
                    <a:lumMod val="50000"/>
                  </a:schemeClr>
                </a:solidFill>
                <a:latin typeface="Arial" panose="020B0604020202020204" pitchFamily="34" charset="0"/>
              </a:rPr>
              <a:t>14.6 </a:t>
            </a:r>
            <a:r>
              <a:rPr lang="en-US" altLang="en-US" sz="1000" b="1" dirty="0" err="1">
                <a:solidFill>
                  <a:schemeClr val="bg2">
                    <a:lumMod val="50000"/>
                  </a:schemeClr>
                </a:solidFill>
                <a:latin typeface="Arial" panose="020B0604020202020204" pitchFamily="34" charset="0"/>
              </a:rPr>
              <a:t>miliarde</a:t>
            </a:r>
            <a:r>
              <a:rPr lang="en-US" altLang="en-US" sz="1000" b="1" dirty="0">
                <a:solidFill>
                  <a:schemeClr val="bg2">
                    <a:lumMod val="50000"/>
                  </a:schemeClr>
                </a:solidFill>
                <a:latin typeface="Arial" panose="020B0604020202020204" pitchFamily="34" charset="0"/>
              </a:rPr>
              <a:t> USD </a:t>
            </a:r>
            <a:r>
              <a:rPr lang="en-US" altLang="en-US" sz="1000" b="1" dirty="0" err="1">
                <a:solidFill>
                  <a:schemeClr val="bg2">
                    <a:lumMod val="50000"/>
                  </a:schemeClr>
                </a:solidFill>
                <a:latin typeface="Arial" panose="020B0604020202020204" pitchFamily="34" charset="0"/>
              </a:rPr>
              <a:t>în</a:t>
            </a:r>
            <a:r>
              <a:rPr lang="en-US" altLang="en-US" sz="1000" b="1" dirty="0">
                <a:solidFill>
                  <a:schemeClr val="bg2">
                    <a:lumMod val="50000"/>
                  </a:schemeClr>
                </a:solidFill>
                <a:latin typeface="Arial" panose="020B0604020202020204" pitchFamily="34" charset="0"/>
              </a:rPr>
              <a:t> 2026</a:t>
            </a:r>
            <a:r>
              <a:rPr lang="en-US" altLang="en-US" sz="1000" dirty="0">
                <a:solidFill>
                  <a:schemeClr val="bg2">
                    <a:lumMod val="50000"/>
                  </a:schemeClr>
                </a:solidFill>
                <a:latin typeface="Arial" panose="020B0604020202020204" pitchFamily="34" charset="0"/>
              </a:rPr>
              <a:t>, cu o </a:t>
            </a:r>
            <a:r>
              <a:rPr lang="en-US" altLang="en-US" sz="1000" dirty="0" err="1">
                <a:solidFill>
                  <a:schemeClr val="bg2">
                    <a:lumMod val="50000"/>
                  </a:schemeClr>
                </a:solidFill>
                <a:latin typeface="Arial" panose="020B0604020202020204" pitchFamily="34" charset="0"/>
              </a:rPr>
              <a:t>rată</a:t>
            </a:r>
            <a:r>
              <a:rPr lang="en-US" altLang="en-US" sz="1000" dirty="0">
                <a:solidFill>
                  <a:schemeClr val="bg2">
                    <a:lumMod val="50000"/>
                  </a:schemeClr>
                </a:solidFill>
                <a:latin typeface="Arial" panose="020B0604020202020204" pitchFamily="34" charset="0"/>
              </a:rPr>
              <a:t> de </a:t>
            </a:r>
            <a:r>
              <a:rPr lang="en-US" altLang="en-US" sz="1000" dirty="0" err="1">
                <a:solidFill>
                  <a:schemeClr val="bg2">
                    <a:lumMod val="50000"/>
                  </a:schemeClr>
                </a:solidFill>
                <a:latin typeface="Arial" panose="020B0604020202020204" pitchFamily="34" charset="0"/>
              </a:rPr>
              <a:t>creștere</a:t>
            </a:r>
            <a:r>
              <a:rPr lang="en-US" altLang="en-US" sz="1000" dirty="0">
                <a:solidFill>
                  <a:schemeClr val="bg2">
                    <a:lumMod val="50000"/>
                  </a:schemeClr>
                </a:solidFill>
                <a:latin typeface="Arial" panose="020B0604020202020204" pitchFamily="34" charset="0"/>
              </a:rPr>
              <a:t> </a:t>
            </a:r>
            <a:r>
              <a:rPr lang="en-US" altLang="en-US" sz="1000" dirty="0" err="1">
                <a:solidFill>
                  <a:schemeClr val="bg2">
                    <a:lumMod val="50000"/>
                  </a:schemeClr>
                </a:solidFill>
                <a:latin typeface="Arial" panose="020B0604020202020204" pitchFamily="34" charset="0"/>
              </a:rPr>
              <a:t>anuală</a:t>
            </a:r>
            <a:r>
              <a:rPr lang="en-US" altLang="en-US" sz="1000" dirty="0">
                <a:solidFill>
                  <a:schemeClr val="bg2">
                    <a:lumMod val="50000"/>
                  </a:schemeClr>
                </a:solidFill>
                <a:latin typeface="Arial" panose="020B0604020202020204" pitchFamily="34" charset="0"/>
              </a:rPr>
              <a:t> (CAGR) de </a:t>
            </a:r>
            <a:r>
              <a:rPr lang="en-US" altLang="en-US" sz="1000" b="1" dirty="0">
                <a:solidFill>
                  <a:schemeClr val="bg2">
                    <a:lumMod val="50000"/>
                  </a:schemeClr>
                </a:solidFill>
                <a:latin typeface="Arial" panose="020B0604020202020204" pitchFamily="34" charset="0"/>
              </a:rPr>
              <a:t>13.5%</a:t>
            </a:r>
            <a:r>
              <a:rPr lang="en-US" altLang="en-US" sz="1000" dirty="0">
                <a:solidFill>
                  <a:schemeClr val="bg2">
                    <a:lumMod val="50000"/>
                  </a:schemeClr>
                </a:solidFill>
                <a:latin typeface="Arial" panose="020B0604020202020204" pitchFamily="34" charset="0"/>
              </a:rPr>
              <a:t>.</a:t>
            </a:r>
          </a:p>
          <a:p>
            <a:pPr marL="0" indent="0">
              <a:buNone/>
            </a:pPr>
            <a:endParaRPr lang="en-US" sz="1000" dirty="0"/>
          </a:p>
        </p:txBody>
      </p:sp>
      <p:sp>
        <p:nvSpPr>
          <p:cNvPr id="25" name="Text 23"/>
          <p:cNvSpPr/>
          <p:nvPr/>
        </p:nvSpPr>
        <p:spPr>
          <a:xfrm>
            <a:off x="5897880" y="2971800"/>
            <a:ext cx="2743200" cy="43891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Sălile de sport au Wi-Fi </a:t>
            </a:r>
            <a:r>
              <a:rPr lang="en-US" sz="1000" dirty="0" err="1">
                <a:solidFill>
                  <a:srgbClr val="6B7280"/>
                </a:solidFill>
                <a:latin typeface="Calibri" pitchFamily="34" charset="0"/>
                <a:ea typeface="Calibri" pitchFamily="34" charset="-122"/>
                <a:cs typeface="Calibri" pitchFamily="34" charset="-120"/>
              </a:rPr>
              <a:t>instabil</a:t>
            </a:r>
            <a:r>
              <a:rPr lang="en-US" sz="1000" dirty="0">
                <a:solidFill>
                  <a:srgbClr val="6B7280"/>
                </a:solidFill>
                <a:latin typeface="Calibri" pitchFamily="34" charset="0"/>
                <a:ea typeface="Calibri" pitchFamily="34" charset="-122"/>
                <a:cs typeface="Calibri" pitchFamily="34" charset="-120"/>
              </a:rPr>
              <a:t>  offline-first este esențial</a:t>
            </a:r>
            <a:endParaRPr lang="en-US" sz="1000" dirty="0"/>
          </a:p>
        </p:txBody>
      </p:sp>
      <p:sp>
        <p:nvSpPr>
          <p:cNvPr id="26" name="Text 24"/>
          <p:cNvSpPr/>
          <p:nvPr/>
        </p:nvSpPr>
        <p:spPr>
          <a:xfrm>
            <a:off x="5897880" y="3424428"/>
            <a:ext cx="2743200" cy="43891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Utilizatorii doresc coaching personalizat, nu sfaturi generice</a:t>
            </a:r>
            <a:endParaRPr lang="en-US" sz="1000" dirty="0"/>
          </a:p>
        </p:txBody>
      </p:sp>
      <p:sp>
        <p:nvSpPr>
          <p:cNvPr id="27" name="Text 25"/>
          <p:cNvSpPr/>
          <p:nvPr/>
        </p:nvSpPr>
        <p:spPr>
          <a:xfrm>
            <a:off x="5897880" y="3986784"/>
            <a:ext cx="2743200" cy="43891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Motivația socială poate crește retenția; procentul trebuie completat doar cu sursă citată.</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FFE"/>
        </a:solidFill>
        <a:effectLst/>
      </p:bgPr>
    </p:bg>
    <p:spTree>
      <p:nvGrpSpPr>
        <p:cNvPr id="1" name=""/>
        <p:cNvGrpSpPr/>
        <p:nvPr/>
      </p:nvGrpSpPr>
      <p:grpSpPr>
        <a:xfrm>
          <a:off x="0" y="0"/>
          <a:ext cx="0" cy="0"/>
          <a:chOff x="0" y="0"/>
          <a:chExt cx="0" cy="0"/>
        </a:xfrm>
      </p:grpSpPr>
      <p:sp>
        <p:nvSpPr>
          <p:cNvPr id="2" name="Text 0"/>
          <p:cNvSpPr/>
          <p:nvPr/>
        </p:nvSpPr>
        <p:spPr>
          <a:xfrm>
            <a:off x="457200" y="228600"/>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UTILIZATORI</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Pentru cine este Liftrix?</a:t>
            </a:r>
            <a:endParaRPr lang="en-US" sz="2400" dirty="0"/>
          </a:p>
        </p:txBody>
      </p:sp>
      <p:sp>
        <p:nvSpPr>
          <p:cNvPr id="4" name="Shape 2"/>
          <p:cNvSpPr/>
          <p:nvPr/>
        </p:nvSpPr>
        <p:spPr>
          <a:xfrm>
            <a:off x="365760" y="1051560"/>
            <a:ext cx="2606040" cy="329184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1051560"/>
            <a:ext cx="2606040" cy="64008"/>
          </a:xfrm>
          <a:prstGeom prst="rect">
            <a:avLst/>
          </a:prstGeom>
          <a:solidFill>
            <a:srgbClr val="20C9B7"/>
          </a:solidFill>
          <a:ln w="12700">
            <a:solidFill>
              <a:srgbClr val="20C9B7"/>
            </a:solidFill>
            <a:prstDash val="solid"/>
          </a:ln>
        </p:spPr>
        <p:txBody>
          <a:bodyPr/>
          <a:lstStyle/>
          <a:p>
            <a:endParaRPr lang="en-US"/>
          </a:p>
        </p:txBody>
      </p:sp>
      <p:sp>
        <p:nvSpPr>
          <p:cNvPr id="6" name="Text 4"/>
          <p:cNvSpPr/>
          <p:nvPr/>
        </p:nvSpPr>
        <p:spPr>
          <a:xfrm>
            <a:off x="457200" y="1188720"/>
            <a:ext cx="640080" cy="54864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457200" y="1783080"/>
            <a:ext cx="2377440" cy="32004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Sportivul amator</a:t>
            </a:r>
            <a:endParaRPr lang="en-US" sz="1300" dirty="0"/>
          </a:p>
        </p:txBody>
      </p:sp>
      <p:sp>
        <p:nvSpPr>
          <p:cNvPr id="8" name="Text 6"/>
          <p:cNvSpPr/>
          <p:nvPr/>
        </p:nvSpPr>
        <p:spPr>
          <a:xfrm>
            <a:off x="457200" y="2084832"/>
            <a:ext cx="23774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18–35 ani, antrenamente regulate</a:t>
            </a:r>
            <a:endParaRPr lang="en-US" sz="1000" dirty="0"/>
          </a:p>
        </p:txBody>
      </p:sp>
      <p:sp>
        <p:nvSpPr>
          <p:cNvPr id="9" name="Text 7"/>
          <p:cNvSpPr/>
          <p:nvPr/>
        </p:nvSpPr>
        <p:spPr>
          <a:xfrm>
            <a:off x="457200" y="2423160"/>
            <a:ext cx="2377440" cy="50292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Vrea să urmărească progresul pe termen lung</a:t>
            </a:r>
            <a:endParaRPr lang="en-US" sz="1000" dirty="0"/>
          </a:p>
        </p:txBody>
      </p:sp>
      <p:sp>
        <p:nvSpPr>
          <p:cNvPr id="10" name="Text 8"/>
          <p:cNvSpPr/>
          <p:nvPr/>
        </p:nvSpPr>
        <p:spPr>
          <a:xfrm>
            <a:off x="457200" y="2990088"/>
            <a:ext cx="2377440" cy="50292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Motivat de provocări și achievements</a:t>
            </a:r>
            <a:endParaRPr lang="en-US" sz="1000" dirty="0"/>
          </a:p>
        </p:txBody>
      </p:sp>
      <p:sp>
        <p:nvSpPr>
          <p:cNvPr id="11" name="Text 9"/>
          <p:cNvSpPr/>
          <p:nvPr/>
        </p:nvSpPr>
        <p:spPr>
          <a:xfrm>
            <a:off x="457200" y="3557016"/>
            <a:ext cx="2377440" cy="50292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Folosește telefonul în sală activ</a:t>
            </a:r>
            <a:endParaRPr lang="en-US" sz="1000" dirty="0"/>
          </a:p>
        </p:txBody>
      </p:sp>
      <p:sp>
        <p:nvSpPr>
          <p:cNvPr id="12" name="Shape 10"/>
          <p:cNvSpPr/>
          <p:nvPr/>
        </p:nvSpPr>
        <p:spPr>
          <a:xfrm>
            <a:off x="3200400" y="1051560"/>
            <a:ext cx="2606040" cy="329184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3" name="Shape 11"/>
          <p:cNvSpPr/>
          <p:nvPr/>
        </p:nvSpPr>
        <p:spPr>
          <a:xfrm>
            <a:off x="3200400" y="1051560"/>
            <a:ext cx="2606040" cy="64008"/>
          </a:xfrm>
          <a:prstGeom prst="rect">
            <a:avLst/>
          </a:prstGeom>
          <a:solidFill>
            <a:srgbClr val="2A3B7D"/>
          </a:solidFill>
          <a:ln w="12700">
            <a:solidFill>
              <a:srgbClr val="2A3B7D"/>
            </a:solidFill>
            <a:prstDash val="solid"/>
          </a:ln>
        </p:spPr>
        <p:txBody>
          <a:bodyPr/>
          <a:lstStyle/>
          <a:p>
            <a:endParaRPr lang="en-US"/>
          </a:p>
        </p:txBody>
      </p:sp>
      <p:sp>
        <p:nvSpPr>
          <p:cNvPr id="14" name="Text 12"/>
          <p:cNvSpPr/>
          <p:nvPr/>
        </p:nvSpPr>
        <p:spPr>
          <a:xfrm>
            <a:off x="3291840" y="1188720"/>
            <a:ext cx="640080" cy="54864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3291840" y="1783080"/>
            <a:ext cx="2377440" cy="32004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Pasionatul de powerlifting</a:t>
            </a:r>
            <a:endParaRPr lang="en-US" sz="1300" dirty="0"/>
          </a:p>
        </p:txBody>
      </p:sp>
      <p:sp>
        <p:nvSpPr>
          <p:cNvPr id="16" name="Text 14"/>
          <p:cNvSpPr/>
          <p:nvPr/>
        </p:nvSpPr>
        <p:spPr>
          <a:xfrm>
            <a:off x="3291840" y="2084832"/>
            <a:ext cx="23774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20–40 ani, focus pe forță</a:t>
            </a:r>
            <a:endParaRPr lang="en-US" sz="1000" dirty="0"/>
          </a:p>
        </p:txBody>
      </p:sp>
      <p:sp>
        <p:nvSpPr>
          <p:cNvPr id="17" name="Text 15"/>
          <p:cNvSpPr/>
          <p:nvPr/>
        </p:nvSpPr>
        <p:spPr>
          <a:xfrm>
            <a:off x="3291840" y="2423160"/>
            <a:ext cx="2377440" cy="502920"/>
          </a:xfrm>
          <a:prstGeom prst="rect">
            <a:avLst/>
          </a:prstGeom>
          <a:noFill/>
          <a:ln/>
        </p:spPr>
        <p:txBody>
          <a:bodyPr wrap="square" lIns="0" tIns="0" rIns="0" bIns="0" rtlCol="0" anchor="ctr"/>
          <a:lstStyle/>
          <a:p>
            <a:pPr marL="0" indent="0">
              <a:buNone/>
            </a:pPr>
            <a:r>
              <a:rPr lang="en-US" sz="1000" b="1" dirty="0">
                <a:solidFill>
                  <a:srgbClr val="2A3B7D"/>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Are nevoie de tracking precis al 1RM</a:t>
            </a:r>
            <a:endParaRPr lang="en-US" sz="1000" dirty="0"/>
          </a:p>
        </p:txBody>
      </p:sp>
      <p:sp>
        <p:nvSpPr>
          <p:cNvPr id="18" name="Text 16"/>
          <p:cNvSpPr/>
          <p:nvPr/>
        </p:nvSpPr>
        <p:spPr>
          <a:xfrm>
            <a:off x="3291840" y="2990088"/>
            <a:ext cx="2377440" cy="502920"/>
          </a:xfrm>
          <a:prstGeom prst="rect">
            <a:avLst/>
          </a:prstGeom>
          <a:noFill/>
          <a:ln/>
        </p:spPr>
        <p:txBody>
          <a:bodyPr wrap="square" lIns="0" tIns="0" rIns="0" bIns="0" rtlCol="0" anchor="ctr"/>
          <a:lstStyle/>
          <a:p>
            <a:pPr marL="0" indent="0">
              <a:buNone/>
            </a:pPr>
            <a:r>
              <a:rPr lang="en-US" sz="1000" b="1" dirty="0">
                <a:solidFill>
                  <a:srgbClr val="2A3B7D"/>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Vrea progressive overload automatizat</a:t>
            </a:r>
            <a:endParaRPr lang="en-US" sz="1000" dirty="0"/>
          </a:p>
        </p:txBody>
      </p:sp>
      <p:sp>
        <p:nvSpPr>
          <p:cNvPr id="19" name="Text 17"/>
          <p:cNvSpPr/>
          <p:nvPr/>
        </p:nvSpPr>
        <p:spPr>
          <a:xfrm>
            <a:off x="3291840" y="3557016"/>
            <a:ext cx="2377440" cy="502920"/>
          </a:xfrm>
          <a:prstGeom prst="rect">
            <a:avLst/>
          </a:prstGeom>
          <a:noFill/>
          <a:ln/>
        </p:spPr>
        <p:txBody>
          <a:bodyPr wrap="square" lIns="0" tIns="0" rIns="0" bIns="0" rtlCol="0" anchor="ctr"/>
          <a:lstStyle/>
          <a:p>
            <a:pPr marL="0" indent="0">
              <a:buNone/>
            </a:pPr>
            <a:r>
              <a:rPr lang="en-US" sz="1000" b="1" dirty="0">
                <a:solidFill>
                  <a:srgbClr val="2A3B7D"/>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Compară performanțele cu prietenii</a:t>
            </a:r>
            <a:endParaRPr lang="en-US" sz="1000" dirty="0"/>
          </a:p>
        </p:txBody>
      </p:sp>
      <p:sp>
        <p:nvSpPr>
          <p:cNvPr id="20" name="Shape 18"/>
          <p:cNvSpPr/>
          <p:nvPr/>
        </p:nvSpPr>
        <p:spPr>
          <a:xfrm>
            <a:off x="6035040" y="1051560"/>
            <a:ext cx="2606040" cy="329184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1" name="Shape 19"/>
          <p:cNvSpPr/>
          <p:nvPr/>
        </p:nvSpPr>
        <p:spPr>
          <a:xfrm>
            <a:off x="6035040" y="1051560"/>
            <a:ext cx="2606040" cy="64008"/>
          </a:xfrm>
          <a:prstGeom prst="rect">
            <a:avLst/>
          </a:prstGeom>
          <a:solidFill>
            <a:srgbClr val="E67E22"/>
          </a:solidFill>
          <a:ln w="12700">
            <a:solidFill>
              <a:srgbClr val="E67E22"/>
            </a:solidFill>
            <a:prstDash val="solid"/>
          </a:ln>
        </p:spPr>
        <p:txBody>
          <a:bodyPr/>
          <a:lstStyle/>
          <a:p>
            <a:endParaRPr lang="en-US"/>
          </a:p>
        </p:txBody>
      </p:sp>
      <p:sp>
        <p:nvSpPr>
          <p:cNvPr id="22" name="Text 20"/>
          <p:cNvSpPr/>
          <p:nvPr/>
        </p:nvSpPr>
        <p:spPr>
          <a:xfrm>
            <a:off x="6126480" y="1188720"/>
            <a:ext cx="640080" cy="54864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3" name="Text 21"/>
          <p:cNvSpPr/>
          <p:nvPr/>
        </p:nvSpPr>
        <p:spPr>
          <a:xfrm>
            <a:off x="6126480" y="1783080"/>
            <a:ext cx="2377440" cy="32004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Începătorul motivat</a:t>
            </a:r>
            <a:endParaRPr lang="en-US" sz="1300" dirty="0"/>
          </a:p>
        </p:txBody>
      </p:sp>
      <p:sp>
        <p:nvSpPr>
          <p:cNvPr id="24" name="Text 22"/>
          <p:cNvSpPr/>
          <p:nvPr/>
        </p:nvSpPr>
        <p:spPr>
          <a:xfrm>
            <a:off x="6126480" y="2084832"/>
            <a:ext cx="23774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16–28 ani, primul an de sală</a:t>
            </a:r>
            <a:endParaRPr lang="en-US" sz="1000" dirty="0"/>
          </a:p>
        </p:txBody>
      </p:sp>
      <p:sp>
        <p:nvSpPr>
          <p:cNvPr id="25" name="Text 23"/>
          <p:cNvSpPr/>
          <p:nvPr/>
        </p:nvSpPr>
        <p:spPr>
          <a:xfrm>
            <a:off x="6126480" y="2423160"/>
            <a:ext cx="2377440" cy="502920"/>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Nevoia de coaching și ghidare</a:t>
            </a:r>
            <a:endParaRPr lang="en-US" sz="1000" dirty="0"/>
          </a:p>
        </p:txBody>
      </p:sp>
      <p:sp>
        <p:nvSpPr>
          <p:cNvPr id="26" name="Text 24"/>
          <p:cNvSpPr/>
          <p:nvPr/>
        </p:nvSpPr>
        <p:spPr>
          <a:xfrm>
            <a:off x="6126480" y="2990088"/>
            <a:ext cx="2377440" cy="502920"/>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Vrea validare socială și comunitate</a:t>
            </a:r>
            <a:endParaRPr lang="en-US" sz="1000" dirty="0"/>
          </a:p>
        </p:txBody>
      </p:sp>
      <p:sp>
        <p:nvSpPr>
          <p:cNvPr id="27" name="Text 25"/>
          <p:cNvSpPr/>
          <p:nvPr/>
        </p:nvSpPr>
        <p:spPr>
          <a:xfrm>
            <a:off x="6126480" y="3557016"/>
            <a:ext cx="2377440" cy="502920"/>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Offline-first critic — nu știe cum funcționează sălile</a:t>
            </a:r>
            <a:endParaRPr lang="en-US" sz="1000" dirty="0"/>
          </a:p>
        </p:txBody>
      </p:sp>
      <p:sp>
        <p:nvSpPr>
          <p:cNvPr id="28" name="Shape 26"/>
          <p:cNvSpPr/>
          <p:nvPr/>
        </p:nvSpPr>
        <p:spPr>
          <a:xfrm>
            <a:off x="365760" y="4526280"/>
            <a:ext cx="8412480" cy="384048"/>
          </a:xfrm>
          <a:prstGeom prst="rect">
            <a:avLst/>
          </a:prstGeom>
          <a:solidFill>
            <a:srgbClr val="FAFFFE"/>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9" name="Text 27"/>
          <p:cNvSpPr/>
          <p:nvPr/>
        </p:nvSpPr>
        <p:spPr>
          <a:xfrm>
            <a:off x="502920" y="4572000"/>
            <a:ext cx="8138160" cy="29260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Android (Min SDK 26 — Android 8.0+)  ·  Offline-first  ·  [DE COMPLETAT: utilizatori activi reali]  ·  Accesibil gratuit prin APK direct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3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SOLUȚIA</a:t>
            </a:r>
            <a:endParaRPr lang="en-US" sz="900" dirty="0"/>
          </a:p>
        </p:txBody>
      </p:sp>
      <p:sp>
        <p:nvSpPr>
          <p:cNvPr id="3" name="Text 1"/>
          <p:cNvSpPr/>
          <p:nvPr/>
        </p:nvSpPr>
        <p:spPr>
          <a:xfrm>
            <a:off x="457200" y="411480"/>
            <a:ext cx="594360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Liftrix — O singură platformă</a:t>
            </a:r>
            <a:endParaRPr lang="en-US" sz="2600" dirty="0"/>
          </a:p>
          <a:p>
            <a:pPr marL="0" indent="0" algn="l">
              <a:buNone/>
            </a:pPr>
            <a:r>
              <a:rPr lang="en-US" sz="2600" b="1" dirty="0">
                <a:solidFill>
                  <a:srgbClr val="FFFFFF"/>
                </a:solidFill>
                <a:latin typeface="Calibri" pitchFamily="34" charset="0"/>
                <a:ea typeface="Calibri" pitchFamily="34" charset="-122"/>
                <a:cs typeface="Calibri" pitchFamily="34" charset="-120"/>
              </a:rPr>
              <a:t>pentru tot ce înseamnă fitness</a:t>
            </a:r>
            <a:endParaRPr lang="en-US" sz="2600" dirty="0"/>
          </a:p>
        </p:txBody>
      </p:sp>
      <p:sp>
        <p:nvSpPr>
          <p:cNvPr id="4" name="Shape 2"/>
          <p:cNvSpPr/>
          <p:nvPr/>
        </p:nvSpPr>
        <p:spPr>
          <a:xfrm>
            <a:off x="365760" y="1508760"/>
            <a:ext cx="4023360" cy="1371600"/>
          </a:xfrm>
          <a:prstGeom prst="rect">
            <a:avLst/>
          </a:prstGeom>
          <a:solidFill>
            <a:srgbClr val="FFFFFF">
              <a:alpha val="5000"/>
            </a:srgbClr>
          </a:solidFill>
          <a:ln w="12700">
            <a:solidFill>
              <a:srgbClr val="20C9B7">
                <a:alpha val="30000"/>
              </a:srgbClr>
            </a:solidFill>
            <a:prstDash val="solid"/>
          </a:ln>
        </p:spPr>
        <p:txBody>
          <a:bodyPr/>
          <a:lstStyle/>
          <a:p>
            <a:endParaRPr lang="en-US"/>
          </a:p>
        </p:txBody>
      </p:sp>
      <p:sp>
        <p:nvSpPr>
          <p:cNvPr id="5" name="Shape 3"/>
          <p:cNvSpPr/>
          <p:nvPr/>
        </p:nvSpPr>
        <p:spPr>
          <a:xfrm>
            <a:off x="365760" y="1508760"/>
            <a:ext cx="64008" cy="1371600"/>
          </a:xfrm>
          <a:prstGeom prst="rect">
            <a:avLst/>
          </a:prstGeom>
          <a:solidFill>
            <a:srgbClr val="20C9B7"/>
          </a:solidFill>
          <a:ln w="12700">
            <a:solidFill>
              <a:srgbClr val="20C9B7"/>
            </a:solidFill>
            <a:prstDash val="solid"/>
          </a:ln>
        </p:spPr>
        <p:txBody>
          <a:bodyPr/>
          <a:lstStyle/>
          <a:p>
            <a:endParaRPr lang="en-US"/>
          </a:p>
        </p:txBody>
      </p:sp>
      <p:sp>
        <p:nvSpPr>
          <p:cNvPr id="6" name="Text 4"/>
          <p:cNvSpPr/>
          <p:nvPr/>
        </p:nvSpPr>
        <p:spPr>
          <a:xfrm>
            <a:off x="548640" y="1600200"/>
            <a:ext cx="3657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Workout Management</a:t>
            </a:r>
            <a:endParaRPr lang="en-US" sz="1300" dirty="0"/>
          </a:p>
        </p:txBody>
      </p:sp>
      <p:sp>
        <p:nvSpPr>
          <p:cNvPr id="7" name="Text 5"/>
          <p:cNvSpPr/>
          <p:nvPr/>
        </p:nvSpPr>
        <p:spPr>
          <a:xfrm>
            <a:off x="548640" y="1984248"/>
            <a:ext cx="3657600" cy="777240"/>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Tracking sesiuni în timp real, 100 exerciții predefinite, overload progresiv, template-uri personalizate</a:t>
            </a:r>
            <a:endParaRPr lang="en-US" sz="1050" dirty="0"/>
          </a:p>
        </p:txBody>
      </p:sp>
      <p:sp>
        <p:nvSpPr>
          <p:cNvPr id="8" name="Shape 6"/>
          <p:cNvSpPr/>
          <p:nvPr/>
        </p:nvSpPr>
        <p:spPr>
          <a:xfrm>
            <a:off x="4709160" y="1508760"/>
            <a:ext cx="4023360" cy="1371600"/>
          </a:xfrm>
          <a:prstGeom prst="rect">
            <a:avLst/>
          </a:prstGeom>
          <a:solidFill>
            <a:srgbClr val="FFFFFF">
              <a:alpha val="5000"/>
            </a:srgbClr>
          </a:solidFill>
          <a:ln w="12700">
            <a:solidFill>
              <a:srgbClr val="5B8AF5">
                <a:alpha val="30000"/>
              </a:srgbClr>
            </a:solidFill>
            <a:prstDash val="solid"/>
          </a:ln>
        </p:spPr>
        <p:txBody>
          <a:bodyPr/>
          <a:lstStyle/>
          <a:p>
            <a:endParaRPr lang="en-US"/>
          </a:p>
        </p:txBody>
      </p:sp>
      <p:sp>
        <p:nvSpPr>
          <p:cNvPr id="9" name="Shape 7"/>
          <p:cNvSpPr/>
          <p:nvPr/>
        </p:nvSpPr>
        <p:spPr>
          <a:xfrm>
            <a:off x="4709160" y="1508760"/>
            <a:ext cx="64008" cy="1371600"/>
          </a:xfrm>
          <a:prstGeom prst="rect">
            <a:avLst/>
          </a:prstGeom>
          <a:solidFill>
            <a:srgbClr val="5B8AF5"/>
          </a:solidFill>
          <a:ln w="12700">
            <a:solidFill>
              <a:srgbClr val="5B8AF5"/>
            </a:solidFill>
            <a:prstDash val="solid"/>
          </a:ln>
        </p:spPr>
        <p:txBody>
          <a:bodyPr/>
          <a:lstStyle/>
          <a:p>
            <a:endParaRPr lang="en-US"/>
          </a:p>
        </p:txBody>
      </p:sp>
      <p:sp>
        <p:nvSpPr>
          <p:cNvPr id="10" name="Text 8"/>
          <p:cNvSpPr/>
          <p:nvPr/>
        </p:nvSpPr>
        <p:spPr>
          <a:xfrm>
            <a:off x="4892040" y="1600200"/>
            <a:ext cx="3657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Progress Analytics</a:t>
            </a:r>
            <a:endParaRPr lang="en-US" sz="1300" dirty="0"/>
          </a:p>
        </p:txBody>
      </p:sp>
      <p:sp>
        <p:nvSpPr>
          <p:cNvPr id="11" name="Text 9"/>
          <p:cNvSpPr/>
          <p:nvPr/>
        </p:nvSpPr>
        <p:spPr>
          <a:xfrm>
            <a:off x="4892040" y="1984248"/>
            <a:ext cx="3657600" cy="777240"/>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15 widget-uri de analiză, grafice bezier, heatmap frecvență, calcul 1RM cu formula Epley</a:t>
            </a:r>
            <a:endParaRPr lang="en-US" sz="1050" dirty="0"/>
          </a:p>
        </p:txBody>
      </p:sp>
      <p:sp>
        <p:nvSpPr>
          <p:cNvPr id="12" name="Shape 10"/>
          <p:cNvSpPr/>
          <p:nvPr/>
        </p:nvSpPr>
        <p:spPr>
          <a:xfrm>
            <a:off x="365760" y="3108960"/>
            <a:ext cx="4023360" cy="1371600"/>
          </a:xfrm>
          <a:prstGeom prst="rect">
            <a:avLst/>
          </a:prstGeom>
          <a:solidFill>
            <a:srgbClr val="FFFFFF">
              <a:alpha val="5000"/>
            </a:srgbClr>
          </a:solidFill>
          <a:ln w="12700">
            <a:solidFill>
              <a:srgbClr val="A78BFA">
                <a:alpha val="30000"/>
              </a:srgbClr>
            </a:solidFill>
            <a:prstDash val="solid"/>
          </a:ln>
        </p:spPr>
        <p:txBody>
          <a:bodyPr/>
          <a:lstStyle/>
          <a:p>
            <a:endParaRPr lang="en-US"/>
          </a:p>
        </p:txBody>
      </p:sp>
      <p:sp>
        <p:nvSpPr>
          <p:cNvPr id="13" name="Shape 11"/>
          <p:cNvSpPr/>
          <p:nvPr/>
        </p:nvSpPr>
        <p:spPr>
          <a:xfrm>
            <a:off x="365760" y="3108960"/>
            <a:ext cx="64008" cy="1371600"/>
          </a:xfrm>
          <a:prstGeom prst="rect">
            <a:avLst/>
          </a:prstGeom>
          <a:solidFill>
            <a:srgbClr val="A78BFA"/>
          </a:solidFill>
          <a:ln w="12700">
            <a:solidFill>
              <a:srgbClr val="A78BFA"/>
            </a:solidFill>
            <a:prstDash val="solid"/>
          </a:ln>
        </p:spPr>
        <p:txBody>
          <a:bodyPr/>
          <a:lstStyle/>
          <a:p>
            <a:endParaRPr lang="en-US"/>
          </a:p>
        </p:txBody>
      </p:sp>
      <p:sp>
        <p:nvSpPr>
          <p:cNvPr id="14" name="Text 12"/>
          <p:cNvSpPr/>
          <p:nvPr/>
        </p:nvSpPr>
        <p:spPr>
          <a:xfrm>
            <a:off x="548640" y="3200400"/>
            <a:ext cx="3657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Social Engagement</a:t>
            </a:r>
            <a:endParaRPr lang="en-US" sz="1300" dirty="0"/>
          </a:p>
        </p:txBody>
      </p:sp>
      <p:sp>
        <p:nvSpPr>
          <p:cNvPr id="15" name="Text 13"/>
          <p:cNvSpPr/>
          <p:nvPr/>
        </p:nvSpPr>
        <p:spPr>
          <a:xfrm>
            <a:off x="548640" y="3584448"/>
            <a:ext cx="3657600" cy="777240"/>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Feed cu privacy-tier 3 nivele, comentarii/like-uri real-time, pairing QR code la sală</a:t>
            </a:r>
            <a:endParaRPr lang="en-US" sz="1050" dirty="0"/>
          </a:p>
        </p:txBody>
      </p:sp>
      <p:sp>
        <p:nvSpPr>
          <p:cNvPr id="16" name="Shape 14"/>
          <p:cNvSpPr/>
          <p:nvPr/>
        </p:nvSpPr>
        <p:spPr>
          <a:xfrm>
            <a:off x="4709160" y="3108960"/>
            <a:ext cx="4023360" cy="1371600"/>
          </a:xfrm>
          <a:prstGeom prst="rect">
            <a:avLst/>
          </a:prstGeom>
          <a:solidFill>
            <a:srgbClr val="FFFFFF">
              <a:alpha val="5000"/>
            </a:srgbClr>
          </a:solidFill>
          <a:ln w="12700">
            <a:solidFill>
              <a:srgbClr val="34D399">
                <a:alpha val="30000"/>
              </a:srgbClr>
            </a:solidFill>
            <a:prstDash val="solid"/>
          </a:ln>
        </p:spPr>
        <p:txBody>
          <a:bodyPr/>
          <a:lstStyle/>
          <a:p>
            <a:endParaRPr lang="en-US"/>
          </a:p>
        </p:txBody>
      </p:sp>
      <p:sp>
        <p:nvSpPr>
          <p:cNvPr id="17" name="Shape 15"/>
          <p:cNvSpPr/>
          <p:nvPr/>
        </p:nvSpPr>
        <p:spPr>
          <a:xfrm>
            <a:off x="4709160" y="3108960"/>
            <a:ext cx="64008" cy="1371600"/>
          </a:xfrm>
          <a:prstGeom prst="rect">
            <a:avLst/>
          </a:prstGeom>
          <a:solidFill>
            <a:srgbClr val="34D399"/>
          </a:solidFill>
          <a:ln w="12700">
            <a:solidFill>
              <a:srgbClr val="34D399"/>
            </a:solidFill>
            <a:prstDash val="solid"/>
          </a:ln>
        </p:spPr>
        <p:txBody>
          <a:bodyPr/>
          <a:lstStyle/>
          <a:p>
            <a:endParaRPr lang="en-US"/>
          </a:p>
        </p:txBody>
      </p:sp>
      <p:sp>
        <p:nvSpPr>
          <p:cNvPr id="18" name="Text 16"/>
          <p:cNvSpPr/>
          <p:nvPr/>
        </p:nvSpPr>
        <p:spPr>
          <a:xfrm>
            <a:off x="4892040" y="3200400"/>
            <a:ext cx="3657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AI Coaching (Gemini 2.5 Flash Lite)</a:t>
            </a:r>
            <a:endParaRPr lang="en-US" sz="1300" dirty="0"/>
          </a:p>
        </p:txBody>
      </p:sp>
      <p:sp>
        <p:nvSpPr>
          <p:cNvPr id="19" name="Text 17"/>
          <p:cNvSpPr/>
          <p:nvPr/>
        </p:nvSpPr>
        <p:spPr>
          <a:xfrm>
            <a:off x="4892040" y="3584448"/>
            <a:ext cx="3657600" cy="777240"/>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Coaching context-aware cu istoricul tău, generare plan antrenament, ghidaj formă corectă</a:t>
            </a:r>
            <a:endParaRPr lang="en-US" sz="1050" dirty="0"/>
          </a:p>
        </p:txBody>
      </p:sp>
      <p:sp>
        <p:nvSpPr>
          <p:cNvPr id="20" name="Shape 18"/>
          <p:cNvSpPr/>
          <p:nvPr/>
        </p:nvSpPr>
        <p:spPr>
          <a:xfrm>
            <a:off x="365760" y="4663440"/>
            <a:ext cx="8412480" cy="320040"/>
          </a:xfrm>
          <a:prstGeom prst="rect">
            <a:avLst/>
          </a:prstGeom>
          <a:solidFill>
            <a:srgbClr val="20C9B7">
              <a:alpha val="20000"/>
            </a:srgbClr>
          </a:solidFill>
          <a:ln w="12700">
            <a:solidFill>
              <a:srgbClr val="20C9B7">
                <a:alpha val="30000"/>
              </a:srgbClr>
            </a:solidFill>
            <a:prstDash val="solid"/>
          </a:ln>
        </p:spPr>
        <p:txBody>
          <a:bodyPr/>
          <a:lstStyle/>
          <a:p>
            <a:endParaRPr lang="en-US"/>
          </a:p>
        </p:txBody>
      </p:sp>
      <p:sp>
        <p:nvSpPr>
          <p:cNvPr id="21" name="Text 19"/>
          <p:cNvSpPr/>
          <p:nvPr/>
        </p:nvSpPr>
        <p:spPr>
          <a:xfrm>
            <a:off x="502920" y="4709160"/>
            <a:ext cx="8229600" cy="228600"/>
          </a:xfrm>
          <a:prstGeom prst="rect">
            <a:avLst/>
          </a:prstGeom>
          <a:noFill/>
          <a:ln/>
        </p:spPr>
        <p:txBody>
          <a:bodyPr wrap="square" lIns="0" tIns="0" rIns="0" bIns="0" rtlCol="0" anchor="ctr"/>
          <a:lstStyle/>
          <a:p>
            <a:pPr marL="0" indent="0">
              <a:buNone/>
            </a:pPr>
            <a:r>
              <a:rPr lang="en-US" sz="950" dirty="0">
                <a:solidFill>
                  <a:srgbClr val="B2F5EF"/>
                </a:solidFill>
                <a:latin typeface="Calibri" pitchFamily="34" charset="0"/>
                <a:ea typeface="Calibri" pitchFamily="34" charset="-122"/>
                <a:cs typeface="Calibri" pitchFamily="34" charset="-120"/>
              </a:rPr>
              <a:t>✅  Offline-first  ·  Sincronizare automată Firebase  ·  Țintă WCAG 2.1 AA  ·  țintă 60fps monitorizată  ·  Securitate user-scoped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FLUX UTILIZATOR</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Cum arată o sesiune tipică în Liftrix?</a:t>
            </a:r>
            <a:endParaRPr lang="en-US" sz="2400" dirty="0"/>
          </a:p>
        </p:txBody>
      </p:sp>
      <p:sp>
        <p:nvSpPr>
          <p:cNvPr id="4" name="Shape 2"/>
          <p:cNvSpPr/>
          <p:nvPr/>
        </p:nvSpPr>
        <p:spPr>
          <a:xfrm>
            <a:off x="795528" y="1143000"/>
            <a:ext cx="749808" cy="749808"/>
          </a:xfrm>
          <a:prstGeom prst="ellipse">
            <a:avLst/>
          </a:prstGeom>
          <a:solidFill>
            <a:srgbClr val="20C9B7"/>
          </a:solidFill>
          <a:ln w="12700">
            <a:solidFill>
              <a:srgbClr val="20C9B7"/>
            </a:solidFill>
            <a:prstDash val="solid"/>
          </a:ln>
        </p:spPr>
        <p:txBody>
          <a:bodyPr/>
          <a:lstStyle/>
          <a:p>
            <a:endParaRPr lang="en-US"/>
          </a:p>
        </p:txBody>
      </p:sp>
      <p:sp>
        <p:nvSpPr>
          <p:cNvPr id="5" name="Text 3"/>
          <p:cNvSpPr/>
          <p:nvPr/>
        </p:nvSpPr>
        <p:spPr>
          <a:xfrm>
            <a:off x="795528" y="1143000"/>
            <a:ext cx="749808"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Shape 4"/>
          <p:cNvSpPr/>
          <p:nvPr/>
        </p:nvSpPr>
        <p:spPr>
          <a:xfrm>
            <a:off x="1636776" y="1481328"/>
            <a:ext cx="365760" cy="54864"/>
          </a:xfrm>
          <a:prstGeom prst="rect">
            <a:avLst/>
          </a:prstGeom>
          <a:solidFill>
            <a:srgbClr val="E5E7EB"/>
          </a:solidFill>
          <a:ln w="12700">
            <a:solidFill>
              <a:srgbClr val="E5E7EB"/>
            </a:solidFill>
            <a:prstDash val="solid"/>
          </a:ln>
        </p:spPr>
        <p:txBody>
          <a:bodyPr/>
          <a:lstStyle/>
          <a:p>
            <a:endParaRPr lang="en-US"/>
          </a:p>
        </p:txBody>
      </p:sp>
      <p:sp>
        <p:nvSpPr>
          <p:cNvPr id="7" name="Text 5"/>
          <p:cNvSpPr/>
          <p:nvPr/>
        </p:nvSpPr>
        <p:spPr>
          <a:xfrm>
            <a:off x="1938528" y="1426464"/>
            <a:ext cx="182880" cy="182880"/>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502920" y="2011680"/>
            <a:ext cx="1325880" cy="14173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9" name="Text 7"/>
          <p:cNvSpPr/>
          <p:nvPr/>
        </p:nvSpPr>
        <p:spPr>
          <a:xfrm>
            <a:off x="566928" y="2084832"/>
            <a:ext cx="1188720" cy="411480"/>
          </a:xfrm>
          <a:prstGeom prst="rect">
            <a:avLst/>
          </a:prstGeom>
          <a:noFill/>
          <a:ln/>
        </p:spPr>
        <p:txBody>
          <a:bodyPr wrap="square" lIns="0" tIns="0" rIns="0" bIns="0" rtlCol="0" anchor="ctr"/>
          <a:lstStyle/>
          <a:p>
            <a:pPr marL="0" indent="0" algn="ctr">
              <a:buNone/>
            </a:pPr>
            <a:r>
              <a:rPr lang="en-US" sz="1100" b="1" dirty="0">
                <a:solidFill>
                  <a:srgbClr val="1E2340"/>
                </a:solidFill>
                <a:latin typeface="Calibri" pitchFamily="34" charset="0"/>
                <a:ea typeface="Calibri" pitchFamily="34" charset="-122"/>
                <a:cs typeface="Calibri" pitchFamily="34" charset="-120"/>
              </a:rPr>
              <a:t>Autentificare</a:t>
            </a:r>
            <a:endParaRPr lang="en-US" sz="1100" dirty="0"/>
          </a:p>
        </p:txBody>
      </p:sp>
      <p:sp>
        <p:nvSpPr>
          <p:cNvPr id="10" name="Text 8"/>
          <p:cNvSpPr/>
          <p:nvPr/>
        </p:nvSpPr>
        <p:spPr>
          <a:xfrm>
            <a:off x="566928" y="2487168"/>
            <a:ext cx="1188720" cy="82296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Google Sign-In</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sau email+parolă</a:t>
            </a:r>
            <a:endParaRPr lang="en-US" sz="1000" dirty="0"/>
          </a:p>
        </p:txBody>
      </p:sp>
      <p:sp>
        <p:nvSpPr>
          <p:cNvPr id="11" name="Shape 9"/>
          <p:cNvSpPr/>
          <p:nvPr/>
        </p:nvSpPr>
        <p:spPr>
          <a:xfrm>
            <a:off x="2496312" y="1143000"/>
            <a:ext cx="749808" cy="749808"/>
          </a:xfrm>
          <a:prstGeom prst="ellipse">
            <a:avLst/>
          </a:prstGeom>
          <a:solidFill>
            <a:srgbClr val="4F8EF7"/>
          </a:solidFill>
          <a:ln w="12700">
            <a:solidFill>
              <a:srgbClr val="4F8EF7"/>
            </a:solidFill>
            <a:prstDash val="solid"/>
          </a:ln>
        </p:spPr>
        <p:txBody>
          <a:bodyPr/>
          <a:lstStyle/>
          <a:p>
            <a:endParaRPr lang="en-US"/>
          </a:p>
        </p:txBody>
      </p:sp>
      <p:sp>
        <p:nvSpPr>
          <p:cNvPr id="12" name="Text 10"/>
          <p:cNvSpPr/>
          <p:nvPr/>
        </p:nvSpPr>
        <p:spPr>
          <a:xfrm>
            <a:off x="2496312" y="1143000"/>
            <a:ext cx="749808"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Shape 11"/>
          <p:cNvSpPr/>
          <p:nvPr/>
        </p:nvSpPr>
        <p:spPr>
          <a:xfrm>
            <a:off x="3337560" y="1481328"/>
            <a:ext cx="365760" cy="54864"/>
          </a:xfrm>
          <a:prstGeom prst="rect">
            <a:avLst/>
          </a:prstGeom>
          <a:solidFill>
            <a:srgbClr val="E5E7EB"/>
          </a:solidFill>
          <a:ln w="12700">
            <a:solidFill>
              <a:srgbClr val="E5E7EB"/>
            </a:solidFill>
            <a:prstDash val="solid"/>
          </a:ln>
        </p:spPr>
        <p:txBody>
          <a:bodyPr/>
          <a:lstStyle/>
          <a:p>
            <a:endParaRPr lang="en-US"/>
          </a:p>
        </p:txBody>
      </p:sp>
      <p:sp>
        <p:nvSpPr>
          <p:cNvPr id="14" name="Text 12"/>
          <p:cNvSpPr/>
          <p:nvPr/>
        </p:nvSpPr>
        <p:spPr>
          <a:xfrm>
            <a:off x="3639312" y="1426464"/>
            <a:ext cx="182880" cy="182880"/>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a:t>
            </a:r>
            <a:endParaRPr lang="en-US" sz="900" dirty="0"/>
          </a:p>
        </p:txBody>
      </p:sp>
      <p:sp>
        <p:nvSpPr>
          <p:cNvPr id="15" name="Shape 13"/>
          <p:cNvSpPr/>
          <p:nvPr/>
        </p:nvSpPr>
        <p:spPr>
          <a:xfrm>
            <a:off x="2203704" y="2011680"/>
            <a:ext cx="1325880" cy="14173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6" name="Text 14"/>
          <p:cNvSpPr/>
          <p:nvPr/>
        </p:nvSpPr>
        <p:spPr>
          <a:xfrm>
            <a:off x="2267712" y="2084832"/>
            <a:ext cx="1188720" cy="411480"/>
          </a:xfrm>
          <a:prstGeom prst="rect">
            <a:avLst/>
          </a:prstGeom>
          <a:noFill/>
          <a:ln/>
        </p:spPr>
        <p:txBody>
          <a:bodyPr wrap="square" lIns="0" tIns="0" rIns="0" bIns="0" rtlCol="0" anchor="ctr"/>
          <a:lstStyle/>
          <a:p>
            <a:pPr marL="0" indent="0" algn="ctr">
              <a:buNone/>
            </a:pPr>
            <a:r>
              <a:rPr lang="en-US" sz="1100" b="1" dirty="0">
                <a:solidFill>
                  <a:srgbClr val="1E2340"/>
                </a:solidFill>
                <a:latin typeface="Calibri" pitchFamily="34" charset="0"/>
                <a:ea typeface="Calibri" pitchFamily="34" charset="-122"/>
                <a:cs typeface="Calibri" pitchFamily="34" charset="-120"/>
              </a:rPr>
              <a:t>Selectează</a:t>
            </a:r>
            <a:endParaRPr lang="en-US" sz="1100" dirty="0"/>
          </a:p>
          <a:p>
            <a:pPr marL="0" indent="0" algn="ctr">
              <a:buNone/>
            </a:pPr>
            <a:r>
              <a:rPr lang="en-US" sz="1100" b="1" dirty="0">
                <a:solidFill>
                  <a:srgbClr val="1E2340"/>
                </a:solidFill>
                <a:latin typeface="Calibri" pitchFamily="34" charset="0"/>
                <a:ea typeface="Calibri" pitchFamily="34" charset="-122"/>
                <a:cs typeface="Calibri" pitchFamily="34" charset="-120"/>
              </a:rPr>
              <a:t>Template</a:t>
            </a:r>
            <a:endParaRPr lang="en-US" sz="1100" dirty="0"/>
          </a:p>
        </p:txBody>
      </p:sp>
      <p:sp>
        <p:nvSpPr>
          <p:cNvPr id="17" name="Text 15"/>
          <p:cNvSpPr/>
          <p:nvPr/>
        </p:nvSpPr>
        <p:spPr>
          <a:xfrm>
            <a:off x="2267712" y="2487168"/>
            <a:ext cx="1188720" cy="82296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Din biblioteca</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personală sau AI</a:t>
            </a:r>
            <a:endParaRPr lang="en-US" sz="1000" dirty="0"/>
          </a:p>
        </p:txBody>
      </p:sp>
      <p:sp>
        <p:nvSpPr>
          <p:cNvPr id="18" name="Shape 16"/>
          <p:cNvSpPr/>
          <p:nvPr/>
        </p:nvSpPr>
        <p:spPr>
          <a:xfrm>
            <a:off x="4197096" y="1143000"/>
            <a:ext cx="749808" cy="749808"/>
          </a:xfrm>
          <a:prstGeom prst="ellipse">
            <a:avLst/>
          </a:prstGeom>
          <a:solidFill>
            <a:srgbClr val="8B5CF6"/>
          </a:solidFill>
          <a:ln w="12700">
            <a:solidFill>
              <a:srgbClr val="8B5CF6"/>
            </a:solidFill>
            <a:prstDash val="solid"/>
          </a:ln>
        </p:spPr>
        <p:txBody>
          <a:bodyPr/>
          <a:lstStyle/>
          <a:p>
            <a:endParaRPr lang="en-US"/>
          </a:p>
        </p:txBody>
      </p:sp>
      <p:sp>
        <p:nvSpPr>
          <p:cNvPr id="19" name="Text 17"/>
          <p:cNvSpPr/>
          <p:nvPr/>
        </p:nvSpPr>
        <p:spPr>
          <a:xfrm>
            <a:off x="4197096" y="1143000"/>
            <a:ext cx="749808"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Shape 18"/>
          <p:cNvSpPr/>
          <p:nvPr/>
        </p:nvSpPr>
        <p:spPr>
          <a:xfrm>
            <a:off x="5038344" y="1481328"/>
            <a:ext cx="365760" cy="54864"/>
          </a:xfrm>
          <a:prstGeom prst="rect">
            <a:avLst/>
          </a:prstGeom>
          <a:solidFill>
            <a:srgbClr val="E5E7EB"/>
          </a:solidFill>
          <a:ln w="12700">
            <a:solidFill>
              <a:srgbClr val="E5E7EB"/>
            </a:solidFill>
            <a:prstDash val="solid"/>
          </a:ln>
        </p:spPr>
        <p:txBody>
          <a:bodyPr/>
          <a:lstStyle/>
          <a:p>
            <a:endParaRPr lang="en-US"/>
          </a:p>
        </p:txBody>
      </p:sp>
      <p:sp>
        <p:nvSpPr>
          <p:cNvPr id="21" name="Text 19"/>
          <p:cNvSpPr/>
          <p:nvPr/>
        </p:nvSpPr>
        <p:spPr>
          <a:xfrm>
            <a:off x="5340096" y="1426464"/>
            <a:ext cx="182880" cy="182880"/>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3904488" y="2011680"/>
            <a:ext cx="1325880" cy="14173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3" name="Text 21"/>
          <p:cNvSpPr/>
          <p:nvPr/>
        </p:nvSpPr>
        <p:spPr>
          <a:xfrm>
            <a:off x="3968496" y="2084832"/>
            <a:ext cx="1188720" cy="411480"/>
          </a:xfrm>
          <a:prstGeom prst="rect">
            <a:avLst/>
          </a:prstGeom>
          <a:noFill/>
          <a:ln/>
        </p:spPr>
        <p:txBody>
          <a:bodyPr wrap="square" lIns="0" tIns="0" rIns="0" bIns="0" rtlCol="0" anchor="ctr"/>
          <a:lstStyle/>
          <a:p>
            <a:pPr marL="0" indent="0" algn="ctr">
              <a:buNone/>
            </a:pPr>
            <a:r>
              <a:rPr lang="en-US" sz="1100" b="1" dirty="0">
                <a:solidFill>
                  <a:srgbClr val="1E2340"/>
                </a:solidFill>
                <a:latin typeface="Calibri" pitchFamily="34" charset="0"/>
                <a:ea typeface="Calibri" pitchFamily="34" charset="-122"/>
                <a:cs typeface="Calibri" pitchFamily="34" charset="-120"/>
              </a:rPr>
              <a:t>Sesiune Activă</a:t>
            </a:r>
            <a:endParaRPr lang="en-US" sz="1100" dirty="0"/>
          </a:p>
        </p:txBody>
      </p:sp>
      <p:sp>
        <p:nvSpPr>
          <p:cNvPr id="24" name="Text 22"/>
          <p:cNvSpPr/>
          <p:nvPr/>
        </p:nvSpPr>
        <p:spPr>
          <a:xfrm>
            <a:off x="3968496" y="2487168"/>
            <a:ext cx="1188720" cy="82296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Tracking seturi</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în timp real</a:t>
            </a:r>
            <a:endParaRPr lang="en-US" sz="1000" dirty="0"/>
          </a:p>
        </p:txBody>
      </p:sp>
      <p:sp>
        <p:nvSpPr>
          <p:cNvPr id="25" name="Shape 23"/>
          <p:cNvSpPr/>
          <p:nvPr/>
        </p:nvSpPr>
        <p:spPr>
          <a:xfrm>
            <a:off x="5897880" y="1143000"/>
            <a:ext cx="749808" cy="749808"/>
          </a:xfrm>
          <a:prstGeom prst="ellipse">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5897880" y="1143000"/>
            <a:ext cx="749808"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6739128" y="1481328"/>
            <a:ext cx="365760" cy="54864"/>
          </a:xfrm>
          <a:prstGeom prst="rect">
            <a:avLst/>
          </a:prstGeom>
          <a:solidFill>
            <a:srgbClr val="E5E7EB"/>
          </a:solidFill>
          <a:ln w="12700">
            <a:solidFill>
              <a:srgbClr val="E5E7EB"/>
            </a:solidFill>
            <a:prstDash val="solid"/>
          </a:ln>
        </p:spPr>
        <p:txBody>
          <a:bodyPr/>
          <a:lstStyle/>
          <a:p>
            <a:endParaRPr lang="en-US"/>
          </a:p>
        </p:txBody>
      </p:sp>
      <p:sp>
        <p:nvSpPr>
          <p:cNvPr id="28" name="Text 26"/>
          <p:cNvSpPr/>
          <p:nvPr/>
        </p:nvSpPr>
        <p:spPr>
          <a:xfrm>
            <a:off x="7040880" y="1426464"/>
            <a:ext cx="182880" cy="182880"/>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a:t>
            </a:r>
            <a:endParaRPr lang="en-US" sz="900" dirty="0"/>
          </a:p>
        </p:txBody>
      </p:sp>
      <p:sp>
        <p:nvSpPr>
          <p:cNvPr id="29" name="Shape 27"/>
          <p:cNvSpPr/>
          <p:nvPr/>
        </p:nvSpPr>
        <p:spPr>
          <a:xfrm>
            <a:off x="5605272" y="2011680"/>
            <a:ext cx="1325880" cy="14173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30" name="Text 28"/>
          <p:cNvSpPr/>
          <p:nvPr/>
        </p:nvSpPr>
        <p:spPr>
          <a:xfrm>
            <a:off x="5669280" y="2084832"/>
            <a:ext cx="1188720" cy="411480"/>
          </a:xfrm>
          <a:prstGeom prst="rect">
            <a:avLst/>
          </a:prstGeom>
          <a:noFill/>
          <a:ln/>
        </p:spPr>
        <p:txBody>
          <a:bodyPr wrap="square" lIns="0" tIns="0" rIns="0" bIns="0" rtlCol="0" anchor="ctr"/>
          <a:lstStyle/>
          <a:p>
            <a:pPr marL="0" indent="0" algn="ctr">
              <a:buNone/>
            </a:pPr>
            <a:r>
              <a:rPr lang="en-US" sz="1100" b="1" dirty="0">
                <a:solidFill>
                  <a:srgbClr val="1E2340"/>
                </a:solidFill>
                <a:latin typeface="Calibri" pitchFamily="34" charset="0"/>
                <a:ea typeface="Calibri" pitchFamily="34" charset="-122"/>
                <a:cs typeface="Calibri" pitchFamily="34" charset="-120"/>
              </a:rPr>
              <a:t>Analiză</a:t>
            </a:r>
            <a:endParaRPr lang="en-US" sz="1100" dirty="0"/>
          </a:p>
          <a:p>
            <a:pPr marL="0" indent="0" algn="ctr">
              <a:buNone/>
            </a:pPr>
            <a:r>
              <a:rPr lang="en-US" sz="1100" b="1" dirty="0">
                <a:solidFill>
                  <a:srgbClr val="1E2340"/>
                </a:solidFill>
                <a:latin typeface="Calibri" pitchFamily="34" charset="0"/>
                <a:ea typeface="Calibri" pitchFamily="34" charset="-122"/>
                <a:cs typeface="Calibri" pitchFamily="34" charset="-120"/>
              </a:rPr>
              <a:t>Progres</a:t>
            </a:r>
            <a:endParaRPr lang="en-US" sz="1100" dirty="0"/>
          </a:p>
        </p:txBody>
      </p:sp>
      <p:sp>
        <p:nvSpPr>
          <p:cNvPr id="31" name="Text 29"/>
          <p:cNvSpPr/>
          <p:nvPr/>
        </p:nvSpPr>
        <p:spPr>
          <a:xfrm>
            <a:off x="5669280" y="2487168"/>
            <a:ext cx="1188720" cy="82296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Dashboard cu 15</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widget-uri</a:t>
            </a:r>
            <a:endParaRPr lang="en-US" sz="1000" dirty="0"/>
          </a:p>
        </p:txBody>
      </p:sp>
      <p:sp>
        <p:nvSpPr>
          <p:cNvPr id="32" name="Shape 30"/>
          <p:cNvSpPr/>
          <p:nvPr/>
        </p:nvSpPr>
        <p:spPr>
          <a:xfrm>
            <a:off x="7598664" y="1143000"/>
            <a:ext cx="749808" cy="749808"/>
          </a:xfrm>
          <a:prstGeom prst="ellipse">
            <a:avLst/>
          </a:prstGeom>
          <a:solidFill>
            <a:srgbClr val="10B981"/>
          </a:solidFill>
          <a:ln w="12700">
            <a:solidFill>
              <a:srgbClr val="10B981"/>
            </a:solidFill>
            <a:prstDash val="solid"/>
          </a:ln>
        </p:spPr>
        <p:txBody>
          <a:bodyPr/>
          <a:lstStyle/>
          <a:p>
            <a:endParaRPr lang="en-US"/>
          </a:p>
        </p:txBody>
      </p:sp>
      <p:sp>
        <p:nvSpPr>
          <p:cNvPr id="33" name="Text 31"/>
          <p:cNvSpPr/>
          <p:nvPr/>
        </p:nvSpPr>
        <p:spPr>
          <a:xfrm>
            <a:off x="7598664" y="1143000"/>
            <a:ext cx="749808"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4" name="Shape 32"/>
          <p:cNvSpPr/>
          <p:nvPr/>
        </p:nvSpPr>
        <p:spPr>
          <a:xfrm>
            <a:off x="7306056" y="2011680"/>
            <a:ext cx="1325880" cy="14173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35" name="Text 33"/>
          <p:cNvSpPr/>
          <p:nvPr/>
        </p:nvSpPr>
        <p:spPr>
          <a:xfrm>
            <a:off x="7370064" y="2084832"/>
            <a:ext cx="1188720" cy="411480"/>
          </a:xfrm>
          <a:prstGeom prst="rect">
            <a:avLst/>
          </a:prstGeom>
          <a:noFill/>
          <a:ln/>
        </p:spPr>
        <p:txBody>
          <a:bodyPr wrap="square" lIns="0" tIns="0" rIns="0" bIns="0" rtlCol="0" anchor="ctr"/>
          <a:lstStyle/>
          <a:p>
            <a:pPr marL="0" indent="0" algn="ctr">
              <a:buNone/>
            </a:pPr>
            <a:r>
              <a:rPr lang="en-US" sz="1100" b="1" dirty="0">
                <a:solidFill>
                  <a:srgbClr val="1E2340"/>
                </a:solidFill>
                <a:latin typeface="Calibri" pitchFamily="34" charset="0"/>
                <a:ea typeface="Calibri" pitchFamily="34" charset="-122"/>
                <a:cs typeface="Calibri" pitchFamily="34" charset="-120"/>
              </a:rPr>
              <a:t>Social &amp;</a:t>
            </a:r>
            <a:endParaRPr lang="en-US" sz="1100" dirty="0"/>
          </a:p>
          <a:p>
            <a:pPr marL="0" indent="0" algn="ctr">
              <a:buNone/>
            </a:pPr>
            <a:r>
              <a:rPr lang="en-US" sz="1100" b="1" dirty="0">
                <a:solidFill>
                  <a:srgbClr val="1E2340"/>
                </a:solidFill>
                <a:latin typeface="Calibri" pitchFamily="34" charset="0"/>
                <a:ea typeface="Calibri" pitchFamily="34" charset="-122"/>
                <a:cs typeface="Calibri" pitchFamily="34" charset="-120"/>
              </a:rPr>
              <a:t>Coaching</a:t>
            </a:r>
            <a:endParaRPr lang="en-US" sz="1100" dirty="0"/>
          </a:p>
        </p:txBody>
      </p:sp>
      <p:sp>
        <p:nvSpPr>
          <p:cNvPr id="36" name="Text 34"/>
          <p:cNvSpPr/>
          <p:nvPr/>
        </p:nvSpPr>
        <p:spPr>
          <a:xfrm>
            <a:off x="7370064" y="2487168"/>
            <a:ext cx="1188720" cy="82296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Share, feedback AI,</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motivație socială</a:t>
            </a:r>
            <a:endParaRPr lang="en-US" sz="1000" dirty="0"/>
          </a:p>
        </p:txBody>
      </p:sp>
      <p:sp>
        <p:nvSpPr>
          <p:cNvPr id="37" name="Shape 35"/>
          <p:cNvSpPr/>
          <p:nvPr/>
        </p:nvSpPr>
        <p:spPr>
          <a:xfrm>
            <a:off x="457200" y="3566160"/>
            <a:ext cx="8321040" cy="1261872"/>
          </a:xfrm>
          <a:prstGeom prst="rect">
            <a:avLst/>
          </a:prstGeom>
          <a:solidFill>
            <a:srgbClr val="F0FFFE"/>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38" name="Shape 36"/>
          <p:cNvSpPr/>
          <p:nvPr/>
        </p:nvSpPr>
        <p:spPr>
          <a:xfrm>
            <a:off x="457200" y="3566160"/>
            <a:ext cx="8321040" cy="54864"/>
          </a:xfrm>
          <a:prstGeom prst="rect">
            <a:avLst/>
          </a:prstGeom>
          <a:solidFill>
            <a:srgbClr val="20C9B7"/>
          </a:solidFill>
          <a:ln w="12700">
            <a:solidFill>
              <a:srgbClr val="20C9B7"/>
            </a:solidFill>
            <a:prstDash val="solid"/>
          </a:ln>
        </p:spPr>
        <p:txBody>
          <a:bodyPr/>
          <a:lstStyle/>
          <a:p>
            <a:endParaRPr lang="en-US"/>
          </a:p>
        </p:txBody>
      </p:sp>
      <p:sp>
        <p:nvSpPr>
          <p:cNvPr id="39" name="Text 37"/>
          <p:cNvSpPr/>
          <p:nvPr/>
        </p:nvSpPr>
        <p:spPr>
          <a:xfrm>
            <a:off x="640080" y="3657600"/>
            <a:ext cx="4572000" cy="32004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  Comportament Offline-First</a:t>
            </a:r>
            <a:endParaRPr lang="en-US" sz="1200" dirty="0"/>
          </a:p>
        </p:txBody>
      </p:sp>
      <p:sp>
        <p:nvSpPr>
          <p:cNvPr id="40" name="Text 38"/>
          <p:cNvSpPr/>
          <p:nvPr/>
        </p:nvSpPr>
        <p:spPr>
          <a:xfrm>
            <a:off x="640080" y="4005072"/>
            <a:ext cx="7863840" cy="6858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Toate acțiunile sunt salvate local imediat → UI-ul se actualizează optimistic → Sincronizare automată cu Firebase când conexiunea revine → Rezolvare conflicte prin timestamp comparison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FF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FUNCȚIONALITĂȚI</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Ce poate face Liftrix?</a:t>
            </a:r>
            <a:endParaRPr lang="en-US" sz="2400" dirty="0"/>
          </a:p>
        </p:txBody>
      </p:sp>
      <p:sp>
        <p:nvSpPr>
          <p:cNvPr id="4" name="Shape 2"/>
          <p:cNvSpPr/>
          <p:nvPr/>
        </p:nvSpPr>
        <p:spPr>
          <a:xfrm>
            <a:off x="365760" y="1024128"/>
            <a:ext cx="4023360" cy="178308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1024128"/>
            <a:ext cx="4023360" cy="347472"/>
          </a:xfrm>
          <a:prstGeom prst="rect">
            <a:avLst/>
          </a:prstGeom>
          <a:solidFill>
            <a:srgbClr val="20C9B7">
              <a:alpha val="85000"/>
            </a:srgbClr>
          </a:solidFill>
          <a:ln w="12700">
            <a:solidFill>
              <a:srgbClr val="20C9B7">
                <a:alpha val="85000"/>
              </a:srgbClr>
            </a:solidFill>
            <a:prstDash val="solid"/>
          </a:ln>
        </p:spPr>
        <p:txBody>
          <a:bodyPr/>
          <a:lstStyle/>
          <a:p>
            <a:endParaRPr lang="en-US"/>
          </a:p>
        </p:txBody>
      </p:sp>
      <p:sp>
        <p:nvSpPr>
          <p:cNvPr id="6" name="Text 4"/>
          <p:cNvSpPr/>
          <p:nvPr/>
        </p:nvSpPr>
        <p:spPr>
          <a:xfrm>
            <a:off x="475488" y="1060704"/>
            <a:ext cx="37490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Workout</a:t>
            </a:r>
            <a:endParaRPr lang="en-US" sz="1300" dirty="0"/>
          </a:p>
        </p:txBody>
      </p:sp>
      <p:sp>
        <p:nvSpPr>
          <p:cNvPr id="7" name="Text 5"/>
          <p:cNvSpPr/>
          <p:nvPr/>
        </p:nvSpPr>
        <p:spPr>
          <a:xfrm>
            <a:off x="475488" y="1435608"/>
            <a:ext cx="3749040" cy="24688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Tracking sesiuni în timp real</a:t>
            </a:r>
            <a:endParaRPr lang="en-US" sz="1000" dirty="0"/>
          </a:p>
        </p:txBody>
      </p:sp>
      <p:sp>
        <p:nvSpPr>
          <p:cNvPr id="8" name="Text 6"/>
          <p:cNvSpPr/>
          <p:nvPr/>
        </p:nvSpPr>
        <p:spPr>
          <a:xfrm>
            <a:off x="475488" y="1700784"/>
            <a:ext cx="3749040" cy="24688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100 exerciții predefinite cu categorizare</a:t>
            </a:r>
            <a:endParaRPr lang="en-US" sz="1000" dirty="0"/>
          </a:p>
        </p:txBody>
      </p:sp>
      <p:sp>
        <p:nvSpPr>
          <p:cNvPr id="9" name="Text 7"/>
          <p:cNvSpPr/>
          <p:nvPr/>
        </p:nvSpPr>
        <p:spPr>
          <a:xfrm>
            <a:off x="475488" y="1965960"/>
            <a:ext cx="3749040" cy="24688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Exerciții custom cu poze</a:t>
            </a:r>
            <a:endParaRPr lang="en-US" sz="1000" dirty="0"/>
          </a:p>
        </p:txBody>
      </p:sp>
      <p:sp>
        <p:nvSpPr>
          <p:cNvPr id="10" name="Text 8"/>
          <p:cNvSpPr/>
          <p:nvPr/>
        </p:nvSpPr>
        <p:spPr>
          <a:xfrm>
            <a:off x="475488" y="2231136"/>
            <a:ext cx="3749040" cy="24688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Progressive overload automat</a:t>
            </a:r>
            <a:endParaRPr lang="en-US" sz="1000" dirty="0"/>
          </a:p>
        </p:txBody>
      </p:sp>
      <p:sp>
        <p:nvSpPr>
          <p:cNvPr id="11" name="Text 9"/>
          <p:cNvSpPr/>
          <p:nvPr/>
        </p:nvSpPr>
        <p:spPr>
          <a:xfrm>
            <a:off x="475488" y="2496312"/>
            <a:ext cx="3749040" cy="24688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Template-uri versionate</a:t>
            </a:r>
            <a:endParaRPr lang="en-US" sz="1000" dirty="0"/>
          </a:p>
        </p:txBody>
      </p:sp>
      <p:sp>
        <p:nvSpPr>
          <p:cNvPr id="12" name="Shape 10"/>
          <p:cNvSpPr/>
          <p:nvPr/>
        </p:nvSpPr>
        <p:spPr>
          <a:xfrm>
            <a:off x="4709160" y="1024128"/>
            <a:ext cx="4023360" cy="178308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3" name="Shape 11"/>
          <p:cNvSpPr/>
          <p:nvPr/>
        </p:nvSpPr>
        <p:spPr>
          <a:xfrm>
            <a:off x="4709160" y="1024128"/>
            <a:ext cx="4023360" cy="347472"/>
          </a:xfrm>
          <a:prstGeom prst="rect">
            <a:avLst/>
          </a:prstGeom>
          <a:solidFill>
            <a:srgbClr val="4F8EF7">
              <a:alpha val="85000"/>
            </a:srgbClr>
          </a:solidFill>
          <a:ln w="12700">
            <a:solidFill>
              <a:srgbClr val="4F8EF7">
                <a:alpha val="85000"/>
              </a:srgbClr>
            </a:solidFill>
            <a:prstDash val="solid"/>
          </a:ln>
        </p:spPr>
        <p:txBody>
          <a:bodyPr/>
          <a:lstStyle/>
          <a:p>
            <a:endParaRPr lang="en-US"/>
          </a:p>
        </p:txBody>
      </p:sp>
      <p:sp>
        <p:nvSpPr>
          <p:cNvPr id="14" name="Text 12"/>
          <p:cNvSpPr/>
          <p:nvPr/>
        </p:nvSpPr>
        <p:spPr>
          <a:xfrm>
            <a:off x="4818888" y="1060704"/>
            <a:ext cx="37490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Analytics</a:t>
            </a:r>
            <a:endParaRPr lang="en-US" sz="1300" dirty="0"/>
          </a:p>
        </p:txBody>
      </p:sp>
      <p:sp>
        <p:nvSpPr>
          <p:cNvPr id="15" name="Text 13"/>
          <p:cNvSpPr/>
          <p:nvPr/>
        </p:nvSpPr>
        <p:spPr>
          <a:xfrm>
            <a:off x="4818888" y="1435608"/>
            <a:ext cx="3749040" cy="24688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15 widget-uri interactive</a:t>
            </a:r>
            <a:endParaRPr lang="en-US" sz="1000" dirty="0"/>
          </a:p>
        </p:txBody>
      </p:sp>
      <p:sp>
        <p:nvSpPr>
          <p:cNvPr id="16" name="Text 14"/>
          <p:cNvSpPr/>
          <p:nvPr/>
        </p:nvSpPr>
        <p:spPr>
          <a:xfrm>
            <a:off x="4818888" y="1700784"/>
            <a:ext cx="3749040" cy="24688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Grafice bezier cu țintă 60fps</a:t>
            </a:r>
            <a:endParaRPr lang="en-US" sz="1000" dirty="0"/>
          </a:p>
        </p:txBody>
      </p:sp>
      <p:sp>
        <p:nvSpPr>
          <p:cNvPr id="17" name="Text 15"/>
          <p:cNvSpPr/>
          <p:nvPr/>
        </p:nvSpPr>
        <p:spPr>
          <a:xfrm>
            <a:off x="4818888" y="1965960"/>
            <a:ext cx="3749040" cy="24688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Heatmap frecvență antrenamente</a:t>
            </a:r>
            <a:endParaRPr lang="en-US" sz="1000" dirty="0"/>
          </a:p>
        </p:txBody>
      </p:sp>
      <p:sp>
        <p:nvSpPr>
          <p:cNvPr id="18" name="Text 16"/>
          <p:cNvSpPr/>
          <p:nvPr/>
        </p:nvSpPr>
        <p:spPr>
          <a:xfrm>
            <a:off x="4818888" y="2231136"/>
            <a:ext cx="3749040" cy="24688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Calcul 1RM (formula Epley)</a:t>
            </a:r>
            <a:endParaRPr lang="en-US" sz="1000" dirty="0"/>
          </a:p>
        </p:txBody>
      </p:sp>
      <p:sp>
        <p:nvSpPr>
          <p:cNvPr id="19" name="Text 17"/>
          <p:cNvSpPr/>
          <p:nvPr/>
        </p:nvSpPr>
        <p:spPr>
          <a:xfrm>
            <a:off x="4818888" y="2496312"/>
            <a:ext cx="3749040" cy="24688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Export date pentru analiză</a:t>
            </a:r>
            <a:endParaRPr lang="en-US" sz="1000" dirty="0"/>
          </a:p>
        </p:txBody>
      </p:sp>
      <p:sp>
        <p:nvSpPr>
          <p:cNvPr id="20" name="Shape 18"/>
          <p:cNvSpPr/>
          <p:nvPr/>
        </p:nvSpPr>
        <p:spPr>
          <a:xfrm>
            <a:off x="365760" y="3017520"/>
            <a:ext cx="4023360" cy="178308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1" name="Shape 19"/>
          <p:cNvSpPr/>
          <p:nvPr/>
        </p:nvSpPr>
        <p:spPr>
          <a:xfrm>
            <a:off x="365760" y="3017520"/>
            <a:ext cx="4023360" cy="347472"/>
          </a:xfrm>
          <a:prstGeom prst="rect">
            <a:avLst/>
          </a:prstGeom>
          <a:solidFill>
            <a:srgbClr val="8B5CF6">
              <a:alpha val="85000"/>
            </a:srgbClr>
          </a:solidFill>
          <a:ln w="12700">
            <a:solidFill>
              <a:srgbClr val="8B5CF6">
                <a:alpha val="85000"/>
              </a:srgbClr>
            </a:solidFill>
            <a:prstDash val="solid"/>
          </a:ln>
        </p:spPr>
        <p:txBody>
          <a:bodyPr/>
          <a:lstStyle/>
          <a:p>
            <a:endParaRPr lang="en-US"/>
          </a:p>
        </p:txBody>
      </p:sp>
      <p:sp>
        <p:nvSpPr>
          <p:cNvPr id="22" name="Text 20"/>
          <p:cNvSpPr/>
          <p:nvPr/>
        </p:nvSpPr>
        <p:spPr>
          <a:xfrm>
            <a:off x="475488" y="3054096"/>
            <a:ext cx="37490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Social</a:t>
            </a:r>
            <a:endParaRPr lang="en-US" sz="1300" dirty="0"/>
          </a:p>
        </p:txBody>
      </p:sp>
      <p:sp>
        <p:nvSpPr>
          <p:cNvPr id="23" name="Text 21"/>
          <p:cNvSpPr/>
          <p:nvPr/>
        </p:nvSpPr>
        <p:spPr>
          <a:xfrm>
            <a:off x="475488" y="3429000"/>
            <a:ext cx="3749040" cy="24688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Feed cu privacy 3 niveluri</a:t>
            </a:r>
            <a:endParaRPr lang="en-US" sz="1000" dirty="0"/>
          </a:p>
        </p:txBody>
      </p:sp>
      <p:sp>
        <p:nvSpPr>
          <p:cNvPr id="24" name="Text 22"/>
          <p:cNvSpPr/>
          <p:nvPr/>
        </p:nvSpPr>
        <p:spPr>
          <a:xfrm>
            <a:off x="475488" y="3694176"/>
            <a:ext cx="3749040" cy="24688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Comentarii &amp; like-uri real-time</a:t>
            </a:r>
            <a:endParaRPr lang="en-US" sz="1000" dirty="0"/>
          </a:p>
        </p:txBody>
      </p:sp>
      <p:sp>
        <p:nvSpPr>
          <p:cNvPr id="25" name="Text 23"/>
          <p:cNvSpPr/>
          <p:nvPr/>
        </p:nvSpPr>
        <p:spPr>
          <a:xfrm>
            <a:off x="475488" y="3959352"/>
            <a:ext cx="3749040" cy="24688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QR code pairing la sală</a:t>
            </a:r>
            <a:endParaRPr lang="en-US" sz="1000" dirty="0"/>
          </a:p>
        </p:txBody>
      </p:sp>
      <p:sp>
        <p:nvSpPr>
          <p:cNvPr id="26" name="Text 24"/>
          <p:cNvSpPr/>
          <p:nvPr/>
        </p:nvSpPr>
        <p:spPr>
          <a:xfrm>
            <a:off x="475488" y="4224528"/>
            <a:ext cx="3749040" cy="24688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Celebrare PR-uri automat</a:t>
            </a:r>
            <a:endParaRPr lang="en-US" sz="1000" dirty="0"/>
          </a:p>
        </p:txBody>
      </p:sp>
      <p:sp>
        <p:nvSpPr>
          <p:cNvPr id="27" name="Text 25"/>
          <p:cNvSpPr/>
          <p:nvPr/>
        </p:nvSpPr>
        <p:spPr>
          <a:xfrm>
            <a:off x="475488" y="4489704"/>
            <a:ext cx="3749040" cy="24688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Paginare Paging3 performantă</a:t>
            </a:r>
            <a:endParaRPr lang="en-US" sz="1000" dirty="0"/>
          </a:p>
        </p:txBody>
      </p:sp>
      <p:sp>
        <p:nvSpPr>
          <p:cNvPr id="28" name="Shape 26"/>
          <p:cNvSpPr/>
          <p:nvPr/>
        </p:nvSpPr>
        <p:spPr>
          <a:xfrm>
            <a:off x="4709160" y="3017520"/>
            <a:ext cx="4023360" cy="1783080"/>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9" name="Shape 27"/>
          <p:cNvSpPr/>
          <p:nvPr/>
        </p:nvSpPr>
        <p:spPr>
          <a:xfrm>
            <a:off x="4709160" y="3017520"/>
            <a:ext cx="4023360" cy="347472"/>
          </a:xfrm>
          <a:prstGeom prst="rect">
            <a:avLst/>
          </a:prstGeom>
          <a:solidFill>
            <a:srgbClr val="10B981">
              <a:alpha val="85000"/>
            </a:srgbClr>
          </a:solidFill>
          <a:ln w="12700">
            <a:solidFill>
              <a:srgbClr val="10B981">
                <a:alpha val="85000"/>
              </a:srgbClr>
            </a:solidFill>
            <a:prstDash val="solid"/>
          </a:ln>
        </p:spPr>
        <p:txBody>
          <a:bodyPr/>
          <a:lstStyle/>
          <a:p>
            <a:endParaRPr lang="en-US"/>
          </a:p>
        </p:txBody>
      </p:sp>
      <p:sp>
        <p:nvSpPr>
          <p:cNvPr id="30" name="Text 28"/>
          <p:cNvSpPr/>
          <p:nvPr/>
        </p:nvSpPr>
        <p:spPr>
          <a:xfrm>
            <a:off x="4818888" y="3054096"/>
            <a:ext cx="37490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AI Coach</a:t>
            </a:r>
            <a:endParaRPr lang="en-US" sz="1300" dirty="0"/>
          </a:p>
        </p:txBody>
      </p:sp>
      <p:sp>
        <p:nvSpPr>
          <p:cNvPr id="31" name="Text 29"/>
          <p:cNvSpPr/>
          <p:nvPr/>
        </p:nvSpPr>
        <p:spPr>
          <a:xfrm>
            <a:off x="4818888" y="3429000"/>
            <a:ext cx="3749040" cy="24688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Gemini 2.5 Flash Lite prin Firebase AI SDK</a:t>
            </a:r>
            <a:endParaRPr lang="en-US" sz="1000" dirty="0"/>
          </a:p>
        </p:txBody>
      </p:sp>
      <p:sp>
        <p:nvSpPr>
          <p:cNvPr id="32" name="Text 30"/>
          <p:cNvSpPr/>
          <p:nvPr/>
        </p:nvSpPr>
        <p:spPr>
          <a:xfrm>
            <a:off x="4818888" y="3694176"/>
            <a:ext cx="3749040" cy="24688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Coaching context-aware</a:t>
            </a:r>
            <a:endParaRPr lang="en-US" sz="1000" dirty="0"/>
          </a:p>
        </p:txBody>
      </p:sp>
      <p:sp>
        <p:nvSpPr>
          <p:cNvPr id="33" name="Text 31"/>
          <p:cNvSpPr/>
          <p:nvPr/>
        </p:nvSpPr>
        <p:spPr>
          <a:xfrm>
            <a:off x="4818888" y="3959352"/>
            <a:ext cx="3749040" cy="24688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Generare plan antrenament</a:t>
            </a:r>
            <a:endParaRPr lang="en-US" sz="1000" dirty="0"/>
          </a:p>
        </p:txBody>
      </p:sp>
      <p:sp>
        <p:nvSpPr>
          <p:cNvPr id="34" name="Text 32"/>
          <p:cNvSpPr/>
          <p:nvPr/>
        </p:nvSpPr>
        <p:spPr>
          <a:xfrm>
            <a:off x="4818888" y="4224528"/>
            <a:ext cx="3749040" cy="24688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Sugestii formă corectă</a:t>
            </a:r>
            <a:endParaRPr lang="en-US" sz="1000" dirty="0"/>
          </a:p>
        </p:txBody>
      </p:sp>
      <p:sp>
        <p:nvSpPr>
          <p:cNvPr id="35" name="Text 33"/>
          <p:cNvSpPr/>
          <p:nvPr/>
        </p:nvSpPr>
        <p:spPr>
          <a:xfrm>
            <a:off x="4818888" y="4489704"/>
            <a:ext cx="3749040" cy="24688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  </a:t>
            </a:r>
            <a:r>
              <a:rPr lang="en-US" sz="1000" dirty="0">
                <a:solidFill>
                  <a:srgbClr val="1E2340"/>
                </a:solidFill>
                <a:latin typeface="Calibri" pitchFamily="34" charset="0"/>
                <a:ea typeface="Calibri" pitchFamily="34" charset="-122"/>
                <a:cs typeface="Calibri" pitchFamily="34" charset="-120"/>
              </a:rPr>
              <a:t>Suport RO + EN auto-detectat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3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ARHITECTURĂ TEHNICĂ</a:t>
            </a:r>
            <a:endParaRPr lang="en-US" sz="900" dirty="0"/>
          </a:p>
        </p:txBody>
      </p:sp>
      <p:sp>
        <p:nvSpPr>
          <p:cNvPr id="3" name="Text 1"/>
          <p:cNvSpPr/>
          <p:nvPr/>
        </p:nvSpPr>
        <p:spPr>
          <a:xfrm>
            <a:off x="457200" y="411480"/>
            <a:ext cx="6400800" cy="8229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Arhitectură profesionistă</a:t>
            </a:r>
            <a:endParaRPr lang="en-US" sz="2400" dirty="0"/>
          </a:p>
          <a:p>
            <a:pPr marL="0" indent="0" algn="l">
              <a:buNone/>
            </a:pPr>
            <a:r>
              <a:rPr lang="en-US" sz="2400" b="1" dirty="0">
                <a:solidFill>
                  <a:srgbClr val="FFFFFF"/>
                </a:solidFill>
                <a:latin typeface="Calibri" pitchFamily="34" charset="0"/>
                <a:ea typeface="Calibri" pitchFamily="34" charset="-122"/>
                <a:cs typeface="Calibri" pitchFamily="34" charset="-120"/>
              </a:rPr>
              <a:t>Clean Architecture + MVVM + MVI</a:t>
            </a:r>
            <a:endParaRPr lang="en-US" sz="2400" dirty="0"/>
          </a:p>
        </p:txBody>
      </p:sp>
      <p:sp>
        <p:nvSpPr>
          <p:cNvPr id="4" name="Shape 2"/>
          <p:cNvSpPr/>
          <p:nvPr/>
        </p:nvSpPr>
        <p:spPr>
          <a:xfrm>
            <a:off x="365760" y="1298448"/>
            <a:ext cx="5486400" cy="457200"/>
          </a:xfrm>
          <a:prstGeom prst="rect">
            <a:avLst/>
          </a:prstGeom>
          <a:solidFill>
            <a:srgbClr val="20C9B7">
              <a:alpha val="75000"/>
            </a:srgbClr>
          </a:solidFill>
          <a:ln w="12700">
            <a:solidFill>
              <a:srgbClr val="20C9B7"/>
            </a:solidFill>
            <a:prstDash val="solid"/>
          </a:ln>
        </p:spPr>
        <p:txBody>
          <a:bodyPr/>
          <a:lstStyle/>
          <a:p>
            <a:endParaRPr lang="en-US"/>
          </a:p>
        </p:txBody>
      </p:sp>
      <p:sp>
        <p:nvSpPr>
          <p:cNvPr id="5" name="Text 3"/>
          <p:cNvSpPr/>
          <p:nvPr/>
        </p:nvSpPr>
        <p:spPr>
          <a:xfrm>
            <a:off x="457200" y="1316736"/>
            <a:ext cx="5303520"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UI Layer (Jetpack Compose, 30+ ecrane)</a:t>
            </a:r>
            <a:endParaRPr lang="en-US" sz="1050" dirty="0"/>
          </a:p>
        </p:txBody>
      </p:sp>
      <p:sp>
        <p:nvSpPr>
          <p:cNvPr id="6" name="Text 4"/>
          <p:cNvSpPr/>
          <p:nvPr/>
        </p:nvSpPr>
        <p:spPr>
          <a:xfrm>
            <a:off x="457200" y="1545336"/>
            <a:ext cx="5303520" cy="18288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StateFlow&lt;UiState&lt;T&gt;&gt;</a:t>
            </a:r>
            <a:endParaRPr lang="en-US" sz="900" dirty="0"/>
          </a:p>
        </p:txBody>
      </p:sp>
      <p:sp>
        <p:nvSpPr>
          <p:cNvPr id="7" name="Text 5"/>
          <p:cNvSpPr/>
          <p:nvPr/>
        </p:nvSpPr>
        <p:spPr>
          <a:xfrm>
            <a:off x="2926080" y="1755648"/>
            <a:ext cx="365760" cy="91440"/>
          </a:xfrm>
          <a:prstGeom prst="rect">
            <a:avLst/>
          </a:prstGeom>
          <a:noFill/>
          <a:ln/>
        </p:spPr>
        <p:txBody>
          <a:bodyPr wrap="square" lIns="0" tIns="0" rIns="0" bIns="0" rtlCol="0" anchor="ctr"/>
          <a:lstStyle/>
          <a:p>
            <a:pPr marL="0" indent="0" algn="ctr">
              <a:buNone/>
            </a:pPr>
            <a:r>
              <a:rPr lang="en-US" sz="1000" dirty="0">
                <a:solidFill>
                  <a:srgbClr val="20C9B7"/>
                </a:solidFill>
                <a:latin typeface="Calibri" pitchFamily="34" charset="0"/>
                <a:ea typeface="Calibri" pitchFamily="34" charset="-122"/>
                <a:cs typeface="Calibri" pitchFamily="34" charset="-120"/>
              </a:rPr>
              <a:t>↓</a:t>
            </a:r>
            <a:endParaRPr lang="en-US" sz="1000" dirty="0"/>
          </a:p>
        </p:txBody>
      </p:sp>
      <p:sp>
        <p:nvSpPr>
          <p:cNvPr id="8" name="Shape 6"/>
          <p:cNvSpPr/>
          <p:nvPr/>
        </p:nvSpPr>
        <p:spPr>
          <a:xfrm>
            <a:off x="448056" y="1847088"/>
            <a:ext cx="5321808" cy="457200"/>
          </a:xfrm>
          <a:prstGeom prst="rect">
            <a:avLst/>
          </a:prstGeom>
          <a:solidFill>
            <a:srgbClr val="4F8EF7">
              <a:alpha val="75000"/>
            </a:srgbClr>
          </a:solidFill>
          <a:ln w="12700">
            <a:solidFill>
              <a:srgbClr val="4F8EF7"/>
            </a:solidFill>
            <a:prstDash val="solid"/>
          </a:ln>
        </p:spPr>
        <p:txBody>
          <a:bodyPr/>
          <a:lstStyle/>
          <a:p>
            <a:endParaRPr lang="en-US"/>
          </a:p>
        </p:txBody>
      </p:sp>
      <p:sp>
        <p:nvSpPr>
          <p:cNvPr id="9" name="Text 7"/>
          <p:cNvSpPr/>
          <p:nvPr/>
        </p:nvSpPr>
        <p:spPr>
          <a:xfrm>
            <a:off x="539496" y="1865376"/>
            <a:ext cx="5138928"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ViewModel Layer (MVI Pattern)</a:t>
            </a:r>
            <a:endParaRPr lang="en-US" sz="1050" dirty="0"/>
          </a:p>
        </p:txBody>
      </p:sp>
      <p:sp>
        <p:nvSpPr>
          <p:cNvPr id="10" name="Text 8"/>
          <p:cNvSpPr/>
          <p:nvPr/>
        </p:nvSpPr>
        <p:spPr>
          <a:xfrm>
            <a:off x="539496" y="2093976"/>
            <a:ext cx="5138928" cy="18288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Sealed Events + State Management</a:t>
            </a:r>
            <a:endParaRPr lang="en-US" sz="900" dirty="0"/>
          </a:p>
        </p:txBody>
      </p:sp>
      <p:sp>
        <p:nvSpPr>
          <p:cNvPr id="11" name="Text 9"/>
          <p:cNvSpPr/>
          <p:nvPr/>
        </p:nvSpPr>
        <p:spPr>
          <a:xfrm>
            <a:off x="2926080" y="2304288"/>
            <a:ext cx="365760" cy="91440"/>
          </a:xfrm>
          <a:prstGeom prst="rect">
            <a:avLst/>
          </a:prstGeom>
          <a:noFill/>
          <a:ln/>
        </p:spPr>
        <p:txBody>
          <a:bodyPr wrap="square" lIns="0" tIns="0" rIns="0" bIns="0" rtlCol="0" anchor="ctr"/>
          <a:lstStyle/>
          <a:p>
            <a:pPr marL="0" indent="0" algn="ctr">
              <a:buNone/>
            </a:pPr>
            <a:r>
              <a:rPr lang="en-US" sz="1000" dirty="0">
                <a:solidFill>
                  <a:srgbClr val="4F8EF7"/>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30352" y="2395728"/>
            <a:ext cx="5157216" cy="457200"/>
          </a:xfrm>
          <a:prstGeom prst="rect">
            <a:avLst/>
          </a:prstGeom>
          <a:solidFill>
            <a:srgbClr val="8B5CF6">
              <a:alpha val="75000"/>
            </a:srgbClr>
          </a:solidFill>
          <a:ln w="12700">
            <a:solidFill>
              <a:srgbClr val="8B5CF6"/>
            </a:solidFill>
            <a:prstDash val="solid"/>
          </a:ln>
        </p:spPr>
        <p:txBody>
          <a:bodyPr/>
          <a:lstStyle/>
          <a:p>
            <a:endParaRPr lang="en-US"/>
          </a:p>
        </p:txBody>
      </p:sp>
      <p:sp>
        <p:nvSpPr>
          <p:cNvPr id="13" name="Text 11"/>
          <p:cNvSpPr/>
          <p:nvPr/>
        </p:nvSpPr>
        <p:spPr>
          <a:xfrm>
            <a:off x="621792" y="2414016"/>
            <a:ext cx="4974336"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Use Case Layer (62 operațiuni)</a:t>
            </a:r>
            <a:endParaRPr lang="en-US" sz="1050" dirty="0"/>
          </a:p>
        </p:txBody>
      </p:sp>
      <p:sp>
        <p:nvSpPr>
          <p:cNvPr id="14" name="Text 12"/>
          <p:cNvSpPr/>
          <p:nvPr/>
        </p:nvSpPr>
        <p:spPr>
          <a:xfrm>
            <a:off x="621792" y="2642616"/>
            <a:ext cx="4974336" cy="18288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LiftrixResult&lt;T&gt;</a:t>
            </a:r>
            <a:endParaRPr lang="en-US" sz="900" dirty="0"/>
          </a:p>
        </p:txBody>
      </p:sp>
      <p:sp>
        <p:nvSpPr>
          <p:cNvPr id="15" name="Text 13"/>
          <p:cNvSpPr/>
          <p:nvPr/>
        </p:nvSpPr>
        <p:spPr>
          <a:xfrm>
            <a:off x="2926080" y="2852928"/>
            <a:ext cx="365760" cy="91440"/>
          </a:xfrm>
          <a:prstGeom prst="rect">
            <a:avLst/>
          </a:prstGeom>
          <a:noFill/>
          <a:ln/>
        </p:spPr>
        <p:txBody>
          <a:bodyPr wrap="square" lIns="0" tIns="0" rIns="0" bIns="0" rtlCol="0" anchor="ctr"/>
          <a:lstStyle/>
          <a:p>
            <a:pPr marL="0" indent="0" algn="ctr">
              <a:buNone/>
            </a:pPr>
            <a:r>
              <a:rPr lang="en-US" sz="1000" dirty="0">
                <a:solidFill>
                  <a:srgbClr val="8B5CF6"/>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612648" y="2944368"/>
            <a:ext cx="4992624" cy="457200"/>
          </a:xfrm>
          <a:prstGeom prst="rect">
            <a:avLst/>
          </a:prstGeom>
          <a:solidFill>
            <a:srgbClr val="F59E0B">
              <a:alpha val="75000"/>
            </a:srgbClr>
          </a:solidFill>
          <a:ln w="12700">
            <a:solidFill>
              <a:srgbClr val="F59E0B"/>
            </a:solidFill>
            <a:prstDash val="solid"/>
          </a:ln>
        </p:spPr>
        <p:txBody>
          <a:bodyPr/>
          <a:lstStyle/>
          <a:p>
            <a:endParaRPr lang="en-US"/>
          </a:p>
        </p:txBody>
      </p:sp>
      <p:sp>
        <p:nvSpPr>
          <p:cNvPr id="17" name="Text 15"/>
          <p:cNvSpPr/>
          <p:nvPr/>
        </p:nvSpPr>
        <p:spPr>
          <a:xfrm>
            <a:off x="704088" y="2962656"/>
            <a:ext cx="4809744"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Repository Layer (43 interfețe)</a:t>
            </a:r>
            <a:endParaRPr lang="en-US" sz="1050" dirty="0"/>
          </a:p>
        </p:txBody>
      </p:sp>
      <p:sp>
        <p:nvSpPr>
          <p:cNvPr id="18" name="Text 16"/>
          <p:cNvSpPr/>
          <p:nvPr/>
        </p:nvSpPr>
        <p:spPr>
          <a:xfrm>
            <a:off x="704088" y="3191256"/>
            <a:ext cx="4809744" cy="18288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Offline-First + Conflict Resolution</a:t>
            </a:r>
            <a:endParaRPr lang="en-US" sz="900" dirty="0"/>
          </a:p>
        </p:txBody>
      </p:sp>
      <p:sp>
        <p:nvSpPr>
          <p:cNvPr id="19" name="Text 17"/>
          <p:cNvSpPr/>
          <p:nvPr/>
        </p:nvSpPr>
        <p:spPr>
          <a:xfrm>
            <a:off x="2926080" y="3401568"/>
            <a:ext cx="365760" cy="91440"/>
          </a:xfrm>
          <a:prstGeom prst="rect">
            <a:avLst/>
          </a:prstGeom>
          <a:noFill/>
          <a:ln/>
        </p:spPr>
        <p:txBody>
          <a:bodyPr wrap="square" lIns="0" tIns="0" rIns="0" bIns="0" rtlCol="0" anchor="ctr"/>
          <a:lstStyle/>
          <a:p>
            <a:pPr marL="0" indent="0" algn="ctr">
              <a:buNone/>
            </a:pPr>
            <a:r>
              <a:rPr lang="en-US" sz="1000" dirty="0">
                <a:solidFill>
                  <a:srgbClr val="F59E0B"/>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694944" y="3493008"/>
            <a:ext cx="4828032" cy="457200"/>
          </a:xfrm>
          <a:prstGeom prst="rect">
            <a:avLst/>
          </a:prstGeom>
          <a:solidFill>
            <a:srgbClr val="10B981">
              <a:alpha val="75000"/>
            </a:srgbClr>
          </a:solidFill>
          <a:ln w="12700">
            <a:solidFill>
              <a:srgbClr val="10B981"/>
            </a:solidFill>
            <a:prstDash val="solid"/>
          </a:ln>
        </p:spPr>
        <p:txBody>
          <a:bodyPr/>
          <a:lstStyle/>
          <a:p>
            <a:endParaRPr lang="en-US"/>
          </a:p>
        </p:txBody>
      </p:sp>
      <p:sp>
        <p:nvSpPr>
          <p:cNvPr id="21" name="Text 19"/>
          <p:cNvSpPr/>
          <p:nvPr/>
        </p:nvSpPr>
        <p:spPr>
          <a:xfrm>
            <a:off x="786384" y="3511296"/>
            <a:ext cx="4645152"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DAO Layer (64 DAOs) + Room DB (65 Entități)</a:t>
            </a:r>
            <a:endParaRPr lang="en-US" sz="1050" dirty="0"/>
          </a:p>
        </p:txBody>
      </p:sp>
      <p:sp>
        <p:nvSpPr>
          <p:cNvPr id="22" name="Text 20"/>
          <p:cNvSpPr/>
          <p:nvPr/>
        </p:nvSpPr>
        <p:spPr>
          <a:xfrm>
            <a:off x="786384" y="3739896"/>
            <a:ext cx="4645152" cy="18288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User-Scoped Security + Indexing</a:t>
            </a:r>
            <a:endParaRPr lang="en-US" sz="900" dirty="0"/>
          </a:p>
        </p:txBody>
      </p:sp>
      <p:sp>
        <p:nvSpPr>
          <p:cNvPr id="23" name="Text 21"/>
          <p:cNvSpPr/>
          <p:nvPr/>
        </p:nvSpPr>
        <p:spPr>
          <a:xfrm>
            <a:off x="2926080" y="3950208"/>
            <a:ext cx="365760" cy="91440"/>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a:t>
            </a:r>
            <a:endParaRPr lang="en-US" sz="1000" dirty="0"/>
          </a:p>
        </p:txBody>
      </p:sp>
      <p:sp>
        <p:nvSpPr>
          <p:cNvPr id="24" name="Shape 22"/>
          <p:cNvSpPr/>
          <p:nvPr/>
        </p:nvSpPr>
        <p:spPr>
          <a:xfrm>
            <a:off x="777240" y="4041648"/>
            <a:ext cx="4663440" cy="457200"/>
          </a:xfrm>
          <a:prstGeom prst="rect">
            <a:avLst/>
          </a:prstGeom>
          <a:solidFill>
            <a:srgbClr val="EF4444">
              <a:alpha val="75000"/>
            </a:srgbClr>
          </a:solidFill>
          <a:ln w="12700">
            <a:solidFill>
              <a:srgbClr val="EF4444"/>
            </a:solidFill>
            <a:prstDash val="solid"/>
          </a:ln>
        </p:spPr>
        <p:txBody>
          <a:bodyPr/>
          <a:lstStyle/>
          <a:p>
            <a:endParaRPr lang="en-US"/>
          </a:p>
        </p:txBody>
      </p:sp>
      <p:sp>
        <p:nvSpPr>
          <p:cNvPr id="25" name="Text 23"/>
          <p:cNvSpPr/>
          <p:nvPr/>
        </p:nvSpPr>
        <p:spPr>
          <a:xfrm>
            <a:off x="868680" y="4059936"/>
            <a:ext cx="4480560"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Firebase Services (12 integrate)</a:t>
            </a:r>
            <a:endParaRPr lang="en-US" sz="1050" dirty="0"/>
          </a:p>
        </p:txBody>
      </p:sp>
      <p:sp>
        <p:nvSpPr>
          <p:cNvPr id="26" name="Text 24"/>
          <p:cNvSpPr/>
          <p:nvPr/>
        </p:nvSpPr>
        <p:spPr>
          <a:xfrm>
            <a:off x="868680" y="4288536"/>
            <a:ext cx="4480560" cy="18288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Firestore · Auth · Storage · Firebase AI · Analytics</a:t>
            </a:r>
            <a:endParaRPr lang="en-US" sz="900" dirty="0"/>
          </a:p>
        </p:txBody>
      </p:sp>
      <p:sp>
        <p:nvSpPr>
          <p:cNvPr id="27" name="Text 25"/>
          <p:cNvSpPr/>
          <p:nvPr/>
        </p:nvSpPr>
        <p:spPr>
          <a:xfrm>
            <a:off x="6263640" y="1298448"/>
            <a:ext cx="2743200" cy="274320"/>
          </a:xfrm>
          <a:prstGeom prst="rect">
            <a:avLst/>
          </a:prstGeom>
          <a:noFill/>
          <a:ln/>
        </p:spPr>
        <p:txBody>
          <a:bodyPr wrap="square" lIns="0" tIns="0" rIns="0" bIns="0" rtlCol="0" anchor="ctr"/>
          <a:lstStyle/>
          <a:p>
            <a:pPr marL="0" indent="0">
              <a:buNone/>
            </a:pPr>
            <a:r>
              <a:rPr lang="en-US" sz="1200" b="1" dirty="0">
                <a:solidFill>
                  <a:srgbClr val="20C9B7"/>
                </a:solidFill>
                <a:latin typeface="Calibri" pitchFamily="34" charset="0"/>
                <a:ea typeface="Calibri" pitchFamily="34" charset="-122"/>
                <a:cs typeface="Calibri" pitchFamily="34" charset="-120"/>
              </a:rPr>
              <a:t>Stack Tehnologic</a:t>
            </a:r>
            <a:endParaRPr lang="en-US" sz="1200" dirty="0"/>
          </a:p>
        </p:txBody>
      </p:sp>
      <p:sp>
        <p:nvSpPr>
          <p:cNvPr id="28" name="Text 26"/>
          <p:cNvSpPr/>
          <p:nvPr/>
        </p:nvSpPr>
        <p:spPr>
          <a:xfrm>
            <a:off x="6263640" y="166420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Kotlin + Coroutines + Flow</a:t>
            </a:r>
            <a:endParaRPr lang="en-US" sz="1000" dirty="0"/>
          </a:p>
        </p:txBody>
      </p:sp>
      <p:sp>
        <p:nvSpPr>
          <p:cNvPr id="29" name="Text 27"/>
          <p:cNvSpPr/>
          <p:nvPr/>
        </p:nvSpPr>
        <p:spPr>
          <a:xfrm>
            <a:off x="6263640" y="202996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Jetpack Compose + Material 3</a:t>
            </a:r>
            <a:endParaRPr lang="en-US" sz="1000" dirty="0"/>
          </a:p>
        </p:txBody>
      </p:sp>
      <p:sp>
        <p:nvSpPr>
          <p:cNvPr id="30" name="Text 28"/>
          <p:cNvSpPr/>
          <p:nvPr/>
        </p:nvSpPr>
        <p:spPr>
          <a:xfrm>
            <a:off x="6263640" y="239572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Hilt DI (30 module)</a:t>
            </a:r>
            <a:endParaRPr lang="en-US" sz="1000" dirty="0"/>
          </a:p>
        </p:txBody>
      </p:sp>
      <p:sp>
        <p:nvSpPr>
          <p:cNvPr id="31" name="Text 29"/>
          <p:cNvSpPr/>
          <p:nvPr/>
        </p:nvSpPr>
        <p:spPr>
          <a:xfrm>
            <a:off x="6263640" y="276148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WorkManager (14 sync workers)</a:t>
            </a:r>
            <a:endParaRPr lang="en-US" sz="1000" dirty="0"/>
          </a:p>
        </p:txBody>
      </p:sp>
      <p:sp>
        <p:nvSpPr>
          <p:cNvPr id="32" name="Text 30"/>
          <p:cNvSpPr/>
          <p:nvPr/>
        </p:nvSpPr>
        <p:spPr>
          <a:xfrm>
            <a:off x="6263640" y="312724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Paging3 pentru feed</a:t>
            </a:r>
            <a:endParaRPr lang="en-US" sz="1000" dirty="0"/>
          </a:p>
        </p:txBody>
      </p:sp>
      <p:sp>
        <p:nvSpPr>
          <p:cNvPr id="33" name="Text 31"/>
          <p:cNvSpPr/>
          <p:nvPr/>
        </p:nvSpPr>
        <p:spPr>
          <a:xfrm>
            <a:off x="6263640" y="349300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Firebase SDKs versionate în gradle/libs.versions.toml</a:t>
            </a:r>
            <a:endParaRPr lang="en-US" sz="1000" dirty="0"/>
          </a:p>
        </p:txBody>
      </p:sp>
      <p:sp>
        <p:nvSpPr>
          <p:cNvPr id="34" name="Text 32"/>
          <p:cNvSpPr/>
          <p:nvPr/>
        </p:nvSpPr>
        <p:spPr>
          <a:xfrm>
            <a:off x="6263640" y="385876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ZXing QR Code</a:t>
            </a:r>
            <a:endParaRPr lang="en-US" sz="1000" dirty="0"/>
          </a:p>
        </p:txBody>
      </p:sp>
      <p:sp>
        <p:nvSpPr>
          <p:cNvPr id="35" name="Text 33"/>
          <p:cNvSpPr/>
          <p:nvPr/>
        </p:nvSpPr>
        <p:spPr>
          <a:xfrm>
            <a:off x="6263640" y="4224528"/>
            <a:ext cx="2743200" cy="320040"/>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MockK + Turbine (testing)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PROVOCĂRI &amp; INOVAȚIE TEHNICĂ</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Ce este tehnic dificil și inovator în Liftrix?</a:t>
            </a:r>
            <a:endParaRPr lang="en-US" sz="2400" dirty="0"/>
          </a:p>
        </p:txBody>
      </p:sp>
      <p:sp>
        <p:nvSpPr>
          <p:cNvPr id="4" name="Shape 2"/>
          <p:cNvSpPr/>
          <p:nvPr/>
        </p:nvSpPr>
        <p:spPr>
          <a:xfrm>
            <a:off x="365760" y="987552"/>
            <a:ext cx="2606040" cy="17190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987552"/>
            <a:ext cx="2606040" cy="54864"/>
          </a:xfrm>
          <a:prstGeom prst="rect">
            <a:avLst/>
          </a:prstGeom>
          <a:solidFill>
            <a:srgbClr val="20C9B7"/>
          </a:solidFill>
          <a:ln w="12700">
            <a:solidFill>
              <a:srgbClr val="20C9B7"/>
            </a:solidFill>
            <a:prstDash val="solid"/>
          </a:ln>
        </p:spPr>
        <p:txBody>
          <a:bodyPr/>
          <a:lstStyle/>
          <a:p>
            <a:endParaRPr lang="en-US"/>
          </a:p>
        </p:txBody>
      </p:sp>
      <p:sp>
        <p:nvSpPr>
          <p:cNvPr id="6" name="Shape 4"/>
          <p:cNvSpPr/>
          <p:nvPr/>
        </p:nvSpPr>
        <p:spPr>
          <a:xfrm>
            <a:off x="475488" y="1097280"/>
            <a:ext cx="1371600" cy="201168"/>
          </a:xfrm>
          <a:prstGeom prst="rect">
            <a:avLst/>
          </a:prstGeom>
          <a:solidFill>
            <a:srgbClr val="20C9B7">
              <a:alpha val="20000"/>
            </a:srgbClr>
          </a:solidFill>
          <a:ln w="12700">
            <a:solidFill>
              <a:srgbClr val="20C9B7">
                <a:alpha val="40000"/>
              </a:srgbClr>
            </a:solidFill>
            <a:prstDash val="solid"/>
          </a:ln>
        </p:spPr>
        <p:txBody>
          <a:bodyPr/>
          <a:lstStyle/>
          <a:p>
            <a:endParaRPr lang="en-US"/>
          </a:p>
        </p:txBody>
      </p:sp>
      <p:sp>
        <p:nvSpPr>
          <p:cNvPr id="7" name="Text 5"/>
          <p:cNvSpPr/>
          <p:nvPr/>
        </p:nvSpPr>
        <p:spPr>
          <a:xfrm>
            <a:off x="475488" y="1097280"/>
            <a:ext cx="1371600" cy="201168"/>
          </a:xfrm>
          <a:prstGeom prst="rect">
            <a:avLst/>
          </a:prstGeom>
          <a:noFill/>
          <a:ln/>
        </p:spPr>
        <p:txBody>
          <a:bodyPr wrap="square" lIns="0" tIns="0" rIns="0" bIns="0" rtlCol="0" anchor="ctr"/>
          <a:lstStyle/>
          <a:p>
            <a:pPr marL="0" indent="0" algn="ctr">
              <a:buNone/>
            </a:pPr>
            <a:r>
              <a:rPr lang="en-US" sz="700" b="1" kern="0" spc="200" dirty="0">
                <a:solidFill>
                  <a:srgbClr val="20C9B7"/>
                </a:solidFill>
                <a:latin typeface="Calibri" pitchFamily="34" charset="0"/>
                <a:ea typeface="Calibri" pitchFamily="34" charset="-122"/>
                <a:cs typeface="Calibri" pitchFamily="34" charset="-120"/>
              </a:rPr>
              <a:t>SISTEM COMPLEX</a:t>
            </a:r>
            <a:endParaRPr lang="en-US" sz="700" dirty="0"/>
          </a:p>
        </p:txBody>
      </p:sp>
      <p:sp>
        <p:nvSpPr>
          <p:cNvPr id="8" name="Text 6"/>
          <p:cNvSpPr/>
          <p:nvPr/>
        </p:nvSpPr>
        <p:spPr>
          <a:xfrm>
            <a:off x="475488" y="1353312"/>
            <a:ext cx="2377440" cy="457200"/>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Sincronizare Offline-First cu Rezolvare Conflicte</a:t>
            </a:r>
            <a:endParaRPr lang="en-US" sz="1100" dirty="0"/>
          </a:p>
        </p:txBody>
      </p:sp>
      <p:sp>
        <p:nvSpPr>
          <p:cNvPr id="9" name="Text 7"/>
          <p:cNvSpPr/>
          <p:nvPr/>
        </p:nvSpPr>
        <p:spPr>
          <a:xfrm>
            <a:off x="475488" y="1837944"/>
            <a:ext cx="2377440" cy="80467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14 sync workers specializați coordonați de MasterSyncWorker cu retry exponential. Conflict resolution prin timestamp comparison — funcționează fără logică server-side.</a:t>
            </a:r>
            <a:endParaRPr lang="en-US" sz="950" dirty="0"/>
          </a:p>
        </p:txBody>
      </p:sp>
      <p:sp>
        <p:nvSpPr>
          <p:cNvPr id="10" name="Shape 8"/>
          <p:cNvSpPr/>
          <p:nvPr/>
        </p:nvSpPr>
        <p:spPr>
          <a:xfrm>
            <a:off x="3200400" y="987552"/>
            <a:ext cx="2606040" cy="17190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1" name="Shape 9"/>
          <p:cNvSpPr/>
          <p:nvPr/>
        </p:nvSpPr>
        <p:spPr>
          <a:xfrm>
            <a:off x="3200400" y="987552"/>
            <a:ext cx="2606040" cy="54864"/>
          </a:xfrm>
          <a:prstGeom prst="rect">
            <a:avLst/>
          </a:prstGeom>
          <a:solidFill>
            <a:srgbClr val="4F8EF7"/>
          </a:solidFill>
          <a:ln w="12700">
            <a:solidFill>
              <a:srgbClr val="4F8EF7"/>
            </a:solidFill>
            <a:prstDash val="solid"/>
          </a:ln>
        </p:spPr>
        <p:txBody>
          <a:bodyPr/>
          <a:lstStyle/>
          <a:p>
            <a:endParaRPr lang="en-US"/>
          </a:p>
        </p:txBody>
      </p:sp>
      <p:sp>
        <p:nvSpPr>
          <p:cNvPr id="12" name="Shape 10"/>
          <p:cNvSpPr/>
          <p:nvPr/>
        </p:nvSpPr>
        <p:spPr>
          <a:xfrm>
            <a:off x="3310128" y="1097280"/>
            <a:ext cx="1371600" cy="201168"/>
          </a:xfrm>
          <a:prstGeom prst="rect">
            <a:avLst/>
          </a:prstGeom>
          <a:solidFill>
            <a:srgbClr val="4F8EF7">
              <a:alpha val="20000"/>
            </a:srgbClr>
          </a:solidFill>
          <a:ln w="12700">
            <a:solidFill>
              <a:srgbClr val="4F8EF7">
                <a:alpha val="40000"/>
              </a:srgbClr>
            </a:solidFill>
            <a:prstDash val="solid"/>
          </a:ln>
        </p:spPr>
        <p:txBody>
          <a:bodyPr/>
          <a:lstStyle/>
          <a:p>
            <a:endParaRPr lang="en-US"/>
          </a:p>
        </p:txBody>
      </p:sp>
      <p:sp>
        <p:nvSpPr>
          <p:cNvPr id="13" name="Text 11"/>
          <p:cNvSpPr/>
          <p:nvPr/>
        </p:nvSpPr>
        <p:spPr>
          <a:xfrm>
            <a:off x="3310128" y="1097280"/>
            <a:ext cx="1371600" cy="201168"/>
          </a:xfrm>
          <a:prstGeom prst="rect">
            <a:avLst/>
          </a:prstGeom>
          <a:noFill/>
          <a:ln/>
        </p:spPr>
        <p:txBody>
          <a:bodyPr wrap="square" lIns="0" tIns="0" rIns="0" bIns="0" rtlCol="0" anchor="ctr"/>
          <a:lstStyle/>
          <a:p>
            <a:pPr marL="0" indent="0" algn="ctr">
              <a:buNone/>
            </a:pPr>
            <a:r>
              <a:rPr lang="en-US" sz="700" b="1" kern="0" spc="200" dirty="0">
                <a:solidFill>
                  <a:srgbClr val="4F8EF7"/>
                </a:solidFill>
                <a:latin typeface="Calibri" pitchFamily="34" charset="0"/>
                <a:ea typeface="Calibri" pitchFamily="34" charset="-122"/>
                <a:cs typeface="Calibri" pitchFamily="34" charset="-120"/>
              </a:rPr>
              <a:t>PERFORMANȚĂ</a:t>
            </a:r>
            <a:endParaRPr lang="en-US" sz="700" dirty="0"/>
          </a:p>
        </p:txBody>
      </p:sp>
      <p:sp>
        <p:nvSpPr>
          <p:cNvPr id="14" name="Text 12"/>
          <p:cNvSpPr/>
          <p:nvPr/>
        </p:nvSpPr>
        <p:spPr>
          <a:xfrm>
            <a:off x="3310128" y="1353312"/>
            <a:ext cx="2377440" cy="457200"/>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Grafice Custom țintă 60fps fără librărie externă</a:t>
            </a:r>
            <a:endParaRPr lang="en-US" sz="1100" dirty="0"/>
          </a:p>
        </p:txBody>
      </p:sp>
      <p:sp>
        <p:nvSpPr>
          <p:cNvPr id="15" name="Text 13"/>
          <p:cNvSpPr/>
          <p:nvPr/>
        </p:nvSpPr>
        <p:spPr>
          <a:xfrm>
            <a:off x="3310128" y="1837944"/>
            <a:ext cx="2377440" cy="80467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Curbele bezier și gradienții sunt desenate direct pe Canvas Compose. Calculul punctelor de control și optimizarea cu remember() asigură performanță monitorizată.</a:t>
            </a:r>
            <a:endParaRPr lang="en-US" sz="950" dirty="0"/>
          </a:p>
        </p:txBody>
      </p:sp>
      <p:sp>
        <p:nvSpPr>
          <p:cNvPr id="16" name="Shape 14"/>
          <p:cNvSpPr/>
          <p:nvPr/>
        </p:nvSpPr>
        <p:spPr>
          <a:xfrm>
            <a:off x="6035040" y="987552"/>
            <a:ext cx="2606040" cy="17190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7" name="Shape 15"/>
          <p:cNvSpPr/>
          <p:nvPr/>
        </p:nvSpPr>
        <p:spPr>
          <a:xfrm>
            <a:off x="6035040" y="987552"/>
            <a:ext cx="2606040" cy="54864"/>
          </a:xfrm>
          <a:prstGeom prst="rect">
            <a:avLst/>
          </a:prstGeom>
          <a:solidFill>
            <a:srgbClr val="8B5CF6"/>
          </a:solidFill>
          <a:ln w="12700">
            <a:solidFill>
              <a:srgbClr val="8B5CF6"/>
            </a:solidFill>
            <a:prstDash val="solid"/>
          </a:ln>
        </p:spPr>
        <p:txBody>
          <a:bodyPr/>
          <a:lstStyle/>
          <a:p>
            <a:endParaRPr lang="en-US"/>
          </a:p>
        </p:txBody>
      </p:sp>
      <p:sp>
        <p:nvSpPr>
          <p:cNvPr id="18" name="Shape 16"/>
          <p:cNvSpPr/>
          <p:nvPr/>
        </p:nvSpPr>
        <p:spPr>
          <a:xfrm>
            <a:off x="6144768" y="1097280"/>
            <a:ext cx="1371600" cy="201168"/>
          </a:xfrm>
          <a:prstGeom prst="rect">
            <a:avLst/>
          </a:prstGeom>
          <a:solidFill>
            <a:srgbClr val="8B5CF6">
              <a:alpha val="20000"/>
            </a:srgbClr>
          </a:solidFill>
          <a:ln w="12700">
            <a:solidFill>
              <a:srgbClr val="8B5CF6">
                <a:alpha val="40000"/>
              </a:srgbClr>
            </a:solidFill>
            <a:prstDash val="solid"/>
          </a:ln>
        </p:spPr>
        <p:txBody>
          <a:bodyPr/>
          <a:lstStyle/>
          <a:p>
            <a:endParaRPr lang="en-US"/>
          </a:p>
        </p:txBody>
      </p:sp>
      <p:sp>
        <p:nvSpPr>
          <p:cNvPr id="19" name="Text 17"/>
          <p:cNvSpPr/>
          <p:nvPr/>
        </p:nvSpPr>
        <p:spPr>
          <a:xfrm>
            <a:off x="6144768" y="1097280"/>
            <a:ext cx="1371600" cy="201168"/>
          </a:xfrm>
          <a:prstGeom prst="rect">
            <a:avLst/>
          </a:prstGeom>
          <a:noFill/>
          <a:ln/>
        </p:spPr>
        <p:txBody>
          <a:bodyPr wrap="square" lIns="0" tIns="0" rIns="0" bIns="0" rtlCol="0" anchor="ctr"/>
          <a:lstStyle/>
          <a:p>
            <a:pPr marL="0" indent="0" algn="ctr">
              <a:buNone/>
            </a:pPr>
            <a:r>
              <a:rPr lang="en-US" sz="700" b="1" kern="0" spc="200" dirty="0">
                <a:solidFill>
                  <a:srgbClr val="8B5CF6"/>
                </a:solidFill>
                <a:latin typeface="Calibri" pitchFamily="34" charset="0"/>
                <a:ea typeface="Calibri" pitchFamily="34" charset="-122"/>
                <a:cs typeface="Calibri" pitchFamily="34" charset="-120"/>
              </a:rPr>
              <a:t>SECURITATE</a:t>
            </a:r>
            <a:endParaRPr lang="en-US" sz="700" dirty="0"/>
          </a:p>
        </p:txBody>
      </p:sp>
      <p:sp>
        <p:nvSpPr>
          <p:cNvPr id="20" name="Text 18"/>
          <p:cNvSpPr/>
          <p:nvPr/>
        </p:nvSpPr>
        <p:spPr>
          <a:xfrm>
            <a:off x="6144768" y="1353312"/>
            <a:ext cx="2377440" cy="457200"/>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Securitate User-Scoped la nivel de DAO</a:t>
            </a:r>
            <a:endParaRPr lang="en-US" sz="1100" dirty="0"/>
          </a:p>
        </p:txBody>
      </p:sp>
      <p:sp>
        <p:nvSpPr>
          <p:cNvPr id="21" name="Text 19"/>
          <p:cNvSpPr/>
          <p:nvPr/>
        </p:nvSpPr>
        <p:spPr>
          <a:xfrm>
            <a:off x="6144768" y="1837944"/>
            <a:ext cx="2377440" cy="80467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Fiecare query SQL include mandatory user_id. Imposibil tehnic să accesezi datele altui utilizator. Pattern aplicat consistent la toate 64 DAO-uri.</a:t>
            </a:r>
            <a:endParaRPr lang="en-US" sz="950" dirty="0"/>
          </a:p>
        </p:txBody>
      </p:sp>
      <p:sp>
        <p:nvSpPr>
          <p:cNvPr id="22" name="Shape 20"/>
          <p:cNvSpPr/>
          <p:nvPr/>
        </p:nvSpPr>
        <p:spPr>
          <a:xfrm>
            <a:off x="365760" y="2889504"/>
            <a:ext cx="2606040" cy="17190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3" name="Shape 21"/>
          <p:cNvSpPr/>
          <p:nvPr/>
        </p:nvSpPr>
        <p:spPr>
          <a:xfrm>
            <a:off x="365760" y="2889504"/>
            <a:ext cx="2606040" cy="54864"/>
          </a:xfrm>
          <a:prstGeom prst="rect">
            <a:avLst/>
          </a:prstGeom>
          <a:solidFill>
            <a:srgbClr val="10B981"/>
          </a:solidFill>
          <a:ln w="12700">
            <a:solidFill>
              <a:srgbClr val="10B981"/>
            </a:solidFill>
            <a:prstDash val="solid"/>
          </a:ln>
        </p:spPr>
        <p:txBody>
          <a:bodyPr/>
          <a:lstStyle/>
          <a:p>
            <a:endParaRPr lang="en-US"/>
          </a:p>
        </p:txBody>
      </p:sp>
      <p:sp>
        <p:nvSpPr>
          <p:cNvPr id="24" name="Shape 22"/>
          <p:cNvSpPr/>
          <p:nvPr/>
        </p:nvSpPr>
        <p:spPr>
          <a:xfrm>
            <a:off x="475488" y="2999232"/>
            <a:ext cx="1371600" cy="201168"/>
          </a:xfrm>
          <a:prstGeom prst="rect">
            <a:avLst/>
          </a:prstGeom>
          <a:solidFill>
            <a:srgbClr val="10B981">
              <a:alpha val="20000"/>
            </a:srgbClr>
          </a:solidFill>
          <a:ln w="12700">
            <a:solidFill>
              <a:srgbClr val="10B981">
                <a:alpha val="40000"/>
              </a:srgbClr>
            </a:solidFill>
            <a:prstDash val="solid"/>
          </a:ln>
        </p:spPr>
        <p:txBody>
          <a:bodyPr/>
          <a:lstStyle/>
          <a:p>
            <a:endParaRPr lang="en-US"/>
          </a:p>
        </p:txBody>
      </p:sp>
      <p:sp>
        <p:nvSpPr>
          <p:cNvPr id="25" name="Text 23"/>
          <p:cNvSpPr/>
          <p:nvPr/>
        </p:nvSpPr>
        <p:spPr>
          <a:xfrm>
            <a:off x="475488" y="2999232"/>
            <a:ext cx="1371600" cy="201168"/>
          </a:xfrm>
          <a:prstGeom prst="rect">
            <a:avLst/>
          </a:prstGeom>
          <a:noFill/>
          <a:ln/>
        </p:spPr>
        <p:txBody>
          <a:bodyPr wrap="square" lIns="0" tIns="0" rIns="0" bIns="0" rtlCol="0" anchor="ctr"/>
          <a:lstStyle/>
          <a:p>
            <a:pPr marL="0" indent="0" algn="ctr">
              <a:buNone/>
            </a:pPr>
            <a:r>
              <a:rPr lang="en-US" sz="700" b="1" kern="0" spc="200" dirty="0">
                <a:solidFill>
                  <a:srgbClr val="10B981"/>
                </a:solidFill>
                <a:latin typeface="Calibri" pitchFamily="34" charset="0"/>
                <a:ea typeface="Calibri" pitchFamily="34" charset="-122"/>
                <a:cs typeface="Calibri" pitchFamily="34" charset="-120"/>
              </a:rPr>
              <a:t>AI INTEGRAT</a:t>
            </a:r>
            <a:endParaRPr lang="en-US" sz="700" dirty="0"/>
          </a:p>
        </p:txBody>
      </p:sp>
      <p:sp>
        <p:nvSpPr>
          <p:cNvPr id="26" name="Text 24"/>
          <p:cNvSpPr/>
          <p:nvPr/>
        </p:nvSpPr>
        <p:spPr>
          <a:xfrm>
            <a:off x="475488" y="3255264"/>
            <a:ext cx="2377440" cy="457200"/>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AI Coach cu Context Real al Antrenamentelor</a:t>
            </a:r>
            <a:endParaRPr lang="en-US" sz="1100" dirty="0"/>
          </a:p>
        </p:txBody>
      </p:sp>
      <p:sp>
        <p:nvSpPr>
          <p:cNvPr id="27" name="Text 25"/>
          <p:cNvSpPr/>
          <p:nvPr/>
        </p:nvSpPr>
        <p:spPr>
          <a:xfrm>
            <a:off x="475488" y="3739896"/>
            <a:ext cx="2377440" cy="80467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Gemini 2.5 primește contextul complet al sesiunilor trecute, nu doar mesajul curent. Rate limiting (50 msg/zi), abuse prevention cu fitness keyword detection.</a:t>
            </a:r>
            <a:endParaRPr lang="en-US" sz="950" dirty="0"/>
          </a:p>
        </p:txBody>
      </p:sp>
      <p:sp>
        <p:nvSpPr>
          <p:cNvPr id="28" name="Shape 26"/>
          <p:cNvSpPr/>
          <p:nvPr/>
        </p:nvSpPr>
        <p:spPr>
          <a:xfrm>
            <a:off x="3200400" y="2889504"/>
            <a:ext cx="2606040" cy="17190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9" name="Shape 27"/>
          <p:cNvSpPr/>
          <p:nvPr/>
        </p:nvSpPr>
        <p:spPr>
          <a:xfrm>
            <a:off x="3200400" y="2889504"/>
            <a:ext cx="2606040" cy="54864"/>
          </a:xfrm>
          <a:prstGeom prst="rect">
            <a:avLst/>
          </a:prstGeom>
          <a:solidFill>
            <a:srgbClr val="F59E0B"/>
          </a:solidFill>
          <a:ln w="12700">
            <a:solidFill>
              <a:srgbClr val="F59E0B"/>
            </a:solidFill>
            <a:prstDash val="solid"/>
          </a:ln>
        </p:spPr>
        <p:txBody>
          <a:bodyPr/>
          <a:lstStyle/>
          <a:p>
            <a:endParaRPr lang="en-US"/>
          </a:p>
        </p:txBody>
      </p:sp>
      <p:sp>
        <p:nvSpPr>
          <p:cNvPr id="30" name="Shape 28"/>
          <p:cNvSpPr/>
          <p:nvPr/>
        </p:nvSpPr>
        <p:spPr>
          <a:xfrm>
            <a:off x="3310128" y="2999232"/>
            <a:ext cx="1371600" cy="201168"/>
          </a:xfrm>
          <a:prstGeom prst="rect">
            <a:avLst/>
          </a:prstGeom>
          <a:solidFill>
            <a:srgbClr val="F59E0B">
              <a:alpha val="20000"/>
            </a:srgbClr>
          </a:solidFill>
          <a:ln w="12700">
            <a:solidFill>
              <a:srgbClr val="F59E0B">
                <a:alpha val="40000"/>
              </a:srgbClr>
            </a:solidFill>
            <a:prstDash val="solid"/>
          </a:ln>
        </p:spPr>
        <p:txBody>
          <a:bodyPr/>
          <a:lstStyle/>
          <a:p>
            <a:endParaRPr lang="en-US"/>
          </a:p>
        </p:txBody>
      </p:sp>
      <p:sp>
        <p:nvSpPr>
          <p:cNvPr id="31" name="Text 29"/>
          <p:cNvSpPr/>
          <p:nvPr/>
        </p:nvSpPr>
        <p:spPr>
          <a:xfrm>
            <a:off x="3310128" y="2999232"/>
            <a:ext cx="1371600" cy="201168"/>
          </a:xfrm>
          <a:prstGeom prst="rect">
            <a:avLst/>
          </a:prstGeom>
          <a:noFill/>
          <a:ln/>
        </p:spPr>
        <p:txBody>
          <a:bodyPr wrap="square" lIns="0" tIns="0" rIns="0" bIns="0" rtlCol="0" anchor="ctr"/>
          <a:lstStyle/>
          <a:p>
            <a:pPr marL="0" indent="0" algn="ctr">
              <a:buNone/>
            </a:pPr>
            <a:r>
              <a:rPr lang="en-US" sz="700" b="1" kern="0" spc="200" dirty="0">
                <a:solidFill>
                  <a:srgbClr val="F59E0B"/>
                </a:solidFill>
                <a:latin typeface="Calibri" pitchFamily="34" charset="0"/>
                <a:ea typeface="Calibri" pitchFamily="34" charset="-122"/>
                <a:cs typeface="Calibri" pitchFamily="34" charset="-120"/>
              </a:rPr>
              <a:t>CALITATE COD</a:t>
            </a:r>
            <a:endParaRPr lang="en-US" sz="700" dirty="0"/>
          </a:p>
        </p:txBody>
      </p:sp>
      <p:sp>
        <p:nvSpPr>
          <p:cNvPr id="32" name="Text 30"/>
          <p:cNvSpPr/>
          <p:nvPr/>
        </p:nvSpPr>
        <p:spPr>
          <a:xfrm>
            <a:off x="3310128" y="3255264"/>
            <a:ext cx="2377440" cy="457200"/>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Navigație Type-Safe cu Rute Serializabile</a:t>
            </a:r>
            <a:endParaRPr lang="en-US" sz="1100" dirty="0"/>
          </a:p>
        </p:txBody>
      </p:sp>
      <p:sp>
        <p:nvSpPr>
          <p:cNvPr id="33" name="Text 31"/>
          <p:cNvSpPr/>
          <p:nvPr/>
        </p:nvSpPr>
        <p:spPr>
          <a:xfrm>
            <a:off x="3310128" y="3739896"/>
            <a:ext cx="2377440" cy="80467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Rute @Serializable elimină complet erorile de tip String pentru navigație. Parametri complecși (List&lt;String&gt;, Boolean) trecuți type-safe între ecrane.</a:t>
            </a:r>
            <a:endParaRPr lang="en-US" sz="950" dirty="0"/>
          </a:p>
        </p:txBody>
      </p:sp>
      <p:sp>
        <p:nvSpPr>
          <p:cNvPr id="34" name="Shape 32"/>
          <p:cNvSpPr/>
          <p:nvPr/>
        </p:nvSpPr>
        <p:spPr>
          <a:xfrm>
            <a:off x="6035040" y="2889504"/>
            <a:ext cx="2606040" cy="1719072"/>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35" name="Shape 33"/>
          <p:cNvSpPr/>
          <p:nvPr/>
        </p:nvSpPr>
        <p:spPr>
          <a:xfrm>
            <a:off x="6035040" y="2889504"/>
            <a:ext cx="2606040" cy="54864"/>
          </a:xfrm>
          <a:prstGeom prst="rect">
            <a:avLst/>
          </a:prstGeom>
          <a:solidFill>
            <a:srgbClr val="EF4444"/>
          </a:solidFill>
          <a:ln w="12700">
            <a:solidFill>
              <a:srgbClr val="EF4444"/>
            </a:solidFill>
            <a:prstDash val="solid"/>
          </a:ln>
        </p:spPr>
        <p:txBody>
          <a:bodyPr/>
          <a:lstStyle/>
          <a:p>
            <a:endParaRPr lang="en-US"/>
          </a:p>
        </p:txBody>
      </p:sp>
      <p:sp>
        <p:nvSpPr>
          <p:cNvPr id="36" name="Shape 34"/>
          <p:cNvSpPr/>
          <p:nvPr/>
        </p:nvSpPr>
        <p:spPr>
          <a:xfrm>
            <a:off x="6144768" y="2999232"/>
            <a:ext cx="1371600" cy="201168"/>
          </a:xfrm>
          <a:prstGeom prst="rect">
            <a:avLst/>
          </a:prstGeom>
          <a:solidFill>
            <a:srgbClr val="EF4444">
              <a:alpha val="20000"/>
            </a:srgbClr>
          </a:solidFill>
          <a:ln w="12700">
            <a:solidFill>
              <a:srgbClr val="EF4444">
                <a:alpha val="40000"/>
              </a:srgbClr>
            </a:solidFill>
            <a:prstDash val="solid"/>
          </a:ln>
        </p:spPr>
        <p:txBody>
          <a:bodyPr/>
          <a:lstStyle/>
          <a:p>
            <a:endParaRPr lang="en-US"/>
          </a:p>
        </p:txBody>
      </p:sp>
      <p:sp>
        <p:nvSpPr>
          <p:cNvPr id="37" name="Text 35"/>
          <p:cNvSpPr/>
          <p:nvPr/>
        </p:nvSpPr>
        <p:spPr>
          <a:xfrm>
            <a:off x="6144768" y="2999232"/>
            <a:ext cx="1371600" cy="201168"/>
          </a:xfrm>
          <a:prstGeom prst="rect">
            <a:avLst/>
          </a:prstGeom>
          <a:noFill/>
          <a:ln/>
        </p:spPr>
        <p:txBody>
          <a:bodyPr wrap="square" lIns="0" tIns="0" rIns="0" bIns="0" rtlCol="0" anchor="ctr"/>
          <a:lstStyle/>
          <a:p>
            <a:pPr marL="0" indent="0" algn="ctr">
              <a:buNone/>
            </a:pPr>
            <a:r>
              <a:rPr lang="en-US" sz="700" b="1" kern="0" spc="200" dirty="0">
                <a:solidFill>
                  <a:srgbClr val="EF4444"/>
                </a:solidFill>
                <a:latin typeface="Calibri" pitchFamily="34" charset="0"/>
                <a:ea typeface="Calibri" pitchFamily="34" charset="-122"/>
                <a:cs typeface="Calibri" pitchFamily="34" charset="-120"/>
              </a:rPr>
              <a:t>SCALABILITATE</a:t>
            </a:r>
            <a:endParaRPr lang="en-US" sz="700" dirty="0"/>
          </a:p>
        </p:txBody>
      </p:sp>
      <p:sp>
        <p:nvSpPr>
          <p:cNvPr id="38" name="Text 36"/>
          <p:cNvSpPr/>
          <p:nvPr/>
        </p:nvSpPr>
        <p:spPr>
          <a:xfrm>
            <a:off x="6144768" y="3255264"/>
            <a:ext cx="2377440" cy="457200"/>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Feed Social Privacy-Aware cu RemoteMediator</a:t>
            </a:r>
            <a:endParaRPr lang="en-US" sz="1100" dirty="0"/>
          </a:p>
        </p:txBody>
      </p:sp>
      <p:sp>
        <p:nvSpPr>
          <p:cNvPr id="39" name="Text 37"/>
          <p:cNvSpPr/>
          <p:nvPr/>
        </p:nvSpPr>
        <p:spPr>
          <a:xfrm>
            <a:off x="6144768" y="3739896"/>
            <a:ext cx="2377440" cy="80467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Filtrare privacy aplicată înainte de stocare locală. Paging3 + RemoteMediator asigură performanță la feed-uri mari fără memory pressure.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FF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ANALIZĂ COMPETITIVĂ</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Liftrix față de alternativele existente</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823960" cy="3563112"/>
        </p:xfrm>
        <a:graphic>
          <a:graphicData uri="http://schemas.openxmlformats.org/drawingml/2006/table">
            <a:tbl>
              <a:tblPr/>
              <a:tblGrid>
                <a:gridCol w="2331720">
                  <a:extLst>
                    <a:ext uri="{9D8B030D-6E8A-4147-A177-3AD203B41FA5}">
                      <a16:colId xmlns:a16="http://schemas.microsoft.com/office/drawing/2014/main" val="20000"/>
                    </a:ext>
                  </a:extLst>
                </a:gridCol>
                <a:gridCol w="1298448">
                  <a:extLst>
                    <a:ext uri="{9D8B030D-6E8A-4147-A177-3AD203B41FA5}">
                      <a16:colId xmlns:a16="http://schemas.microsoft.com/office/drawing/2014/main" val="20001"/>
                    </a:ext>
                  </a:extLst>
                </a:gridCol>
                <a:gridCol w="1298448">
                  <a:extLst>
                    <a:ext uri="{9D8B030D-6E8A-4147-A177-3AD203B41FA5}">
                      <a16:colId xmlns:a16="http://schemas.microsoft.com/office/drawing/2014/main" val="20002"/>
                    </a:ext>
                  </a:extLst>
                </a:gridCol>
                <a:gridCol w="1298448">
                  <a:extLst>
                    <a:ext uri="{9D8B030D-6E8A-4147-A177-3AD203B41FA5}">
                      <a16:colId xmlns:a16="http://schemas.microsoft.com/office/drawing/2014/main" val="20003"/>
                    </a:ext>
                  </a:extLst>
                </a:gridCol>
                <a:gridCol w="1298448">
                  <a:extLst>
                    <a:ext uri="{9D8B030D-6E8A-4147-A177-3AD203B41FA5}">
                      <a16:colId xmlns:a16="http://schemas.microsoft.com/office/drawing/2014/main" val="20004"/>
                    </a:ext>
                  </a:extLst>
                </a:gridCol>
                <a:gridCol w="1298448">
                  <a:extLst>
                    <a:ext uri="{9D8B030D-6E8A-4147-A177-3AD203B41FA5}">
                      <a16:colId xmlns:a16="http://schemas.microsoft.com/office/drawing/2014/main" val="20005"/>
                    </a:ext>
                  </a:extLst>
                </a:gridCol>
              </a:tblGrid>
              <a:tr h="379476">
                <a:tc>
                  <a:txBody>
                    <a:bodyPr/>
                    <a:lstStyle/>
                    <a:p>
                      <a:pPr marL="0" indent="0" algn="ctr">
                        <a:buNone/>
                      </a:pPr>
                      <a:r>
                        <a:rPr lang="en-US" sz="1000" b="1" dirty="0">
                          <a:solidFill>
                            <a:srgbClr val="FFFFFF"/>
                          </a:solidFill>
                        </a:rPr>
                        <a:t>Caracteristică</a:t>
                      </a:r>
                      <a:endParaRPr lang="en-US" sz="10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340"/>
                    </a:solidFill>
                  </a:tcPr>
                </a:tc>
                <a:tc>
                  <a:txBody>
                    <a:bodyPr/>
                    <a:lstStyle/>
                    <a:p>
                      <a:pPr marL="0" indent="0" algn="ctr">
                        <a:buNone/>
                      </a:pPr>
                      <a:r>
                        <a:rPr lang="en-US" sz="1000" b="1" dirty="0">
                          <a:solidFill>
                            <a:srgbClr val="FFFFFF"/>
                          </a:solidFill>
                        </a:rPr>
                        <a:t>Liftrix</a:t>
                      </a:r>
                      <a:endParaRPr lang="en-US" sz="10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0C9B7"/>
                    </a:solidFill>
                  </a:tcPr>
                </a:tc>
                <a:tc>
                  <a:txBody>
                    <a:bodyPr/>
                    <a:lstStyle/>
                    <a:p>
                      <a:pPr marL="0" indent="0" algn="ctr">
                        <a:buNone/>
                      </a:pPr>
                      <a:r>
                        <a:rPr lang="en-US" sz="1000" b="1" dirty="0">
                          <a:solidFill>
                            <a:srgbClr val="FFFFFF"/>
                          </a:solidFill>
                        </a:rPr>
                        <a:t>MyFitnessPal</a:t>
                      </a:r>
                      <a:endParaRPr lang="en-US" sz="10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340"/>
                    </a:solidFill>
                  </a:tcPr>
                </a:tc>
                <a:tc>
                  <a:txBody>
                    <a:bodyPr/>
                    <a:lstStyle/>
                    <a:p>
                      <a:pPr marL="0" indent="0" algn="ctr">
                        <a:buNone/>
                      </a:pPr>
                      <a:r>
                        <a:rPr lang="en-US" sz="1000" b="1" dirty="0">
                          <a:solidFill>
                            <a:srgbClr val="FFFFFF"/>
                          </a:solidFill>
                        </a:rPr>
                        <a:t>Strong App</a:t>
                      </a:r>
                      <a:endParaRPr lang="en-US" sz="10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340"/>
                    </a:solidFill>
                  </a:tcPr>
                </a:tc>
                <a:tc>
                  <a:txBody>
                    <a:bodyPr/>
                    <a:lstStyle/>
                    <a:p>
                      <a:pPr marL="0" indent="0" algn="ctr">
                        <a:buNone/>
                      </a:pPr>
                      <a:r>
                        <a:rPr lang="en-US" sz="1000" b="1" dirty="0">
                          <a:solidFill>
                            <a:srgbClr val="FFFFFF"/>
                          </a:solidFill>
                        </a:rPr>
                        <a:t>Strava</a:t>
                      </a:r>
                      <a:endParaRPr lang="en-US" sz="10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340"/>
                    </a:solidFill>
                  </a:tcPr>
                </a:tc>
                <a:tc>
                  <a:txBody>
                    <a:bodyPr/>
                    <a:lstStyle/>
                    <a:p>
                      <a:pPr marL="0" indent="0" algn="ctr">
                        <a:buNone/>
                      </a:pPr>
                      <a:r>
                        <a:rPr lang="en-US" sz="1000" b="1" dirty="0">
                          <a:solidFill>
                            <a:srgbClr val="FFFFFF"/>
                          </a:solidFill>
                        </a:rPr>
                        <a:t>Hevy</a:t>
                      </a:r>
                      <a:endParaRPr lang="en-US" sz="10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340"/>
                    </a:solidFill>
                  </a:tcPr>
                </a:tc>
                <a:extLst>
                  <a:ext uri="{0D108BD9-81ED-4DB2-BD59-A6C34878D82A}">
                    <a16:rowId xmlns:a16="http://schemas.microsoft.com/office/drawing/2014/main" val="10000"/>
                  </a:ext>
                </a:extLst>
              </a:tr>
              <a:tr h="379476">
                <a:tc>
                  <a:txBody>
                    <a:bodyPr/>
                    <a:lstStyle/>
                    <a:p>
                      <a:pPr marL="0" indent="0" algn="ctr">
                        <a:buNone/>
                      </a:pPr>
                      <a:r>
                        <a:rPr lang="en-US" sz="950" dirty="0">
                          <a:solidFill>
                            <a:srgbClr val="1E2340"/>
                          </a:solidFill>
                        </a:rPr>
                        <a:t>Tracking antrenamente</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b="1" dirty="0">
                          <a:solidFill>
                            <a:srgbClr val="0FA897"/>
                          </a:solidFill>
                        </a:rPr>
                        <a:t>✅ Complet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BF9"/>
                    </a:solidFill>
                  </a:tcPr>
                </a:tc>
                <a:tc>
                  <a:txBody>
                    <a:bodyPr/>
                    <a:lstStyle/>
                    <a:p>
                      <a:pPr marL="0" indent="0" algn="ctr">
                        <a:buNone/>
                      </a:pPr>
                      <a:r>
                        <a:rPr lang="en-US" sz="950" dirty="0">
                          <a:solidFill>
                            <a:srgbClr val="D97706"/>
                          </a:solidFill>
                        </a:rPr>
                        <a:t>⚠️ Limitat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16A34A"/>
                          </a:solidFill>
                        </a:rPr>
                        <a:t>✅ Complet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Cardio only</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16A34A"/>
                          </a:solidFill>
                        </a:rPr>
                        <a:t>✅ Complet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extLst>
                  <a:ext uri="{0D108BD9-81ED-4DB2-BD59-A6C34878D82A}">
                    <a16:rowId xmlns:a16="http://schemas.microsoft.com/office/drawing/2014/main" val="10001"/>
                  </a:ext>
                </a:extLst>
              </a:tr>
              <a:tr h="379476">
                <a:tc>
                  <a:txBody>
                    <a:bodyPr/>
                    <a:lstStyle/>
                    <a:p>
                      <a:pPr marL="0" indent="0" algn="ctr">
                        <a:buNone/>
                      </a:pPr>
                      <a:r>
                        <a:rPr lang="en-US" sz="950" dirty="0">
                          <a:solidFill>
                            <a:srgbClr val="1E2340"/>
                          </a:solidFill>
                        </a:rPr>
                        <a:t>Offline-first arhitectură</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FA897"/>
                          </a:solidFill>
                        </a:rPr>
                        <a:t>✅ Da</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0FFFD"/>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6A34A"/>
                          </a:solidFill>
                        </a:rPr>
                        <a:t>✅ Da</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 Parțial</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6A34A"/>
                          </a:solidFill>
                        </a:rPr>
                        <a:t>✅ Da</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476">
                <a:tc>
                  <a:txBody>
                    <a:bodyPr/>
                    <a:lstStyle/>
                    <a:p>
                      <a:pPr marL="0" indent="0" algn="ctr">
                        <a:buNone/>
                      </a:pPr>
                      <a:r>
                        <a:rPr lang="en-US" sz="950" dirty="0">
                          <a:solidFill>
                            <a:srgbClr val="1E2340"/>
                          </a:solidFill>
                        </a:rPr>
                        <a:t>AI Coaching integrat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b="1" dirty="0">
                          <a:solidFill>
                            <a:srgbClr val="0FA897"/>
                          </a:solidFill>
                        </a:rPr>
                        <a:t>Gemini 2.5 Flash Lite</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BF9"/>
                    </a:solidFill>
                  </a:tcPr>
                </a:tc>
                <a:tc>
                  <a:txBody>
                    <a:bodyPr/>
                    <a:lstStyle/>
                    <a:p>
                      <a:pPr marL="0" indent="0" algn="ctr">
                        <a:buNone/>
                      </a:pPr>
                      <a:r>
                        <a:rPr lang="en-US" sz="950" dirty="0">
                          <a:solidFill>
                            <a:srgbClr val="D97706"/>
                          </a:solidFill>
                        </a:rPr>
                        <a:t>⚠️ Basic</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extLst>
                  <a:ext uri="{0D108BD9-81ED-4DB2-BD59-A6C34878D82A}">
                    <a16:rowId xmlns:a16="http://schemas.microsoft.com/office/drawing/2014/main" val="10003"/>
                  </a:ext>
                </a:extLst>
              </a:tr>
              <a:tr h="379476">
                <a:tc>
                  <a:txBody>
                    <a:bodyPr/>
                    <a:lstStyle/>
                    <a:p>
                      <a:pPr marL="0" indent="0" algn="ctr">
                        <a:buNone/>
                      </a:pPr>
                      <a:r>
                        <a:rPr lang="en-US" sz="950" dirty="0">
                          <a:solidFill>
                            <a:srgbClr val="1E2340"/>
                          </a:solidFill>
                        </a:rPr>
                        <a:t>Social + motivație</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FA897"/>
                          </a:solidFill>
                        </a:rPr>
                        <a:t>✅ Complet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0FFFD"/>
                    </a:solidFill>
                  </a:tcPr>
                </a:tc>
                <a:tc>
                  <a:txBody>
                    <a:bodyPr/>
                    <a:lstStyle/>
                    <a:p>
                      <a:pPr marL="0" indent="0" algn="ctr">
                        <a:buNone/>
                      </a:pPr>
                      <a:r>
                        <a:rPr lang="en-US" sz="950" dirty="0">
                          <a:solidFill>
                            <a:srgbClr val="D97706"/>
                          </a:solidFill>
                        </a:rPr>
                        <a:t>⚠️ Limitat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6A34A"/>
                          </a:solidFill>
                        </a:rPr>
                        <a:t>✅ Complet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97706"/>
                          </a:solidFill>
                        </a:rPr>
                        <a:t>⚠️ Limitat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476">
                <a:tc>
                  <a:txBody>
                    <a:bodyPr/>
                    <a:lstStyle/>
                    <a:p>
                      <a:pPr marL="0" indent="0" algn="ctr">
                        <a:buNone/>
                      </a:pPr>
                      <a:r>
                        <a:rPr lang="en-US" sz="950" dirty="0">
                          <a:solidFill>
                            <a:srgbClr val="1E2340"/>
                          </a:solidFill>
                        </a:rPr>
                        <a:t>Progress analytics avansat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b="1" dirty="0">
                          <a:solidFill>
                            <a:srgbClr val="0FA897"/>
                          </a:solidFill>
                        </a:rPr>
                        <a:t>✅ 15 widget-uri</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BF9"/>
                    </a:solidFill>
                  </a:tcPr>
                </a:tc>
                <a:tc>
                  <a:txBody>
                    <a:bodyPr/>
                    <a:lstStyle/>
                    <a:p>
                      <a:pPr marL="0" indent="0" algn="ctr">
                        <a:buNone/>
                      </a:pPr>
                      <a:r>
                        <a:rPr lang="en-US" sz="950" dirty="0">
                          <a:solidFill>
                            <a:srgbClr val="D97706"/>
                          </a:solidFill>
                        </a:rPr>
                        <a:t>⚠️ Basic</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97706"/>
                          </a:solidFill>
                        </a:rPr>
                        <a:t>⚠️ Mediu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97706"/>
                          </a:solidFill>
                        </a:rPr>
                        <a:t>⚠️ Cardio</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97706"/>
                          </a:solidFill>
                        </a:rPr>
                        <a:t>⚠️ Mediu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extLst>
                  <a:ext uri="{0D108BD9-81ED-4DB2-BD59-A6C34878D82A}">
                    <a16:rowId xmlns:a16="http://schemas.microsoft.com/office/drawing/2014/main" val="10005"/>
                  </a:ext>
                </a:extLst>
              </a:tr>
              <a:tr h="379476">
                <a:tc>
                  <a:txBody>
                    <a:bodyPr/>
                    <a:lstStyle/>
                    <a:p>
                      <a:pPr marL="0" indent="0" algn="ctr">
                        <a:buNone/>
                      </a:pPr>
                      <a:r>
                        <a:rPr lang="en-US" sz="950" dirty="0">
                          <a:solidFill>
                            <a:srgbClr val="1E2340"/>
                          </a:solidFill>
                        </a:rPr>
                        <a:t>Cost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FA897"/>
                          </a:solidFill>
                        </a:rPr>
                        <a:t>Versiune gratuită; billing opțional pregătit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0FFFD"/>
                    </a:solidFill>
                  </a:tcPr>
                </a:tc>
                <a:tc>
                  <a:txBody>
                    <a:bodyPr/>
                    <a:lstStyle/>
                    <a:p>
                      <a:pPr marL="0" indent="0" algn="ctr">
                        <a:buNone/>
                      </a:pPr>
                      <a:r>
                        <a:rPr lang="en-US" sz="950" dirty="0">
                          <a:solidFill>
                            <a:srgbClr val="D97706"/>
                          </a:solidFill>
                        </a:rPr>
                        <a:t>⚠️ Freemium</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97706"/>
                          </a:solidFill>
                        </a:rPr>
                        <a:t>⚠️ Freemium</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97706"/>
                          </a:solidFill>
                        </a:rPr>
                        <a:t>⚠️ Freemium</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6A34A"/>
                          </a:solidFill>
                        </a:rPr>
                        <a:t>⚠️ Freemium</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9476">
                <a:tc>
                  <a:txBody>
                    <a:bodyPr/>
                    <a:lstStyle/>
                    <a:p>
                      <a:pPr marL="0" indent="0" algn="ctr">
                        <a:buNone/>
                      </a:pPr>
                      <a:r>
                        <a:rPr lang="en-US" sz="950" dirty="0">
                          <a:solidFill>
                            <a:srgbClr val="1E2340"/>
                          </a:solidFill>
                        </a:rPr>
                        <a:t>Documentare proiect</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b="1" dirty="0">
                          <a:solidFill>
                            <a:srgbClr val="0FA897"/>
                          </a:solidFill>
                        </a:rPr>
                        <a:t>README + docs tehnice</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BF9"/>
                    </a:solidFill>
                  </a:tcPr>
                </a:tc>
                <a:tc>
                  <a:txBody>
                    <a:bodyPr/>
                    <a:lstStyle/>
                    <a:p>
                      <a:pPr marL="0" indent="0" algn="ctr">
                        <a:buNone/>
                      </a:pPr>
                      <a:r>
                        <a:rPr lang="en-US" sz="950" dirty="0">
                          <a:solidFill>
                            <a:srgbClr val="DC2626"/>
                          </a:solidFill>
                        </a:rPr>
                        <a:t>❌ Closed</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Closed</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Closed</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tc>
                  <a:txBody>
                    <a:bodyPr/>
                    <a:lstStyle/>
                    <a:p>
                      <a:pPr marL="0" indent="0" algn="ctr">
                        <a:buNone/>
                      </a:pPr>
                      <a:r>
                        <a:rPr lang="en-US" sz="950" dirty="0">
                          <a:solidFill>
                            <a:srgbClr val="DC2626"/>
                          </a:solidFill>
                        </a:rPr>
                        <a:t>❌ Closed</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FFE"/>
                    </a:solidFill>
                  </a:tcPr>
                </a:tc>
                <a:extLst>
                  <a:ext uri="{0D108BD9-81ED-4DB2-BD59-A6C34878D82A}">
                    <a16:rowId xmlns:a16="http://schemas.microsoft.com/office/drawing/2014/main" val="10007"/>
                  </a:ext>
                </a:extLst>
              </a:tr>
              <a:tr h="379476">
                <a:tc>
                  <a:txBody>
                    <a:bodyPr/>
                    <a:lstStyle/>
                    <a:p>
                      <a:pPr marL="0" indent="0" algn="ctr">
                        <a:buNone/>
                      </a:pPr>
                      <a:r>
                        <a:rPr lang="en-US" sz="950" dirty="0">
                          <a:solidFill>
                            <a:srgbClr val="1E2340"/>
                          </a:solidFill>
                        </a:rPr>
                        <a:t>QR Pairing la sală</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FA897"/>
                          </a:solidFill>
                        </a:rPr>
                        <a:t>✅ Unic</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0FFFD"/>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 Nu</a:t>
                      </a:r>
                      <a:endParaRPr lang="en-US" sz="9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p:nvPr/>
        </p:nvSpPr>
        <p:spPr>
          <a:xfrm>
            <a:off x="365760" y="4864608"/>
            <a:ext cx="841248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 [INFERENȚĂ] Datele pentru aplicațiile concurente sunt bazate pe informații publice și analiza caracteristicilor documentate.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3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METRICI &amp; PERFORMANȚĂ</a:t>
            </a:r>
            <a:endParaRPr lang="en-US" sz="900" dirty="0"/>
          </a:p>
        </p:txBody>
      </p:sp>
      <p:sp>
        <p:nvSpPr>
          <p:cNvPr id="3" name="Text 1"/>
          <p:cNvSpPr/>
          <p:nvPr/>
        </p:nvSpPr>
        <p:spPr>
          <a:xfrm>
            <a:off x="457200" y="41148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Rezultate măsurabile</a:t>
            </a:r>
            <a:endParaRPr lang="en-US" sz="2800" dirty="0"/>
          </a:p>
        </p:txBody>
      </p:sp>
      <p:sp>
        <p:nvSpPr>
          <p:cNvPr id="4" name="Shape 2"/>
          <p:cNvSpPr/>
          <p:nvPr/>
        </p:nvSpPr>
        <p:spPr>
          <a:xfrm>
            <a:off x="365760" y="1097280"/>
            <a:ext cx="1965960" cy="1417320"/>
          </a:xfrm>
          <a:prstGeom prst="rect">
            <a:avLst/>
          </a:prstGeom>
          <a:solidFill>
            <a:srgbClr val="FFFFFF">
              <a:alpha val="8000"/>
            </a:srgbClr>
          </a:solidFill>
          <a:ln w="12700">
            <a:solidFill>
              <a:srgbClr val="20C9B7">
                <a:alpha val="50000"/>
              </a:srgbClr>
            </a:solidFill>
            <a:prstDash val="solid"/>
          </a:ln>
        </p:spPr>
        <p:txBody>
          <a:bodyPr/>
          <a:lstStyle/>
          <a:p>
            <a:endParaRPr lang="en-US"/>
          </a:p>
        </p:txBody>
      </p:sp>
      <p:sp>
        <p:nvSpPr>
          <p:cNvPr id="5" name="Text 3"/>
          <p:cNvSpPr/>
          <p:nvPr/>
        </p:nvSpPr>
        <p:spPr>
          <a:xfrm>
            <a:off x="438912" y="1170432"/>
            <a:ext cx="1810512" cy="640080"/>
          </a:xfrm>
          <a:prstGeom prst="rect">
            <a:avLst/>
          </a:prstGeom>
          <a:noFill/>
          <a:ln/>
        </p:spPr>
        <p:txBody>
          <a:bodyPr wrap="square" lIns="0" tIns="0" rIns="0" bIns="0" rtlCol="0" anchor="ctr"/>
          <a:lstStyle/>
          <a:p>
            <a:pPr marL="0" indent="0" algn="ctr">
              <a:buNone/>
            </a:pPr>
            <a:r>
              <a:rPr lang="en-US" sz="2200" b="1" dirty="0">
                <a:solidFill>
                  <a:srgbClr val="20C9B7"/>
                </a:solidFill>
                <a:latin typeface="Calibri" pitchFamily="34" charset="0"/>
                <a:ea typeface="Calibri" pitchFamily="34" charset="-122"/>
                <a:cs typeface="Calibri" pitchFamily="34" charset="-120"/>
              </a:rPr>
              <a:t>[DE COMPLETAT]</a:t>
            </a:r>
            <a:endParaRPr lang="en-US" sz="2200" dirty="0"/>
          </a:p>
        </p:txBody>
      </p:sp>
      <p:sp>
        <p:nvSpPr>
          <p:cNvPr id="6" name="Text 4"/>
          <p:cNvSpPr/>
          <p:nvPr/>
        </p:nvSpPr>
        <p:spPr>
          <a:xfrm>
            <a:off x="438912" y="1783080"/>
            <a:ext cx="181051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utilizatori</a:t>
            </a:r>
            <a:endParaRPr lang="en-US" sz="1200" dirty="0"/>
          </a:p>
        </p:txBody>
      </p:sp>
      <p:sp>
        <p:nvSpPr>
          <p:cNvPr id="7" name="Text 5"/>
          <p:cNvSpPr/>
          <p:nvPr/>
        </p:nvSpPr>
        <p:spPr>
          <a:xfrm>
            <a:off x="438912" y="2048256"/>
            <a:ext cx="1810512" cy="228600"/>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activi în testing</a:t>
            </a:r>
            <a:endParaRPr lang="en-US" sz="900" dirty="0"/>
          </a:p>
        </p:txBody>
      </p:sp>
      <p:sp>
        <p:nvSpPr>
          <p:cNvPr id="8" name="Shape 6"/>
          <p:cNvSpPr/>
          <p:nvPr/>
        </p:nvSpPr>
        <p:spPr>
          <a:xfrm>
            <a:off x="2542032" y="1097280"/>
            <a:ext cx="1965960" cy="1417320"/>
          </a:xfrm>
          <a:prstGeom prst="rect">
            <a:avLst/>
          </a:prstGeom>
          <a:solidFill>
            <a:srgbClr val="FFFFFF">
              <a:alpha val="8000"/>
            </a:srgbClr>
          </a:solidFill>
          <a:ln w="12700">
            <a:solidFill>
              <a:srgbClr val="4F8EF7">
                <a:alpha val="50000"/>
              </a:srgbClr>
            </a:solidFill>
            <a:prstDash val="solid"/>
          </a:ln>
        </p:spPr>
        <p:txBody>
          <a:bodyPr/>
          <a:lstStyle/>
          <a:p>
            <a:endParaRPr lang="en-US"/>
          </a:p>
        </p:txBody>
      </p:sp>
      <p:sp>
        <p:nvSpPr>
          <p:cNvPr id="9" name="Text 7"/>
          <p:cNvSpPr/>
          <p:nvPr/>
        </p:nvSpPr>
        <p:spPr>
          <a:xfrm>
            <a:off x="2615184" y="1170432"/>
            <a:ext cx="1810512" cy="640080"/>
          </a:xfrm>
          <a:prstGeom prst="rect">
            <a:avLst/>
          </a:prstGeom>
          <a:noFill/>
          <a:ln/>
        </p:spPr>
        <p:txBody>
          <a:bodyPr wrap="square" lIns="0" tIns="0" rIns="0" bIns="0" rtlCol="0" anchor="ctr"/>
          <a:lstStyle/>
          <a:p>
            <a:pPr marL="0" indent="0" algn="ctr">
              <a:buNone/>
            </a:pPr>
            <a:r>
              <a:rPr lang="en-US" sz="2200" b="1" dirty="0">
                <a:solidFill>
                  <a:srgbClr val="4F8EF7"/>
                </a:solidFill>
                <a:latin typeface="Calibri" pitchFamily="34" charset="0"/>
                <a:ea typeface="Calibri" pitchFamily="34" charset="-122"/>
                <a:cs typeface="Calibri" pitchFamily="34" charset="-120"/>
              </a:rPr>
              <a:t>[DE COMPLETAT]</a:t>
            </a:r>
            <a:endParaRPr lang="en-US" sz="2200" dirty="0"/>
          </a:p>
        </p:txBody>
      </p:sp>
      <p:sp>
        <p:nvSpPr>
          <p:cNvPr id="10" name="Text 8"/>
          <p:cNvSpPr/>
          <p:nvPr/>
        </p:nvSpPr>
        <p:spPr>
          <a:xfrm>
            <a:off x="2615184" y="1783080"/>
            <a:ext cx="181051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retenție</a:t>
            </a:r>
            <a:endParaRPr lang="en-US" sz="1200" dirty="0"/>
          </a:p>
        </p:txBody>
      </p:sp>
      <p:sp>
        <p:nvSpPr>
          <p:cNvPr id="11" name="Text 9"/>
          <p:cNvSpPr/>
          <p:nvPr/>
        </p:nvSpPr>
        <p:spPr>
          <a:xfrm>
            <a:off x="2615184" y="2048256"/>
            <a:ext cx="1810512" cy="228600"/>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la 30 zile</a:t>
            </a:r>
            <a:endParaRPr lang="en-US" sz="900" dirty="0"/>
          </a:p>
        </p:txBody>
      </p:sp>
      <p:sp>
        <p:nvSpPr>
          <p:cNvPr id="12" name="Shape 10"/>
          <p:cNvSpPr/>
          <p:nvPr/>
        </p:nvSpPr>
        <p:spPr>
          <a:xfrm>
            <a:off x="4718304" y="1097280"/>
            <a:ext cx="1965960" cy="1417320"/>
          </a:xfrm>
          <a:prstGeom prst="rect">
            <a:avLst/>
          </a:prstGeom>
          <a:solidFill>
            <a:srgbClr val="FFFFFF">
              <a:alpha val="8000"/>
            </a:srgbClr>
          </a:solidFill>
          <a:ln w="12700">
            <a:solidFill>
              <a:srgbClr val="10B981">
                <a:alpha val="50000"/>
              </a:srgbClr>
            </a:solidFill>
            <a:prstDash val="solid"/>
          </a:ln>
        </p:spPr>
        <p:txBody>
          <a:bodyPr/>
          <a:lstStyle/>
          <a:p>
            <a:endParaRPr lang="en-US"/>
          </a:p>
        </p:txBody>
      </p:sp>
      <p:sp>
        <p:nvSpPr>
          <p:cNvPr id="13" name="Text 11"/>
          <p:cNvSpPr/>
          <p:nvPr/>
        </p:nvSpPr>
        <p:spPr>
          <a:xfrm>
            <a:off x="4791456" y="1170432"/>
            <a:ext cx="1810512" cy="640080"/>
          </a:xfrm>
          <a:prstGeom prst="rect">
            <a:avLst/>
          </a:prstGeom>
          <a:noFill/>
          <a:ln/>
        </p:spPr>
        <p:txBody>
          <a:bodyPr wrap="square" lIns="0" tIns="0" rIns="0" bIns="0" rtlCol="0" anchor="ctr"/>
          <a:lstStyle/>
          <a:p>
            <a:pPr marL="0" indent="0" algn="ctr">
              <a:buNone/>
            </a:pPr>
            <a:r>
              <a:rPr lang="en-US" sz="2200" b="1" dirty="0">
                <a:solidFill>
                  <a:srgbClr val="10B981"/>
                </a:solidFill>
                <a:latin typeface="Calibri" pitchFamily="34" charset="0"/>
                <a:ea typeface="Calibri" pitchFamily="34" charset="-122"/>
                <a:cs typeface="Calibri" pitchFamily="34" charset="-120"/>
              </a:rPr>
              <a:t>țintă &lt;100ms</a:t>
            </a:r>
            <a:endParaRPr lang="en-US" sz="2200" dirty="0"/>
          </a:p>
        </p:txBody>
      </p:sp>
      <p:sp>
        <p:nvSpPr>
          <p:cNvPr id="14" name="Text 12"/>
          <p:cNvSpPr/>
          <p:nvPr/>
        </p:nvSpPr>
        <p:spPr>
          <a:xfrm>
            <a:off x="4791456" y="1783080"/>
            <a:ext cx="181051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query DB</a:t>
            </a:r>
            <a:endParaRPr lang="en-US" sz="1200" dirty="0"/>
          </a:p>
        </p:txBody>
      </p:sp>
      <p:sp>
        <p:nvSpPr>
          <p:cNvPr id="15" name="Text 13"/>
          <p:cNvSpPr/>
          <p:nvPr/>
        </p:nvSpPr>
        <p:spPr>
          <a:xfrm>
            <a:off x="4791456" y="2048256"/>
            <a:ext cx="1810512" cy="228600"/>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țintă monitorizată</a:t>
            </a:r>
            <a:endParaRPr lang="en-US" sz="900" dirty="0"/>
          </a:p>
        </p:txBody>
      </p:sp>
      <p:sp>
        <p:nvSpPr>
          <p:cNvPr id="16" name="Shape 14"/>
          <p:cNvSpPr/>
          <p:nvPr/>
        </p:nvSpPr>
        <p:spPr>
          <a:xfrm>
            <a:off x="6894576" y="1097280"/>
            <a:ext cx="1965960" cy="1417320"/>
          </a:xfrm>
          <a:prstGeom prst="rect">
            <a:avLst/>
          </a:prstGeom>
          <a:solidFill>
            <a:srgbClr val="FFFFFF">
              <a:alpha val="8000"/>
            </a:srgbClr>
          </a:solidFill>
          <a:ln w="12700">
            <a:solidFill>
              <a:srgbClr val="8B5CF6">
                <a:alpha val="50000"/>
              </a:srgbClr>
            </a:solidFill>
            <a:prstDash val="solid"/>
          </a:ln>
        </p:spPr>
        <p:txBody>
          <a:bodyPr/>
          <a:lstStyle/>
          <a:p>
            <a:endParaRPr lang="en-US"/>
          </a:p>
        </p:txBody>
      </p:sp>
      <p:sp>
        <p:nvSpPr>
          <p:cNvPr id="17" name="Text 15"/>
          <p:cNvSpPr/>
          <p:nvPr/>
        </p:nvSpPr>
        <p:spPr>
          <a:xfrm>
            <a:off x="6967728" y="1170432"/>
            <a:ext cx="1810512" cy="640080"/>
          </a:xfrm>
          <a:prstGeom prst="rect">
            <a:avLst/>
          </a:prstGeom>
          <a:noFill/>
          <a:ln/>
        </p:spPr>
        <p:txBody>
          <a:bodyPr wrap="square" lIns="0" tIns="0" rIns="0" bIns="0" rtlCol="0" anchor="ctr"/>
          <a:lstStyle/>
          <a:p>
            <a:pPr marL="0" indent="0" algn="ctr">
              <a:buNone/>
            </a:pPr>
            <a:r>
              <a:rPr lang="en-US" sz="2200" b="1" dirty="0">
                <a:solidFill>
                  <a:srgbClr val="8B5CF6"/>
                </a:solidFill>
                <a:latin typeface="Calibri" pitchFamily="34" charset="0"/>
                <a:ea typeface="Calibri" pitchFamily="34" charset="-122"/>
                <a:cs typeface="Calibri" pitchFamily="34" charset="-120"/>
              </a:rPr>
              <a:t>țintă 60fps</a:t>
            </a:r>
            <a:endParaRPr lang="en-US" sz="2200" dirty="0"/>
          </a:p>
        </p:txBody>
      </p:sp>
      <p:sp>
        <p:nvSpPr>
          <p:cNvPr id="18" name="Text 16"/>
          <p:cNvSpPr/>
          <p:nvPr/>
        </p:nvSpPr>
        <p:spPr>
          <a:xfrm>
            <a:off x="6967728" y="1783080"/>
            <a:ext cx="181051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UI rendering</a:t>
            </a:r>
            <a:endParaRPr lang="en-US" sz="1200" dirty="0"/>
          </a:p>
        </p:txBody>
      </p:sp>
      <p:sp>
        <p:nvSpPr>
          <p:cNvPr id="19" name="Text 17"/>
          <p:cNvSpPr/>
          <p:nvPr/>
        </p:nvSpPr>
        <p:spPr>
          <a:xfrm>
            <a:off x="6967728" y="2048256"/>
            <a:ext cx="1810512" cy="228600"/>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monitorizat</a:t>
            </a:r>
            <a:endParaRPr lang="en-US" sz="900" dirty="0"/>
          </a:p>
        </p:txBody>
      </p:sp>
      <p:sp>
        <p:nvSpPr>
          <p:cNvPr id="20" name="Text 18"/>
          <p:cNvSpPr/>
          <p:nvPr/>
        </p:nvSpPr>
        <p:spPr>
          <a:xfrm>
            <a:off x="365760" y="2697480"/>
            <a:ext cx="4114800" cy="320040"/>
          </a:xfrm>
          <a:prstGeom prst="rect">
            <a:avLst/>
          </a:prstGeom>
          <a:noFill/>
          <a:ln/>
        </p:spPr>
        <p:txBody>
          <a:bodyPr wrap="square" lIns="0" tIns="0" rIns="0" bIns="0" rtlCol="0" anchor="ctr"/>
          <a:lstStyle/>
          <a:p>
            <a:pPr marL="0" indent="0">
              <a:buNone/>
            </a:pPr>
            <a:r>
              <a:rPr lang="en-US" sz="1200" b="1" dirty="0">
                <a:solidFill>
                  <a:srgbClr val="20C9B7"/>
                </a:solidFill>
                <a:latin typeface="Calibri" pitchFamily="34" charset="0"/>
                <a:ea typeface="Calibri" pitchFamily="34" charset="-122"/>
                <a:cs typeface="Calibri" pitchFamily="34" charset="-120"/>
              </a:rPr>
              <a:t>Performanță Tehnică (ținte implementate/monitorizate)</a:t>
            </a:r>
            <a:endParaRPr lang="en-US" sz="1200" dirty="0"/>
          </a:p>
        </p:txBody>
      </p:sp>
      <p:sp>
        <p:nvSpPr>
          <p:cNvPr id="21" name="Text 19"/>
          <p:cNvSpPr/>
          <p:nvPr/>
        </p:nvSpPr>
        <p:spPr>
          <a:xfrm>
            <a:off x="365760" y="309067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UI Rendering</a:t>
            </a:r>
            <a:endParaRPr lang="en-US" sz="1000" dirty="0"/>
          </a:p>
        </p:txBody>
      </p:sp>
      <p:sp>
        <p:nvSpPr>
          <p:cNvPr id="22" name="Text 20"/>
          <p:cNvSpPr/>
          <p:nvPr/>
        </p:nvSpPr>
        <p:spPr>
          <a:xfrm>
            <a:off x="2651760" y="3090672"/>
            <a:ext cx="1371600" cy="274320"/>
          </a:xfrm>
          <a:prstGeom prst="rect">
            <a:avLst/>
          </a:prstGeom>
          <a:noFill/>
          <a:ln/>
        </p:spPr>
        <p:txBody>
          <a:bodyPr wrap="square" lIns="0" tIns="0" rIns="0" bIns="0" rtlCol="0" anchor="ctr"/>
          <a:lstStyle/>
          <a:p>
            <a:pPr marL="0" indent="0" algn="ctr">
              <a:buNone/>
            </a:pPr>
            <a:r>
              <a:rPr lang="en-US" sz="1000" b="1" dirty="0">
                <a:solidFill>
                  <a:srgbClr val="20C9B7"/>
                </a:solidFill>
                <a:latin typeface="Calibri" pitchFamily="34" charset="0"/>
                <a:ea typeface="Calibri" pitchFamily="34" charset="-122"/>
                <a:cs typeface="Calibri" pitchFamily="34" charset="-120"/>
              </a:rPr>
              <a:t>țintă 60fps</a:t>
            </a:r>
            <a:endParaRPr lang="en-US" sz="1000" dirty="0"/>
          </a:p>
        </p:txBody>
      </p:sp>
      <p:sp>
        <p:nvSpPr>
          <p:cNvPr id="23" name="Text 21"/>
          <p:cNvSpPr/>
          <p:nvPr/>
        </p:nvSpPr>
        <p:spPr>
          <a:xfrm>
            <a:off x="4023360" y="3090672"/>
            <a:ext cx="1645920" cy="274320"/>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Țintă monitorizată</a:t>
            </a:r>
            <a:endParaRPr lang="en-US" sz="1000" dirty="0"/>
          </a:p>
        </p:txBody>
      </p:sp>
      <p:sp>
        <p:nvSpPr>
          <p:cNvPr id="24" name="Text 22"/>
          <p:cNvSpPr/>
          <p:nvPr/>
        </p:nvSpPr>
        <p:spPr>
          <a:xfrm>
            <a:off x="365760" y="341071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Database Queries</a:t>
            </a:r>
            <a:endParaRPr lang="en-US" sz="1000" dirty="0"/>
          </a:p>
        </p:txBody>
      </p:sp>
      <p:sp>
        <p:nvSpPr>
          <p:cNvPr id="25" name="Text 23"/>
          <p:cNvSpPr/>
          <p:nvPr/>
        </p:nvSpPr>
        <p:spPr>
          <a:xfrm>
            <a:off x="2651760" y="3410712"/>
            <a:ext cx="1371600" cy="274320"/>
          </a:xfrm>
          <a:prstGeom prst="rect">
            <a:avLst/>
          </a:prstGeom>
          <a:noFill/>
          <a:ln/>
        </p:spPr>
        <p:txBody>
          <a:bodyPr wrap="square" lIns="0" tIns="0" rIns="0" bIns="0" rtlCol="0" anchor="ctr"/>
          <a:lstStyle/>
          <a:p>
            <a:pPr marL="0" indent="0" algn="ctr">
              <a:buNone/>
            </a:pPr>
            <a:r>
              <a:rPr lang="en-US" sz="1000" b="1" dirty="0">
                <a:solidFill>
                  <a:srgbClr val="20C9B7"/>
                </a:solidFill>
                <a:latin typeface="Calibri" pitchFamily="34" charset="0"/>
                <a:ea typeface="Calibri" pitchFamily="34" charset="-122"/>
                <a:cs typeface="Calibri" pitchFamily="34" charset="-120"/>
              </a:rPr>
              <a:t>țintă &lt;100ms</a:t>
            </a:r>
            <a:endParaRPr lang="en-US" sz="1000" dirty="0"/>
          </a:p>
        </p:txBody>
      </p:sp>
      <p:sp>
        <p:nvSpPr>
          <p:cNvPr id="26" name="Text 24"/>
          <p:cNvSpPr/>
          <p:nvPr/>
        </p:nvSpPr>
        <p:spPr>
          <a:xfrm>
            <a:off x="4023360" y="3410712"/>
            <a:ext cx="1645920" cy="274320"/>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Țintă optimizare</a:t>
            </a:r>
            <a:endParaRPr lang="en-US" sz="1000" dirty="0"/>
          </a:p>
        </p:txBody>
      </p:sp>
      <p:sp>
        <p:nvSpPr>
          <p:cNvPr id="27" name="Text 25"/>
          <p:cNvSpPr/>
          <p:nvPr/>
        </p:nvSpPr>
        <p:spPr>
          <a:xfrm>
            <a:off x="365760" y="373075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Sync Operations</a:t>
            </a:r>
            <a:endParaRPr lang="en-US" sz="1000" dirty="0"/>
          </a:p>
        </p:txBody>
      </p:sp>
      <p:sp>
        <p:nvSpPr>
          <p:cNvPr id="28" name="Text 26"/>
          <p:cNvSpPr/>
          <p:nvPr/>
        </p:nvSpPr>
        <p:spPr>
          <a:xfrm>
            <a:off x="2651760" y="3730752"/>
            <a:ext cx="1371600" cy="274320"/>
          </a:xfrm>
          <a:prstGeom prst="rect">
            <a:avLst/>
          </a:prstGeom>
          <a:noFill/>
          <a:ln/>
        </p:spPr>
        <p:txBody>
          <a:bodyPr wrap="square" lIns="0" tIns="0" rIns="0" bIns="0" rtlCol="0" anchor="ctr"/>
          <a:lstStyle/>
          <a:p>
            <a:pPr marL="0" indent="0" algn="ctr">
              <a:buNone/>
            </a:pPr>
            <a:r>
              <a:rPr lang="en-US" sz="1000" b="1" dirty="0">
                <a:solidFill>
                  <a:srgbClr val="20C9B7"/>
                </a:solidFill>
                <a:latin typeface="Calibri" pitchFamily="34" charset="0"/>
                <a:ea typeface="Calibri" pitchFamily="34" charset="-122"/>
                <a:cs typeface="Calibri" pitchFamily="34" charset="-120"/>
              </a:rPr>
              <a:t>țintă &lt;5s</a:t>
            </a:r>
            <a:endParaRPr lang="en-US" sz="1000" dirty="0"/>
          </a:p>
        </p:txBody>
      </p:sp>
      <p:sp>
        <p:nvSpPr>
          <p:cNvPr id="29" name="Text 27"/>
          <p:cNvSpPr/>
          <p:nvPr/>
        </p:nvSpPr>
        <p:spPr>
          <a:xfrm>
            <a:off x="4023360" y="3730752"/>
            <a:ext cx="1645920" cy="274320"/>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Țintă eficiență</a:t>
            </a:r>
            <a:endParaRPr lang="en-US" sz="1000" dirty="0"/>
          </a:p>
        </p:txBody>
      </p:sp>
      <p:sp>
        <p:nvSpPr>
          <p:cNvPr id="30" name="Text 28"/>
          <p:cNvSpPr/>
          <p:nvPr/>
        </p:nvSpPr>
        <p:spPr>
          <a:xfrm>
            <a:off x="365760" y="405079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Component Response</a:t>
            </a:r>
            <a:endParaRPr lang="en-US" sz="1000" dirty="0"/>
          </a:p>
        </p:txBody>
      </p:sp>
      <p:sp>
        <p:nvSpPr>
          <p:cNvPr id="31" name="Text 29"/>
          <p:cNvSpPr/>
          <p:nvPr/>
        </p:nvSpPr>
        <p:spPr>
          <a:xfrm>
            <a:off x="2651760" y="4050792"/>
            <a:ext cx="1371600" cy="274320"/>
          </a:xfrm>
          <a:prstGeom prst="rect">
            <a:avLst/>
          </a:prstGeom>
          <a:noFill/>
          <a:ln/>
        </p:spPr>
        <p:txBody>
          <a:bodyPr wrap="square" lIns="0" tIns="0" rIns="0" bIns="0" rtlCol="0" anchor="ctr"/>
          <a:lstStyle/>
          <a:p>
            <a:pPr marL="0" indent="0" algn="ctr">
              <a:buNone/>
            </a:pPr>
            <a:r>
              <a:rPr lang="en-US" sz="1000" b="1" dirty="0">
                <a:solidFill>
                  <a:srgbClr val="20C9B7"/>
                </a:solidFill>
                <a:latin typeface="Calibri" pitchFamily="34" charset="0"/>
                <a:ea typeface="Calibri" pitchFamily="34" charset="-122"/>
                <a:cs typeface="Calibri" pitchFamily="34" charset="-120"/>
              </a:rPr>
              <a:t>țintă 150ms</a:t>
            </a:r>
            <a:endParaRPr lang="en-US" sz="1000" dirty="0"/>
          </a:p>
        </p:txBody>
      </p:sp>
      <p:sp>
        <p:nvSpPr>
          <p:cNvPr id="32" name="Text 30"/>
          <p:cNvSpPr/>
          <p:nvPr/>
        </p:nvSpPr>
        <p:spPr>
          <a:xfrm>
            <a:off x="4023360" y="4050792"/>
            <a:ext cx="1645920" cy="274320"/>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Țintă responsiveness</a:t>
            </a:r>
            <a:endParaRPr lang="en-US" sz="1000" dirty="0"/>
          </a:p>
        </p:txBody>
      </p:sp>
      <p:sp>
        <p:nvSpPr>
          <p:cNvPr id="33" name="Text 31"/>
          <p:cNvSpPr/>
          <p:nvPr/>
        </p:nvSpPr>
        <p:spPr>
          <a:xfrm>
            <a:off x="365760" y="437083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Memory Usage</a:t>
            </a:r>
            <a:endParaRPr lang="en-US" sz="1000" dirty="0"/>
          </a:p>
        </p:txBody>
      </p:sp>
      <p:sp>
        <p:nvSpPr>
          <p:cNvPr id="34" name="Text 32"/>
          <p:cNvSpPr/>
          <p:nvPr/>
        </p:nvSpPr>
        <p:spPr>
          <a:xfrm>
            <a:off x="2651760" y="4370832"/>
            <a:ext cx="1371600" cy="274320"/>
          </a:xfrm>
          <a:prstGeom prst="rect">
            <a:avLst/>
          </a:prstGeom>
          <a:noFill/>
          <a:ln/>
        </p:spPr>
        <p:txBody>
          <a:bodyPr wrap="square" lIns="0" tIns="0" rIns="0" bIns="0" rtlCol="0" anchor="ctr"/>
          <a:lstStyle/>
          <a:p>
            <a:pPr marL="0" indent="0" algn="ctr">
              <a:buNone/>
            </a:pPr>
            <a:r>
              <a:rPr lang="en-US" sz="1000" b="1" dirty="0">
                <a:solidFill>
                  <a:srgbClr val="20C9B7"/>
                </a:solidFill>
                <a:latin typeface="Calibri" pitchFamily="34" charset="0"/>
                <a:ea typeface="Calibri" pitchFamily="34" charset="-122"/>
                <a:cs typeface="Calibri" pitchFamily="34" charset="-120"/>
              </a:rPr>
              <a:t>Adaptive</a:t>
            </a:r>
            <a:endParaRPr lang="en-US" sz="1000" dirty="0"/>
          </a:p>
        </p:txBody>
      </p:sp>
      <p:sp>
        <p:nvSpPr>
          <p:cNvPr id="35" name="Text 33"/>
          <p:cNvSpPr/>
          <p:nvPr/>
        </p:nvSpPr>
        <p:spPr>
          <a:xfrm>
            <a:off x="4023360" y="4370832"/>
            <a:ext cx="1645920" cy="274320"/>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Implementat adaptive</a:t>
            </a:r>
            <a:endParaRPr lang="en-US" sz="1000" dirty="0"/>
          </a:p>
        </p:txBody>
      </p:sp>
      <p:sp>
        <p:nvSpPr>
          <p:cNvPr id="36" name="Text 34"/>
          <p:cNvSpPr/>
          <p:nvPr/>
        </p:nvSpPr>
        <p:spPr>
          <a:xfrm>
            <a:off x="365760" y="469087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Accessibility</a:t>
            </a:r>
            <a:endParaRPr lang="en-US" sz="1000" dirty="0"/>
          </a:p>
        </p:txBody>
      </p:sp>
      <p:sp>
        <p:nvSpPr>
          <p:cNvPr id="37" name="Text 35"/>
          <p:cNvSpPr/>
          <p:nvPr/>
        </p:nvSpPr>
        <p:spPr>
          <a:xfrm>
            <a:off x="2651760" y="4690872"/>
            <a:ext cx="1371600" cy="274320"/>
          </a:xfrm>
          <a:prstGeom prst="rect">
            <a:avLst/>
          </a:prstGeom>
          <a:noFill/>
          <a:ln/>
        </p:spPr>
        <p:txBody>
          <a:bodyPr wrap="square" lIns="0" tIns="0" rIns="0" bIns="0" rtlCol="0" anchor="ctr"/>
          <a:lstStyle/>
          <a:p>
            <a:pPr marL="0" indent="0" algn="ctr">
              <a:buNone/>
            </a:pPr>
            <a:r>
              <a:rPr lang="en-US" sz="1000" b="1" dirty="0">
                <a:solidFill>
                  <a:srgbClr val="20C9B7"/>
                </a:solidFill>
                <a:latin typeface="Calibri" pitchFamily="34" charset="0"/>
                <a:ea typeface="Calibri" pitchFamily="34" charset="-122"/>
                <a:cs typeface="Calibri" pitchFamily="34" charset="-120"/>
              </a:rPr>
              <a:t>WCAG 2.1 AA</a:t>
            </a:r>
            <a:endParaRPr lang="en-US" sz="1000" dirty="0"/>
          </a:p>
        </p:txBody>
      </p:sp>
      <p:sp>
        <p:nvSpPr>
          <p:cNvPr id="38" name="Text 36"/>
          <p:cNvSpPr/>
          <p:nvPr/>
        </p:nvSpPr>
        <p:spPr>
          <a:xfrm>
            <a:off x="4023360" y="4690872"/>
            <a:ext cx="1645920" cy="274320"/>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Audit final necesar</a:t>
            </a:r>
            <a:endParaRPr lang="en-US" sz="1000" dirty="0"/>
          </a:p>
        </p:txBody>
      </p:sp>
      <p:sp>
        <p:nvSpPr>
          <p:cNvPr id="39" name="Text 37"/>
          <p:cNvSpPr/>
          <p:nvPr/>
        </p:nvSpPr>
        <p:spPr>
          <a:xfrm>
            <a:off x="5760720" y="2697480"/>
            <a:ext cx="3017520" cy="32004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Metrici Utilizare [DE COMPLETAT CU DATE REALE]</a:t>
            </a:r>
            <a:endParaRPr lang="en-US" sz="1200" dirty="0"/>
          </a:p>
        </p:txBody>
      </p:sp>
      <p:sp>
        <p:nvSpPr>
          <p:cNvPr id="40" name="Text 38"/>
          <p:cNvSpPr/>
          <p:nvPr/>
        </p:nvSpPr>
        <p:spPr>
          <a:xfrm>
            <a:off x="5760720" y="3090672"/>
            <a:ext cx="301752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Sessions/săptămână/user: [DE COMPLETAT]</a:t>
            </a:r>
            <a:endParaRPr lang="en-US" sz="1000" dirty="0"/>
          </a:p>
        </p:txBody>
      </p:sp>
      <p:sp>
        <p:nvSpPr>
          <p:cNvPr id="41" name="Text 39"/>
          <p:cNvSpPr/>
          <p:nvPr/>
        </p:nvSpPr>
        <p:spPr>
          <a:xfrm>
            <a:off x="5760720" y="3410712"/>
            <a:ext cx="301752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Workouts create total: [DE COMPLETAT]</a:t>
            </a:r>
            <a:endParaRPr lang="en-US" sz="1000" dirty="0"/>
          </a:p>
        </p:txBody>
      </p:sp>
      <p:sp>
        <p:nvSpPr>
          <p:cNvPr id="42" name="Text 40"/>
          <p:cNvSpPr/>
          <p:nvPr/>
        </p:nvSpPr>
        <p:spPr>
          <a:xfrm>
            <a:off x="5760720" y="3730752"/>
            <a:ext cx="301752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Timp mediu sesiune: [DE COMPLETAT]</a:t>
            </a:r>
            <a:endParaRPr lang="en-US" sz="1000" dirty="0"/>
          </a:p>
        </p:txBody>
      </p:sp>
      <p:sp>
        <p:nvSpPr>
          <p:cNvPr id="43" name="Text 41"/>
          <p:cNvSpPr/>
          <p:nvPr/>
        </p:nvSpPr>
        <p:spPr>
          <a:xfrm>
            <a:off x="5760720" y="4050792"/>
            <a:ext cx="301752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Posts sociale publicate: [DE COMPLETAT]</a:t>
            </a:r>
            <a:endParaRPr lang="en-US" sz="1000" dirty="0"/>
          </a:p>
        </p:txBody>
      </p:sp>
      <p:sp>
        <p:nvSpPr>
          <p:cNvPr id="44" name="Text 42"/>
          <p:cNvSpPr/>
          <p:nvPr/>
        </p:nvSpPr>
        <p:spPr>
          <a:xfrm>
            <a:off x="5760720" y="4370832"/>
            <a:ext cx="301752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Mesaje AI Coach trimise: [DE COMPLETAT]</a:t>
            </a:r>
            <a:endParaRPr lang="en-US" sz="1000" dirty="0"/>
          </a:p>
        </p:txBody>
      </p:sp>
      <p:sp>
        <p:nvSpPr>
          <p:cNvPr id="45" name="Text 43"/>
          <p:cNvSpPr/>
          <p:nvPr/>
        </p:nvSpPr>
        <p:spPr>
          <a:xfrm>
            <a:off x="5760720" y="4690872"/>
            <a:ext cx="301752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t>
            </a:r>
            <a:r>
              <a:rPr lang="en-US" sz="1000" dirty="0">
                <a:solidFill>
                  <a:srgbClr val="C8D6E5"/>
                </a:solidFill>
                <a:latin typeface="Calibri" pitchFamily="34" charset="0"/>
                <a:ea typeface="Calibri" pitchFamily="34" charset="-122"/>
                <a:cs typeface="Calibri" pitchFamily="34" charset="-120"/>
              </a:rPr>
              <a:t>Rating mediu utilizatori: [DE COMPLETAT]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FEEDBACK &amp; TESTIMONIALE</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Ce spun utilizatorii despre Liftrix?</a:t>
            </a:r>
            <a:endParaRPr lang="en-US" sz="2400" dirty="0"/>
          </a:p>
        </p:txBody>
      </p:sp>
      <p:sp>
        <p:nvSpPr>
          <p:cNvPr id="4" name="Shape 2"/>
          <p:cNvSpPr/>
          <p:nvPr/>
        </p:nvSpPr>
        <p:spPr>
          <a:xfrm>
            <a:off x="365760" y="987552"/>
            <a:ext cx="2606040" cy="338328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987552"/>
            <a:ext cx="2606040" cy="64008"/>
          </a:xfrm>
          <a:prstGeom prst="rect">
            <a:avLst/>
          </a:prstGeom>
          <a:solidFill>
            <a:srgbClr val="20C9B7"/>
          </a:solidFill>
          <a:ln w="12700">
            <a:solidFill>
              <a:srgbClr val="20C9B7"/>
            </a:solidFill>
            <a:prstDash val="solid"/>
          </a:ln>
        </p:spPr>
        <p:txBody>
          <a:bodyPr/>
          <a:lstStyle/>
          <a:p>
            <a:endParaRPr lang="en-US"/>
          </a:p>
        </p:txBody>
      </p:sp>
      <p:sp>
        <p:nvSpPr>
          <p:cNvPr id="6" name="Text 4"/>
          <p:cNvSpPr/>
          <p:nvPr/>
        </p:nvSpPr>
        <p:spPr>
          <a:xfrm>
            <a:off x="475488" y="1115568"/>
            <a:ext cx="2377440" cy="256032"/>
          </a:xfrm>
          <a:prstGeom prst="rect">
            <a:avLst/>
          </a:prstGeom>
          <a:noFill/>
          <a:ln/>
        </p:spPr>
        <p:txBody>
          <a:bodyPr wrap="square" lIns="0" tIns="0" rIns="0" bIns="0" rtlCol="0" anchor="ctr"/>
          <a:lstStyle/>
          <a:p>
            <a:pPr marL="0" indent="0">
              <a:buNone/>
            </a:pPr>
            <a:r>
              <a:rPr lang="en-US" sz="1400" dirty="0">
                <a:solidFill>
                  <a:srgbClr val="F59E0B"/>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475488" y="1371600"/>
            <a:ext cx="365760" cy="457200"/>
          </a:xfrm>
          <a:prstGeom prst="rect">
            <a:avLst/>
          </a:prstGeom>
          <a:noFill/>
          <a:ln/>
        </p:spPr>
        <p:txBody>
          <a:bodyPr wrap="square" lIns="0" tIns="0" rIns="0" bIns="0" rtlCol="0" anchor="ctr"/>
          <a:lstStyle/>
          <a:p>
            <a:pPr marL="0" indent="0">
              <a:buNone/>
            </a:pPr>
            <a:r>
              <a:rPr lang="en-US" sz="3600" b="1" dirty="0">
                <a:solidFill>
                  <a:srgbClr val="20C9B7"/>
                </a:solidFill>
                <a:latin typeface="Georgia" pitchFamily="34" charset="0"/>
                <a:ea typeface="Georgia" pitchFamily="34" charset="-122"/>
                <a:cs typeface="Georgia" pitchFamily="34" charset="-120"/>
              </a:rPr>
              <a:t>"</a:t>
            </a:r>
            <a:endParaRPr lang="en-US" sz="3600" dirty="0"/>
          </a:p>
        </p:txBody>
      </p:sp>
      <p:sp>
        <p:nvSpPr>
          <p:cNvPr id="8" name="Text 6"/>
          <p:cNvSpPr/>
          <p:nvPr/>
        </p:nvSpPr>
        <p:spPr>
          <a:xfrm>
            <a:off x="475488" y="1719072"/>
            <a:ext cx="2377440" cy="148132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Am testat Liftrix în sală timp de 3 săptămâni. Funcționarea offline este exact ce îmi lipsea — nu mai trebuie să aștept conexiunea la internet ca să salvez seturile.</a:t>
            </a:r>
            <a:endParaRPr lang="en-US" sz="1000" dirty="0"/>
          </a:p>
        </p:txBody>
      </p:sp>
      <p:sp>
        <p:nvSpPr>
          <p:cNvPr id="9" name="Shape 7"/>
          <p:cNvSpPr/>
          <p:nvPr/>
        </p:nvSpPr>
        <p:spPr>
          <a:xfrm>
            <a:off x="475488" y="3218688"/>
            <a:ext cx="1371600" cy="27432"/>
          </a:xfrm>
          <a:prstGeom prst="rect">
            <a:avLst/>
          </a:prstGeom>
          <a:solidFill>
            <a:srgbClr val="20C9B7"/>
          </a:solidFill>
          <a:ln w="12700">
            <a:solidFill>
              <a:srgbClr val="20C9B7"/>
            </a:solidFill>
            <a:prstDash val="solid"/>
          </a:ln>
        </p:spPr>
        <p:txBody>
          <a:bodyPr/>
          <a:lstStyle/>
          <a:p>
            <a:endParaRPr lang="en-US"/>
          </a:p>
        </p:txBody>
      </p:sp>
      <p:sp>
        <p:nvSpPr>
          <p:cNvPr id="10" name="Text 8"/>
          <p:cNvSpPr/>
          <p:nvPr/>
        </p:nvSpPr>
        <p:spPr>
          <a:xfrm>
            <a:off x="475488" y="3291840"/>
            <a:ext cx="2377440" cy="256032"/>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A.M., 23 ani</a:t>
            </a:r>
            <a:endParaRPr lang="en-US" sz="1100" dirty="0"/>
          </a:p>
        </p:txBody>
      </p:sp>
      <p:sp>
        <p:nvSpPr>
          <p:cNvPr id="11" name="Text 9"/>
          <p:cNvSpPr/>
          <p:nvPr/>
        </p:nvSpPr>
        <p:spPr>
          <a:xfrm>
            <a:off x="475488" y="3538728"/>
            <a:ext cx="2377440" cy="201168"/>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Utilizator testing, pasionat fitness</a:t>
            </a:r>
            <a:endParaRPr lang="en-US" sz="900" dirty="0"/>
          </a:p>
        </p:txBody>
      </p:sp>
      <p:sp>
        <p:nvSpPr>
          <p:cNvPr id="12" name="Text 10"/>
          <p:cNvSpPr/>
          <p:nvPr/>
        </p:nvSpPr>
        <p:spPr>
          <a:xfrm>
            <a:off x="475488" y="3767328"/>
            <a:ext cx="2377440" cy="274320"/>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[TESTIMONIAL REAL NECESAR]</a:t>
            </a:r>
            <a:endParaRPr lang="en-US" sz="800" dirty="0"/>
          </a:p>
        </p:txBody>
      </p:sp>
      <p:sp>
        <p:nvSpPr>
          <p:cNvPr id="13" name="Shape 11"/>
          <p:cNvSpPr/>
          <p:nvPr/>
        </p:nvSpPr>
        <p:spPr>
          <a:xfrm>
            <a:off x="3200400" y="987552"/>
            <a:ext cx="2606040" cy="338328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4" name="Shape 12"/>
          <p:cNvSpPr/>
          <p:nvPr/>
        </p:nvSpPr>
        <p:spPr>
          <a:xfrm>
            <a:off x="3200400" y="987552"/>
            <a:ext cx="2606040" cy="64008"/>
          </a:xfrm>
          <a:prstGeom prst="rect">
            <a:avLst/>
          </a:prstGeom>
          <a:solidFill>
            <a:srgbClr val="4F8EF7"/>
          </a:solidFill>
          <a:ln w="12700">
            <a:solidFill>
              <a:srgbClr val="4F8EF7"/>
            </a:solidFill>
            <a:prstDash val="solid"/>
          </a:ln>
        </p:spPr>
        <p:txBody>
          <a:bodyPr/>
          <a:lstStyle/>
          <a:p>
            <a:endParaRPr lang="en-US"/>
          </a:p>
        </p:txBody>
      </p:sp>
      <p:sp>
        <p:nvSpPr>
          <p:cNvPr id="15" name="Text 13"/>
          <p:cNvSpPr/>
          <p:nvPr/>
        </p:nvSpPr>
        <p:spPr>
          <a:xfrm>
            <a:off x="3310128" y="1115568"/>
            <a:ext cx="2377440" cy="256032"/>
          </a:xfrm>
          <a:prstGeom prst="rect">
            <a:avLst/>
          </a:prstGeom>
          <a:noFill/>
          <a:ln/>
        </p:spPr>
        <p:txBody>
          <a:bodyPr wrap="square" lIns="0" tIns="0" rIns="0" bIns="0" rtlCol="0" anchor="ctr"/>
          <a:lstStyle/>
          <a:p>
            <a:pPr marL="0" indent="0">
              <a:buNone/>
            </a:pPr>
            <a:r>
              <a:rPr lang="en-US" sz="1400" dirty="0">
                <a:solidFill>
                  <a:srgbClr val="F59E0B"/>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3310128" y="1371600"/>
            <a:ext cx="365760" cy="457200"/>
          </a:xfrm>
          <a:prstGeom prst="rect">
            <a:avLst/>
          </a:prstGeom>
          <a:noFill/>
          <a:ln/>
        </p:spPr>
        <p:txBody>
          <a:bodyPr wrap="square" lIns="0" tIns="0" rIns="0" bIns="0" rtlCol="0" anchor="ctr"/>
          <a:lstStyle/>
          <a:p>
            <a:pPr marL="0" indent="0">
              <a:buNone/>
            </a:pPr>
            <a:r>
              <a:rPr lang="en-US" sz="3600" b="1" dirty="0">
                <a:solidFill>
                  <a:srgbClr val="4F8EF7"/>
                </a:solidFill>
                <a:latin typeface="Georgia" pitchFamily="34" charset="0"/>
                <a:ea typeface="Georgia" pitchFamily="34" charset="-122"/>
                <a:cs typeface="Georgia" pitchFamily="34" charset="-120"/>
              </a:rPr>
              <a:t>"</a:t>
            </a:r>
            <a:endParaRPr lang="en-US" sz="3600" dirty="0"/>
          </a:p>
        </p:txBody>
      </p:sp>
      <p:sp>
        <p:nvSpPr>
          <p:cNvPr id="17" name="Text 15"/>
          <p:cNvSpPr/>
          <p:nvPr/>
        </p:nvSpPr>
        <p:spPr>
          <a:xfrm>
            <a:off x="3310128" y="1719072"/>
            <a:ext cx="2377440" cy="148132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Dashboard-ul de progres este mult mai detaliat față de alte aplicații. Am văzut pentru prima dată grafic cum a evoluat 1RM-ul meu în ultimele 3 luni. Foarte motivant.</a:t>
            </a:r>
            <a:endParaRPr lang="en-US" sz="1000" dirty="0"/>
          </a:p>
        </p:txBody>
      </p:sp>
      <p:sp>
        <p:nvSpPr>
          <p:cNvPr id="18" name="Shape 16"/>
          <p:cNvSpPr/>
          <p:nvPr/>
        </p:nvSpPr>
        <p:spPr>
          <a:xfrm>
            <a:off x="3310128" y="3218688"/>
            <a:ext cx="1371600" cy="27432"/>
          </a:xfrm>
          <a:prstGeom prst="rect">
            <a:avLst/>
          </a:prstGeom>
          <a:solidFill>
            <a:srgbClr val="4F8EF7"/>
          </a:solidFill>
          <a:ln w="12700">
            <a:solidFill>
              <a:srgbClr val="4F8EF7"/>
            </a:solidFill>
            <a:prstDash val="solid"/>
          </a:ln>
        </p:spPr>
        <p:txBody>
          <a:bodyPr/>
          <a:lstStyle/>
          <a:p>
            <a:endParaRPr lang="en-US"/>
          </a:p>
        </p:txBody>
      </p:sp>
      <p:sp>
        <p:nvSpPr>
          <p:cNvPr id="19" name="Text 17"/>
          <p:cNvSpPr/>
          <p:nvPr/>
        </p:nvSpPr>
        <p:spPr>
          <a:xfrm>
            <a:off x="3310128" y="3291840"/>
            <a:ext cx="2377440" cy="256032"/>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R.P., 27 ani</a:t>
            </a:r>
            <a:endParaRPr lang="en-US" sz="1100" dirty="0"/>
          </a:p>
        </p:txBody>
      </p:sp>
      <p:sp>
        <p:nvSpPr>
          <p:cNvPr id="20" name="Text 18"/>
          <p:cNvSpPr/>
          <p:nvPr/>
        </p:nvSpPr>
        <p:spPr>
          <a:xfrm>
            <a:off x="3310128" y="3538728"/>
            <a:ext cx="2377440" cy="201168"/>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Utilizator testing, powerlifting</a:t>
            </a:r>
            <a:endParaRPr lang="en-US" sz="900" dirty="0"/>
          </a:p>
        </p:txBody>
      </p:sp>
      <p:sp>
        <p:nvSpPr>
          <p:cNvPr id="21" name="Text 19"/>
          <p:cNvSpPr/>
          <p:nvPr/>
        </p:nvSpPr>
        <p:spPr>
          <a:xfrm>
            <a:off x="3310128" y="3767328"/>
            <a:ext cx="2377440" cy="274320"/>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[TESTIMONIAL REAL NECESAR]</a:t>
            </a:r>
            <a:endParaRPr lang="en-US" sz="800" dirty="0"/>
          </a:p>
        </p:txBody>
      </p:sp>
      <p:sp>
        <p:nvSpPr>
          <p:cNvPr id="22" name="Shape 20"/>
          <p:cNvSpPr/>
          <p:nvPr/>
        </p:nvSpPr>
        <p:spPr>
          <a:xfrm>
            <a:off x="6035040" y="987552"/>
            <a:ext cx="2606040" cy="338328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3" name="Shape 21"/>
          <p:cNvSpPr/>
          <p:nvPr/>
        </p:nvSpPr>
        <p:spPr>
          <a:xfrm>
            <a:off x="6035040" y="987552"/>
            <a:ext cx="2606040" cy="64008"/>
          </a:xfrm>
          <a:prstGeom prst="rect">
            <a:avLst/>
          </a:prstGeom>
          <a:solidFill>
            <a:srgbClr val="8B5CF6"/>
          </a:solidFill>
          <a:ln w="12700">
            <a:solidFill>
              <a:srgbClr val="8B5CF6"/>
            </a:solidFill>
            <a:prstDash val="solid"/>
          </a:ln>
        </p:spPr>
        <p:txBody>
          <a:bodyPr/>
          <a:lstStyle/>
          <a:p>
            <a:endParaRPr lang="en-US"/>
          </a:p>
        </p:txBody>
      </p:sp>
      <p:sp>
        <p:nvSpPr>
          <p:cNvPr id="24" name="Text 22"/>
          <p:cNvSpPr/>
          <p:nvPr/>
        </p:nvSpPr>
        <p:spPr>
          <a:xfrm>
            <a:off x="6144768" y="1115568"/>
            <a:ext cx="2377440" cy="256032"/>
          </a:xfrm>
          <a:prstGeom prst="rect">
            <a:avLst/>
          </a:prstGeom>
          <a:noFill/>
          <a:ln/>
        </p:spPr>
        <p:txBody>
          <a:bodyPr wrap="square" lIns="0" tIns="0" rIns="0" bIns="0" rtlCol="0" anchor="ctr"/>
          <a:lstStyle/>
          <a:p>
            <a:pPr marL="0" indent="0">
              <a:buNone/>
            </a:pPr>
            <a:r>
              <a:rPr lang="en-US" sz="1400" dirty="0">
                <a:solidFill>
                  <a:srgbClr val="F59E0B"/>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6144768" y="1371600"/>
            <a:ext cx="365760" cy="457200"/>
          </a:xfrm>
          <a:prstGeom prst="rect">
            <a:avLst/>
          </a:prstGeom>
          <a:noFill/>
          <a:ln/>
        </p:spPr>
        <p:txBody>
          <a:bodyPr wrap="square" lIns="0" tIns="0" rIns="0" bIns="0" rtlCol="0" anchor="ctr"/>
          <a:lstStyle/>
          <a:p>
            <a:pPr marL="0" indent="0">
              <a:buNone/>
            </a:pPr>
            <a:r>
              <a:rPr lang="en-US" sz="3600" b="1" dirty="0">
                <a:solidFill>
                  <a:srgbClr val="8B5CF6"/>
                </a:solidFill>
                <a:latin typeface="Georgia" pitchFamily="34" charset="0"/>
                <a:ea typeface="Georgia" pitchFamily="34" charset="-122"/>
                <a:cs typeface="Georgia" pitchFamily="34" charset="-120"/>
              </a:rPr>
              <a:t>"</a:t>
            </a:r>
            <a:endParaRPr lang="en-US" sz="3600" dirty="0"/>
          </a:p>
        </p:txBody>
      </p:sp>
      <p:sp>
        <p:nvSpPr>
          <p:cNvPr id="26" name="Text 24"/>
          <p:cNvSpPr/>
          <p:nvPr/>
        </p:nvSpPr>
        <p:spPr>
          <a:xfrm>
            <a:off x="6144768" y="1719072"/>
            <a:ext cx="2377440" cy="148132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Sistemul QR pentru gym buddy este o idee excelentă. L-am conectat pe colegul meu de sală în 10 secunde și acum ne vedem antrenamentele reciproc. Nu am mai văzut asta în altă aplicație.</a:t>
            </a:r>
            <a:endParaRPr lang="en-US" sz="1000" dirty="0"/>
          </a:p>
        </p:txBody>
      </p:sp>
      <p:sp>
        <p:nvSpPr>
          <p:cNvPr id="27" name="Shape 25"/>
          <p:cNvSpPr/>
          <p:nvPr/>
        </p:nvSpPr>
        <p:spPr>
          <a:xfrm>
            <a:off x="6144768" y="3218688"/>
            <a:ext cx="1371600" cy="27432"/>
          </a:xfrm>
          <a:prstGeom prst="rect">
            <a:avLst/>
          </a:prstGeom>
          <a:solidFill>
            <a:srgbClr val="8B5CF6"/>
          </a:solidFill>
          <a:ln w="12700">
            <a:solidFill>
              <a:srgbClr val="8B5CF6"/>
            </a:solidFill>
            <a:prstDash val="solid"/>
          </a:ln>
        </p:spPr>
        <p:txBody>
          <a:bodyPr/>
          <a:lstStyle/>
          <a:p>
            <a:endParaRPr lang="en-US"/>
          </a:p>
        </p:txBody>
      </p:sp>
      <p:sp>
        <p:nvSpPr>
          <p:cNvPr id="28" name="Text 26"/>
          <p:cNvSpPr/>
          <p:nvPr/>
        </p:nvSpPr>
        <p:spPr>
          <a:xfrm>
            <a:off x="6144768" y="3291840"/>
            <a:ext cx="2377440" cy="256032"/>
          </a:xfrm>
          <a:prstGeom prst="rect">
            <a:avLst/>
          </a:prstGeom>
          <a:noFill/>
          <a:ln/>
        </p:spPr>
        <p:txBody>
          <a:bodyPr wrap="square" lIns="0" tIns="0" rIns="0" bIns="0" rtlCol="0" anchor="ctr"/>
          <a:lstStyle/>
          <a:p>
            <a:pPr marL="0" indent="0">
              <a:buNone/>
            </a:pPr>
            <a:r>
              <a:rPr lang="en-US" sz="1100" b="1" dirty="0">
                <a:solidFill>
                  <a:srgbClr val="1E2340"/>
                </a:solidFill>
                <a:latin typeface="Calibri" pitchFamily="34" charset="0"/>
                <a:ea typeface="Calibri" pitchFamily="34" charset="-122"/>
                <a:cs typeface="Calibri" pitchFamily="34" charset="-120"/>
              </a:rPr>
              <a:t>C.I., 21 ani</a:t>
            </a:r>
            <a:endParaRPr lang="en-US" sz="1100" dirty="0"/>
          </a:p>
        </p:txBody>
      </p:sp>
      <p:sp>
        <p:nvSpPr>
          <p:cNvPr id="29" name="Text 27"/>
          <p:cNvSpPr/>
          <p:nvPr/>
        </p:nvSpPr>
        <p:spPr>
          <a:xfrm>
            <a:off x="6144768" y="3538728"/>
            <a:ext cx="2377440" cy="201168"/>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Utilizator testing, student</a:t>
            </a:r>
            <a:endParaRPr lang="en-US" sz="900" dirty="0"/>
          </a:p>
        </p:txBody>
      </p:sp>
      <p:sp>
        <p:nvSpPr>
          <p:cNvPr id="30" name="Text 28"/>
          <p:cNvSpPr/>
          <p:nvPr/>
        </p:nvSpPr>
        <p:spPr>
          <a:xfrm>
            <a:off x="6144768" y="3767328"/>
            <a:ext cx="2377440" cy="274320"/>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[TESTIMONIAL REAL NECESAR]</a:t>
            </a:r>
            <a:endParaRPr lang="en-US" sz="800" dirty="0"/>
          </a:p>
        </p:txBody>
      </p:sp>
      <p:sp>
        <p:nvSpPr>
          <p:cNvPr id="31" name="Text 29"/>
          <p:cNvSpPr/>
          <p:nvPr/>
        </p:nvSpPr>
        <p:spPr>
          <a:xfrm>
            <a:off x="365760" y="4663440"/>
            <a:ext cx="8412480" cy="274320"/>
          </a:xfrm>
          <a:prstGeom prst="rect">
            <a:avLst/>
          </a:prstGeom>
          <a:noFill/>
          <a:ln/>
        </p:spPr>
        <p:txBody>
          <a:bodyPr wrap="square" lIns="0" tIns="0" rIns="0" bIns="0" rtlCol="0" anchor="ctr"/>
          <a:lstStyle/>
          <a:p>
            <a:pPr marL="0" indent="0">
              <a:buNone/>
            </a:pPr>
            <a:r>
              <a:rPr lang="en-US" sz="900" i="1" dirty="0">
                <a:solidFill>
                  <a:srgbClr val="F59E0B"/>
                </a:solidFill>
                <a:latin typeface="Calibri" pitchFamily="34" charset="0"/>
                <a:ea typeface="Calibri" pitchFamily="34" charset="-122"/>
                <a:cs typeface="Calibri" pitchFamily="34" charset="-120"/>
              </a:rPr>
              <a:t>⚠️  Testimonialele de mai sus sunt EXEMPLE MODEL. Înlocuiți cu feedback real din sesiunile de testare înainte de prezentare.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FF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PROCESUL DE DEZVOLTARE</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Repo, versionare și organizarea muncii</a:t>
            </a:r>
            <a:endParaRPr lang="en-US" sz="2400" dirty="0"/>
          </a:p>
        </p:txBody>
      </p:sp>
      <p:sp>
        <p:nvSpPr>
          <p:cNvPr id="4" name="Shape 2"/>
          <p:cNvSpPr/>
          <p:nvPr/>
        </p:nvSpPr>
        <p:spPr>
          <a:xfrm>
            <a:off x="365760" y="987552"/>
            <a:ext cx="5074920" cy="3858768"/>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Text 3"/>
          <p:cNvSpPr/>
          <p:nvPr/>
        </p:nvSpPr>
        <p:spPr>
          <a:xfrm>
            <a:off x="502920" y="1078992"/>
            <a:ext cx="4754880" cy="32004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 Structura Proiectului &amp; Versionare</a:t>
            </a:r>
            <a:endParaRPr lang="en-US" sz="1200" dirty="0"/>
          </a:p>
        </p:txBody>
      </p:sp>
      <p:sp>
        <p:nvSpPr>
          <p:cNvPr id="6" name="Shape 4"/>
          <p:cNvSpPr/>
          <p:nvPr/>
        </p:nvSpPr>
        <p:spPr>
          <a:xfrm>
            <a:off x="502920" y="1563624"/>
            <a:ext cx="182880" cy="182880"/>
          </a:xfrm>
          <a:prstGeom prst="ellipse">
            <a:avLst/>
          </a:prstGeom>
          <a:solidFill>
            <a:srgbClr val="20C9B7"/>
          </a:solidFill>
          <a:ln w="12700">
            <a:solidFill>
              <a:srgbClr val="20C9B7"/>
            </a:solidFill>
            <a:prstDash val="solid"/>
          </a:ln>
        </p:spPr>
        <p:txBody>
          <a:bodyPr/>
          <a:lstStyle/>
          <a:p>
            <a:endParaRPr lang="en-US"/>
          </a:p>
        </p:txBody>
      </p:sp>
      <p:sp>
        <p:nvSpPr>
          <p:cNvPr id="7" name="Shape 5"/>
          <p:cNvSpPr/>
          <p:nvPr/>
        </p:nvSpPr>
        <p:spPr>
          <a:xfrm>
            <a:off x="576072" y="1746504"/>
            <a:ext cx="36576" cy="347472"/>
          </a:xfrm>
          <a:prstGeom prst="rect">
            <a:avLst/>
          </a:prstGeom>
          <a:solidFill>
            <a:srgbClr val="E5E7EB"/>
          </a:solidFill>
          <a:ln w="12700">
            <a:solidFill>
              <a:srgbClr val="E5E7EB"/>
            </a:solidFill>
            <a:prstDash val="solid"/>
          </a:ln>
        </p:spPr>
        <p:txBody>
          <a:bodyPr/>
          <a:lstStyle/>
          <a:p>
            <a:endParaRPr lang="en-US"/>
          </a:p>
        </p:txBody>
      </p:sp>
      <p:sp>
        <p:nvSpPr>
          <p:cNvPr id="8" name="Text 6"/>
          <p:cNvSpPr/>
          <p:nvPr/>
        </p:nvSpPr>
        <p:spPr>
          <a:xfrm>
            <a:off x="777240" y="1508760"/>
            <a:ext cx="1371600" cy="24688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v0.1.0-alpha</a:t>
            </a:r>
            <a:endParaRPr lang="en-US" sz="1000" dirty="0"/>
          </a:p>
        </p:txBody>
      </p:sp>
      <p:sp>
        <p:nvSpPr>
          <p:cNvPr id="9" name="Text 7"/>
          <p:cNvSpPr/>
          <p:nvPr/>
        </p:nvSpPr>
        <p:spPr>
          <a:xfrm>
            <a:off x="777240" y="1755648"/>
            <a:ext cx="4480560" cy="22860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Arhitectură de bază, Room DB, autentificare Firebase</a:t>
            </a:r>
            <a:endParaRPr lang="en-US" sz="950" dirty="0"/>
          </a:p>
        </p:txBody>
      </p:sp>
      <p:sp>
        <p:nvSpPr>
          <p:cNvPr id="10" name="Shape 8"/>
          <p:cNvSpPr/>
          <p:nvPr/>
        </p:nvSpPr>
        <p:spPr>
          <a:xfrm>
            <a:off x="502920" y="2084832"/>
            <a:ext cx="182880" cy="182880"/>
          </a:xfrm>
          <a:prstGeom prst="ellipse">
            <a:avLst/>
          </a:prstGeom>
          <a:solidFill>
            <a:srgbClr val="4F8EF7"/>
          </a:solidFill>
          <a:ln w="12700">
            <a:solidFill>
              <a:srgbClr val="4F8EF7"/>
            </a:solidFill>
            <a:prstDash val="solid"/>
          </a:ln>
        </p:spPr>
        <p:txBody>
          <a:bodyPr/>
          <a:lstStyle/>
          <a:p>
            <a:endParaRPr lang="en-US"/>
          </a:p>
        </p:txBody>
      </p:sp>
      <p:sp>
        <p:nvSpPr>
          <p:cNvPr id="11" name="Shape 9"/>
          <p:cNvSpPr/>
          <p:nvPr/>
        </p:nvSpPr>
        <p:spPr>
          <a:xfrm>
            <a:off x="576072" y="2267712"/>
            <a:ext cx="36576" cy="347472"/>
          </a:xfrm>
          <a:prstGeom prst="rect">
            <a:avLst/>
          </a:prstGeom>
          <a:solidFill>
            <a:srgbClr val="E5E7EB"/>
          </a:solidFill>
          <a:ln w="12700">
            <a:solidFill>
              <a:srgbClr val="E5E7EB"/>
            </a:solidFill>
            <a:prstDash val="solid"/>
          </a:ln>
        </p:spPr>
        <p:txBody>
          <a:bodyPr/>
          <a:lstStyle/>
          <a:p>
            <a:endParaRPr lang="en-US"/>
          </a:p>
        </p:txBody>
      </p:sp>
      <p:sp>
        <p:nvSpPr>
          <p:cNvPr id="12" name="Text 10"/>
          <p:cNvSpPr/>
          <p:nvPr/>
        </p:nvSpPr>
        <p:spPr>
          <a:xfrm>
            <a:off x="777240" y="2029968"/>
            <a:ext cx="1371600" cy="24688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v0.2.0-alpha</a:t>
            </a:r>
            <a:endParaRPr lang="en-US" sz="1000" dirty="0"/>
          </a:p>
        </p:txBody>
      </p:sp>
      <p:sp>
        <p:nvSpPr>
          <p:cNvPr id="13" name="Text 11"/>
          <p:cNvSpPr/>
          <p:nvPr/>
        </p:nvSpPr>
        <p:spPr>
          <a:xfrm>
            <a:off x="777240" y="2276856"/>
            <a:ext cx="4480560" cy="22860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Workout management complet, DAO layer, use cases</a:t>
            </a:r>
            <a:endParaRPr lang="en-US" sz="950" dirty="0"/>
          </a:p>
        </p:txBody>
      </p:sp>
      <p:sp>
        <p:nvSpPr>
          <p:cNvPr id="14" name="Shape 12"/>
          <p:cNvSpPr/>
          <p:nvPr/>
        </p:nvSpPr>
        <p:spPr>
          <a:xfrm>
            <a:off x="502920" y="2606040"/>
            <a:ext cx="182880" cy="182880"/>
          </a:xfrm>
          <a:prstGeom prst="ellipse">
            <a:avLst/>
          </a:prstGeom>
          <a:solidFill>
            <a:srgbClr val="8B5CF6"/>
          </a:solidFill>
          <a:ln w="12700">
            <a:solidFill>
              <a:srgbClr val="8B5CF6"/>
            </a:solidFill>
            <a:prstDash val="solid"/>
          </a:ln>
        </p:spPr>
        <p:txBody>
          <a:bodyPr/>
          <a:lstStyle/>
          <a:p>
            <a:endParaRPr lang="en-US"/>
          </a:p>
        </p:txBody>
      </p:sp>
      <p:sp>
        <p:nvSpPr>
          <p:cNvPr id="15" name="Shape 13"/>
          <p:cNvSpPr/>
          <p:nvPr/>
        </p:nvSpPr>
        <p:spPr>
          <a:xfrm>
            <a:off x="576072" y="2788920"/>
            <a:ext cx="36576" cy="347472"/>
          </a:xfrm>
          <a:prstGeom prst="rect">
            <a:avLst/>
          </a:prstGeom>
          <a:solidFill>
            <a:srgbClr val="E5E7EB"/>
          </a:solidFill>
          <a:ln w="12700">
            <a:solidFill>
              <a:srgbClr val="E5E7EB"/>
            </a:solidFill>
            <a:prstDash val="solid"/>
          </a:ln>
        </p:spPr>
        <p:txBody>
          <a:bodyPr/>
          <a:lstStyle/>
          <a:p>
            <a:endParaRPr lang="en-US"/>
          </a:p>
        </p:txBody>
      </p:sp>
      <p:sp>
        <p:nvSpPr>
          <p:cNvPr id="16" name="Text 14"/>
          <p:cNvSpPr/>
          <p:nvPr/>
        </p:nvSpPr>
        <p:spPr>
          <a:xfrm>
            <a:off x="777240" y="2551176"/>
            <a:ext cx="1371600" cy="24688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v0.3.0-beta</a:t>
            </a:r>
            <a:endParaRPr lang="en-US" sz="1000" dirty="0"/>
          </a:p>
        </p:txBody>
      </p:sp>
      <p:sp>
        <p:nvSpPr>
          <p:cNvPr id="17" name="Text 15"/>
          <p:cNvSpPr/>
          <p:nvPr/>
        </p:nvSpPr>
        <p:spPr>
          <a:xfrm>
            <a:off x="777240" y="2798064"/>
            <a:ext cx="4480560" cy="22860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Progress analytics, custom charts, 15 widget-uri</a:t>
            </a:r>
            <a:endParaRPr lang="en-US" sz="950" dirty="0"/>
          </a:p>
        </p:txBody>
      </p:sp>
      <p:sp>
        <p:nvSpPr>
          <p:cNvPr id="18" name="Shape 16"/>
          <p:cNvSpPr/>
          <p:nvPr/>
        </p:nvSpPr>
        <p:spPr>
          <a:xfrm>
            <a:off x="502920" y="3127248"/>
            <a:ext cx="182880" cy="182880"/>
          </a:xfrm>
          <a:prstGeom prst="ellipse">
            <a:avLst/>
          </a:prstGeom>
          <a:solidFill>
            <a:srgbClr val="F59E0B"/>
          </a:solidFill>
          <a:ln w="12700">
            <a:solidFill>
              <a:srgbClr val="F59E0B"/>
            </a:solidFill>
            <a:prstDash val="solid"/>
          </a:ln>
        </p:spPr>
        <p:txBody>
          <a:bodyPr/>
          <a:lstStyle/>
          <a:p>
            <a:endParaRPr lang="en-US"/>
          </a:p>
        </p:txBody>
      </p:sp>
      <p:sp>
        <p:nvSpPr>
          <p:cNvPr id="19" name="Shape 17"/>
          <p:cNvSpPr/>
          <p:nvPr/>
        </p:nvSpPr>
        <p:spPr>
          <a:xfrm>
            <a:off x="576072" y="3310128"/>
            <a:ext cx="36576" cy="347472"/>
          </a:xfrm>
          <a:prstGeom prst="rect">
            <a:avLst/>
          </a:prstGeom>
          <a:solidFill>
            <a:srgbClr val="E5E7EB"/>
          </a:solidFill>
          <a:ln w="12700">
            <a:solidFill>
              <a:srgbClr val="E5E7EB"/>
            </a:solidFill>
            <a:prstDash val="solid"/>
          </a:ln>
        </p:spPr>
        <p:txBody>
          <a:bodyPr/>
          <a:lstStyle/>
          <a:p>
            <a:endParaRPr lang="en-US"/>
          </a:p>
        </p:txBody>
      </p:sp>
      <p:sp>
        <p:nvSpPr>
          <p:cNvPr id="20" name="Text 18"/>
          <p:cNvSpPr/>
          <p:nvPr/>
        </p:nvSpPr>
        <p:spPr>
          <a:xfrm>
            <a:off x="777240" y="3072384"/>
            <a:ext cx="1371600" cy="24688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v0.4.0-beta</a:t>
            </a:r>
            <a:endParaRPr lang="en-US" sz="1000" dirty="0"/>
          </a:p>
        </p:txBody>
      </p:sp>
      <p:sp>
        <p:nvSpPr>
          <p:cNvPr id="21" name="Text 19"/>
          <p:cNvSpPr/>
          <p:nvPr/>
        </p:nvSpPr>
        <p:spPr>
          <a:xfrm>
            <a:off x="777240" y="3319272"/>
            <a:ext cx="4480560" cy="22860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Social feed, Paging3, privacy controls, QR pairing</a:t>
            </a:r>
            <a:endParaRPr lang="en-US" sz="950" dirty="0"/>
          </a:p>
        </p:txBody>
      </p:sp>
      <p:sp>
        <p:nvSpPr>
          <p:cNvPr id="22" name="Shape 20"/>
          <p:cNvSpPr/>
          <p:nvPr/>
        </p:nvSpPr>
        <p:spPr>
          <a:xfrm>
            <a:off x="502920" y="3648456"/>
            <a:ext cx="182880" cy="182880"/>
          </a:xfrm>
          <a:prstGeom prst="ellipse">
            <a:avLst/>
          </a:prstGeom>
          <a:solidFill>
            <a:srgbClr val="10B981"/>
          </a:solidFill>
          <a:ln w="12700">
            <a:solidFill>
              <a:srgbClr val="10B981"/>
            </a:solidFill>
            <a:prstDash val="solid"/>
          </a:ln>
        </p:spPr>
        <p:txBody>
          <a:bodyPr/>
          <a:lstStyle/>
          <a:p>
            <a:endParaRPr lang="en-US"/>
          </a:p>
        </p:txBody>
      </p:sp>
      <p:sp>
        <p:nvSpPr>
          <p:cNvPr id="23" name="Shape 21"/>
          <p:cNvSpPr/>
          <p:nvPr/>
        </p:nvSpPr>
        <p:spPr>
          <a:xfrm>
            <a:off x="576072" y="3831336"/>
            <a:ext cx="36576" cy="347472"/>
          </a:xfrm>
          <a:prstGeom prst="rect">
            <a:avLst/>
          </a:prstGeom>
          <a:solidFill>
            <a:srgbClr val="E5E7EB"/>
          </a:solidFill>
          <a:ln w="12700">
            <a:solidFill>
              <a:srgbClr val="E5E7EB"/>
            </a:solidFill>
            <a:prstDash val="solid"/>
          </a:ln>
        </p:spPr>
        <p:txBody>
          <a:bodyPr/>
          <a:lstStyle/>
          <a:p>
            <a:endParaRPr lang="en-US"/>
          </a:p>
        </p:txBody>
      </p:sp>
      <p:sp>
        <p:nvSpPr>
          <p:cNvPr id="24" name="Text 22"/>
          <p:cNvSpPr/>
          <p:nvPr/>
        </p:nvSpPr>
        <p:spPr>
          <a:xfrm>
            <a:off x="777240" y="3593592"/>
            <a:ext cx="1371600" cy="24688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v0.5.0-beta</a:t>
            </a:r>
            <a:endParaRPr lang="en-US" sz="1000" dirty="0"/>
          </a:p>
        </p:txBody>
      </p:sp>
      <p:sp>
        <p:nvSpPr>
          <p:cNvPr id="25" name="Text 23"/>
          <p:cNvSpPr/>
          <p:nvPr/>
        </p:nvSpPr>
        <p:spPr>
          <a:xfrm>
            <a:off x="777240" y="3840480"/>
            <a:ext cx="4480560" cy="22860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AI Coaching (Gemini 2.5 Flash Lite), rate limiting, abuse detection</a:t>
            </a:r>
            <a:endParaRPr lang="en-US" sz="950" dirty="0"/>
          </a:p>
        </p:txBody>
      </p:sp>
      <p:sp>
        <p:nvSpPr>
          <p:cNvPr id="26" name="Shape 24"/>
          <p:cNvSpPr/>
          <p:nvPr/>
        </p:nvSpPr>
        <p:spPr>
          <a:xfrm>
            <a:off x="502920" y="4169664"/>
            <a:ext cx="182880" cy="182880"/>
          </a:xfrm>
          <a:prstGeom prst="ellipse">
            <a:avLst/>
          </a:prstGeom>
          <a:solidFill>
            <a:srgbClr val="EF4444"/>
          </a:solidFill>
          <a:ln w="12700">
            <a:solidFill>
              <a:srgbClr val="EF4444"/>
            </a:solidFill>
            <a:prstDash val="solid"/>
          </a:ln>
        </p:spPr>
        <p:txBody>
          <a:bodyPr/>
          <a:lstStyle/>
          <a:p>
            <a:endParaRPr lang="en-US"/>
          </a:p>
        </p:txBody>
      </p:sp>
      <p:sp>
        <p:nvSpPr>
          <p:cNvPr id="27" name="Text 25"/>
          <p:cNvSpPr/>
          <p:nvPr/>
        </p:nvSpPr>
        <p:spPr>
          <a:xfrm>
            <a:off x="777240" y="4114800"/>
            <a:ext cx="1371600" cy="246888"/>
          </a:xfrm>
          <a:prstGeom prst="rect">
            <a:avLst/>
          </a:prstGeom>
          <a:noFill/>
          <a:ln/>
        </p:spPr>
        <p:txBody>
          <a:bodyPr wrap="square" lIns="0" tIns="0" rIns="0" bIns="0" rtlCol="0" anchor="ctr"/>
          <a:lstStyle/>
          <a:p>
            <a:pPr marL="0" indent="0">
              <a:buNone/>
            </a:pPr>
            <a:r>
              <a:rPr lang="en-US" sz="1000" b="1" dirty="0">
                <a:solidFill>
                  <a:srgbClr val="EF4444"/>
                </a:solidFill>
                <a:latin typeface="Calibri" pitchFamily="34" charset="0"/>
                <a:ea typeface="Calibri" pitchFamily="34" charset="-122"/>
                <a:cs typeface="Calibri" pitchFamily="34" charset="-120"/>
              </a:rPr>
              <a:t>v1.0.0</a:t>
            </a:r>
            <a:endParaRPr lang="en-US" sz="1000" dirty="0"/>
          </a:p>
        </p:txBody>
      </p:sp>
      <p:sp>
        <p:nvSpPr>
          <p:cNvPr id="28" name="Text 26"/>
          <p:cNvSpPr/>
          <p:nvPr/>
        </p:nvSpPr>
        <p:spPr>
          <a:xfrm>
            <a:off x="777240" y="4361688"/>
            <a:ext cx="4480560" cy="22860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Release candidat, QA complet, optimizări performanță</a:t>
            </a:r>
            <a:endParaRPr lang="en-US" sz="950" dirty="0"/>
          </a:p>
        </p:txBody>
      </p:sp>
      <p:sp>
        <p:nvSpPr>
          <p:cNvPr id="29" name="Shape 27"/>
          <p:cNvSpPr/>
          <p:nvPr/>
        </p:nvSpPr>
        <p:spPr>
          <a:xfrm>
            <a:off x="5623560" y="987552"/>
            <a:ext cx="3154680" cy="3858768"/>
          </a:xfrm>
          <a:prstGeom prst="rect">
            <a:avLst/>
          </a:prstGeom>
          <a:solidFill>
            <a:srgbClr val="FFFFFF"/>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30" name="Text 28"/>
          <p:cNvSpPr/>
          <p:nvPr/>
        </p:nvSpPr>
        <p:spPr>
          <a:xfrm>
            <a:off x="5760720" y="1078992"/>
            <a:ext cx="2834640" cy="320040"/>
          </a:xfrm>
          <a:prstGeom prst="rect">
            <a:avLst/>
          </a:prstGeom>
          <a:noFill/>
          <a:ln/>
        </p:spPr>
        <p:txBody>
          <a:bodyPr wrap="square" lIns="0" tIns="0" rIns="0" bIns="0" rtlCol="0" anchor="ctr"/>
          <a:lstStyle/>
          <a:p>
            <a:pPr marL="0" indent="0">
              <a:buNone/>
            </a:pPr>
            <a:r>
              <a:rPr lang="en-US" sz="1200" b="1" dirty="0">
                <a:solidFill>
                  <a:srgbClr val="1E2340"/>
                </a:solidFill>
                <a:latin typeface="Calibri" pitchFamily="34" charset="0"/>
                <a:ea typeface="Calibri" pitchFamily="34" charset="-122"/>
                <a:cs typeface="Calibri" pitchFamily="34" charset="-120"/>
              </a:rPr>
              <a:t>⚙️ Practici de Dezvoltare</a:t>
            </a:r>
            <a:endParaRPr lang="en-US" sz="1200" dirty="0"/>
          </a:p>
        </p:txBody>
      </p:sp>
      <p:sp>
        <p:nvSpPr>
          <p:cNvPr id="31" name="Text 29"/>
          <p:cNvSpPr/>
          <p:nvPr/>
        </p:nvSpPr>
        <p:spPr>
          <a:xfrm>
            <a:off x="5760720" y="1508760"/>
            <a:ext cx="2834640" cy="228600"/>
          </a:xfrm>
          <a:prstGeom prst="rect">
            <a:avLst/>
          </a:prstGeom>
          <a:noFill/>
          <a:ln/>
        </p:spPr>
        <p:txBody>
          <a:bodyPr wrap="square" lIns="0" tIns="0" rIns="0" bIns="0" rtlCol="0" anchor="ctr"/>
          <a:lstStyle/>
          <a:p>
            <a:pPr marL="0" indent="0">
              <a:buNone/>
            </a:pPr>
            <a:r>
              <a:rPr lang="en-US" sz="1000" b="1" dirty="0">
                <a:solidFill>
                  <a:srgbClr val="1E2340"/>
                </a:solidFill>
                <a:latin typeface="Calibri" pitchFamily="34" charset="0"/>
                <a:ea typeface="Calibri" pitchFamily="34" charset="-122"/>
                <a:cs typeface="Calibri" pitchFamily="34" charset="-120"/>
              </a:rPr>
              <a:t>🔀 Branch strategy</a:t>
            </a:r>
            <a:endParaRPr lang="en-US" sz="1000" dirty="0"/>
          </a:p>
        </p:txBody>
      </p:sp>
      <p:sp>
        <p:nvSpPr>
          <p:cNvPr id="32" name="Text 30"/>
          <p:cNvSpPr/>
          <p:nvPr/>
        </p:nvSpPr>
        <p:spPr>
          <a:xfrm>
            <a:off x="5760720" y="1737360"/>
            <a:ext cx="283464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master + feature branches</a:t>
            </a:r>
            <a:endParaRPr lang="en-US" sz="950" dirty="0"/>
          </a:p>
        </p:txBody>
      </p:sp>
      <p:sp>
        <p:nvSpPr>
          <p:cNvPr id="33" name="Text 31"/>
          <p:cNvSpPr/>
          <p:nvPr/>
        </p:nvSpPr>
        <p:spPr>
          <a:xfrm>
            <a:off x="5760720" y="2029968"/>
            <a:ext cx="2834640" cy="228600"/>
          </a:xfrm>
          <a:prstGeom prst="rect">
            <a:avLst/>
          </a:prstGeom>
          <a:noFill/>
          <a:ln/>
        </p:spPr>
        <p:txBody>
          <a:bodyPr wrap="square" lIns="0" tIns="0" rIns="0" bIns="0" rtlCol="0" anchor="ctr"/>
          <a:lstStyle/>
          <a:p>
            <a:pPr marL="0" indent="0">
              <a:buNone/>
            </a:pPr>
            <a:r>
              <a:rPr lang="en-US" sz="1000" b="1" dirty="0">
                <a:solidFill>
                  <a:srgbClr val="1E2340"/>
                </a:solidFill>
                <a:latin typeface="Calibri" pitchFamily="34" charset="0"/>
                <a:ea typeface="Calibri" pitchFamily="34" charset="-122"/>
                <a:cs typeface="Calibri" pitchFamily="34" charset="-120"/>
              </a:rPr>
              <a:t>💬 Commit messages</a:t>
            </a:r>
            <a:endParaRPr lang="en-US" sz="1000" dirty="0"/>
          </a:p>
        </p:txBody>
      </p:sp>
      <p:sp>
        <p:nvSpPr>
          <p:cNvPr id="34" name="Text 32"/>
          <p:cNvSpPr/>
          <p:nvPr/>
        </p:nvSpPr>
        <p:spPr>
          <a:xfrm>
            <a:off x="5760720" y="2258568"/>
            <a:ext cx="283464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Conventional Commits</a:t>
            </a:r>
            <a:endParaRPr lang="en-US" sz="950" dirty="0"/>
          </a:p>
          <a:p>
            <a:pPr marL="0" indent="0">
              <a:buNone/>
            </a:pPr>
            <a:r>
              <a:rPr lang="en-US" sz="950" dirty="0">
                <a:solidFill>
                  <a:srgbClr val="6B7280"/>
                </a:solidFill>
                <a:latin typeface="Calibri" pitchFamily="34" charset="0"/>
                <a:ea typeface="Calibri" pitchFamily="34" charset="-122"/>
                <a:cs typeface="Calibri" pitchFamily="34" charset="-120"/>
              </a:rPr>
              <a:t>(feat:, fix:, refactor:)</a:t>
            </a:r>
            <a:endParaRPr lang="en-US" sz="950" dirty="0"/>
          </a:p>
        </p:txBody>
      </p:sp>
      <p:sp>
        <p:nvSpPr>
          <p:cNvPr id="35" name="Text 33"/>
          <p:cNvSpPr/>
          <p:nvPr/>
        </p:nvSpPr>
        <p:spPr>
          <a:xfrm>
            <a:off x="5760720" y="2551176"/>
            <a:ext cx="2834640" cy="228600"/>
          </a:xfrm>
          <a:prstGeom prst="rect">
            <a:avLst/>
          </a:prstGeom>
          <a:noFill/>
          <a:ln/>
        </p:spPr>
        <p:txBody>
          <a:bodyPr wrap="square" lIns="0" tIns="0" rIns="0" bIns="0" rtlCol="0" anchor="ctr"/>
          <a:lstStyle/>
          <a:p>
            <a:pPr marL="0" indent="0">
              <a:buNone/>
            </a:pPr>
            <a:r>
              <a:rPr lang="en-US" sz="1000" b="1" dirty="0">
                <a:solidFill>
                  <a:srgbClr val="1E2340"/>
                </a:solidFill>
                <a:latin typeface="Calibri" pitchFamily="34" charset="0"/>
                <a:ea typeface="Calibri" pitchFamily="34" charset="-122"/>
                <a:cs typeface="Calibri" pitchFamily="34" charset="-120"/>
              </a:rPr>
              <a:t>🏷️ Tags &amp; Release</a:t>
            </a:r>
            <a:endParaRPr lang="en-US" sz="1000" dirty="0"/>
          </a:p>
        </p:txBody>
      </p:sp>
      <p:sp>
        <p:nvSpPr>
          <p:cNvPr id="36" name="Text 34"/>
          <p:cNvSpPr/>
          <p:nvPr/>
        </p:nvSpPr>
        <p:spPr>
          <a:xfrm>
            <a:off x="5760720" y="2779776"/>
            <a:ext cx="283464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Semantic versioning</a:t>
            </a:r>
            <a:endParaRPr lang="en-US" sz="950" dirty="0"/>
          </a:p>
          <a:p>
            <a:pPr marL="0" indent="0">
              <a:buNone/>
            </a:pPr>
            <a:r>
              <a:rPr lang="en-US" sz="950" dirty="0">
                <a:solidFill>
                  <a:srgbClr val="6B7280"/>
                </a:solidFill>
                <a:latin typeface="Calibri" pitchFamily="34" charset="0"/>
                <a:ea typeface="Calibri" pitchFamily="34" charset="-122"/>
                <a:cs typeface="Calibri" pitchFamily="34" charset="-120"/>
              </a:rPr>
              <a:t>fără tag-uri git locale; versionName 1.0</a:t>
            </a:r>
            <a:endParaRPr lang="en-US" sz="950" dirty="0"/>
          </a:p>
        </p:txBody>
      </p:sp>
      <p:sp>
        <p:nvSpPr>
          <p:cNvPr id="37" name="Text 35"/>
          <p:cNvSpPr/>
          <p:nvPr/>
        </p:nvSpPr>
        <p:spPr>
          <a:xfrm>
            <a:off x="5760720" y="3072384"/>
            <a:ext cx="2834640" cy="228600"/>
          </a:xfrm>
          <a:prstGeom prst="rect">
            <a:avLst/>
          </a:prstGeom>
          <a:noFill/>
          <a:ln/>
        </p:spPr>
        <p:txBody>
          <a:bodyPr wrap="square" lIns="0" tIns="0" rIns="0" bIns="0" rtlCol="0" anchor="ctr"/>
          <a:lstStyle/>
          <a:p>
            <a:pPr marL="0" indent="0">
              <a:buNone/>
            </a:pPr>
            <a:r>
              <a:rPr lang="en-US" sz="1000" b="1" dirty="0">
                <a:solidFill>
                  <a:srgbClr val="1E2340"/>
                </a:solidFill>
                <a:latin typeface="Calibri" pitchFamily="34" charset="0"/>
                <a:ea typeface="Calibri" pitchFamily="34" charset="-122"/>
                <a:cs typeface="Calibri" pitchFamily="34" charset="-120"/>
              </a:rPr>
              <a:t>📋 Issue tracking</a:t>
            </a:r>
            <a:endParaRPr lang="en-US" sz="1000" dirty="0"/>
          </a:p>
        </p:txBody>
      </p:sp>
      <p:sp>
        <p:nvSpPr>
          <p:cNvPr id="38" name="Text 36"/>
          <p:cNvSpPr/>
          <p:nvPr/>
        </p:nvSpPr>
        <p:spPr>
          <a:xfrm>
            <a:off x="5760720" y="3300984"/>
            <a:ext cx="283464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GitHub Issues cu</a:t>
            </a:r>
            <a:endParaRPr lang="en-US" sz="950" dirty="0"/>
          </a:p>
          <a:p>
            <a:pPr marL="0" indent="0">
              <a:buNone/>
            </a:pPr>
            <a:r>
              <a:rPr lang="en-US" sz="950" dirty="0">
                <a:solidFill>
                  <a:srgbClr val="6B7280"/>
                </a:solidFill>
                <a:latin typeface="Calibri" pitchFamily="34" charset="0"/>
                <a:ea typeface="Calibri" pitchFamily="34" charset="-122"/>
                <a:cs typeface="Calibri" pitchFamily="34" charset="-120"/>
              </a:rPr>
              <a:t>bug_report + feature templates</a:t>
            </a:r>
            <a:endParaRPr lang="en-US" sz="950" dirty="0"/>
          </a:p>
        </p:txBody>
      </p:sp>
      <p:sp>
        <p:nvSpPr>
          <p:cNvPr id="39" name="Text 37"/>
          <p:cNvSpPr/>
          <p:nvPr/>
        </p:nvSpPr>
        <p:spPr>
          <a:xfrm>
            <a:off x="5760720" y="3593592"/>
            <a:ext cx="2834640" cy="228600"/>
          </a:xfrm>
          <a:prstGeom prst="rect">
            <a:avLst/>
          </a:prstGeom>
          <a:noFill/>
          <a:ln/>
        </p:spPr>
        <p:txBody>
          <a:bodyPr wrap="square" lIns="0" tIns="0" rIns="0" bIns="0" rtlCol="0" anchor="ctr"/>
          <a:lstStyle/>
          <a:p>
            <a:pPr marL="0" indent="0">
              <a:buNone/>
            </a:pPr>
            <a:r>
              <a:rPr lang="en-US" sz="1000" b="1" dirty="0">
                <a:solidFill>
                  <a:srgbClr val="1E2340"/>
                </a:solidFill>
                <a:latin typeface="Calibri" pitchFamily="34" charset="0"/>
                <a:ea typeface="Calibri" pitchFamily="34" charset="-122"/>
                <a:cs typeface="Calibri" pitchFamily="34" charset="-120"/>
              </a:rPr>
              <a:t>📦 CI/CD</a:t>
            </a:r>
            <a:endParaRPr lang="en-US" sz="1000" dirty="0"/>
          </a:p>
        </p:txBody>
      </p:sp>
      <p:sp>
        <p:nvSpPr>
          <p:cNvPr id="40" name="Text 38"/>
          <p:cNvSpPr/>
          <p:nvPr/>
        </p:nvSpPr>
        <p:spPr>
          <a:xfrm>
            <a:off x="5760720" y="3822192"/>
            <a:ext cx="283464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manual build local cu Gradle; CI/CD de completat dacă se configurează GitHub Actions</a:t>
            </a:r>
            <a:endParaRPr lang="en-US" sz="950" dirty="0"/>
          </a:p>
          <a:p>
            <a:pPr marL="0" indent="0">
              <a:buNone/>
            </a:pPr>
            <a:endParaRPr lang="en-US" sz="950" dirty="0"/>
          </a:p>
        </p:txBody>
      </p:sp>
      <p:sp>
        <p:nvSpPr>
          <p:cNvPr id="41" name="Text 39"/>
          <p:cNvSpPr/>
          <p:nvPr/>
        </p:nvSpPr>
        <p:spPr>
          <a:xfrm>
            <a:off x="5760720" y="4114800"/>
            <a:ext cx="2834640" cy="228600"/>
          </a:xfrm>
          <a:prstGeom prst="rect">
            <a:avLst/>
          </a:prstGeom>
          <a:noFill/>
          <a:ln/>
        </p:spPr>
        <p:txBody>
          <a:bodyPr wrap="square" lIns="0" tIns="0" rIns="0" bIns="0" rtlCol="0" anchor="ctr"/>
          <a:lstStyle/>
          <a:p>
            <a:pPr marL="0" indent="0">
              <a:buNone/>
            </a:pPr>
            <a:r>
              <a:rPr lang="en-US" sz="1000" b="1" dirty="0">
                <a:solidFill>
                  <a:srgbClr val="1E2340"/>
                </a:solidFill>
                <a:latin typeface="Calibri" pitchFamily="34" charset="0"/>
                <a:ea typeface="Calibri" pitchFamily="34" charset="-122"/>
                <a:cs typeface="Calibri" pitchFamily="34" charset="-120"/>
              </a:rPr>
              <a:t>📄 Documentație</a:t>
            </a:r>
            <a:endParaRPr lang="en-US" sz="1000" dirty="0"/>
          </a:p>
        </p:txBody>
      </p:sp>
      <p:sp>
        <p:nvSpPr>
          <p:cNvPr id="42" name="Text 40"/>
          <p:cNvSpPr/>
          <p:nvPr/>
        </p:nvSpPr>
        <p:spPr>
          <a:xfrm>
            <a:off x="5760720" y="4343400"/>
            <a:ext cx="283464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README + docs/specs</a:t>
            </a:r>
            <a:endParaRPr lang="en-US" sz="950" dirty="0"/>
          </a:p>
          <a:p>
            <a:pPr marL="0" indent="0">
              <a:buNone/>
            </a:pPr>
            <a:r>
              <a:rPr lang="en-US" sz="950" dirty="0">
                <a:solidFill>
                  <a:srgbClr val="6B7280"/>
                </a:solidFill>
                <a:latin typeface="Calibri" pitchFamily="34" charset="0"/>
                <a:ea typeface="Calibri" pitchFamily="34" charset="-122"/>
                <a:cs typeface="Calibri" pitchFamily="34" charset="-120"/>
              </a:rPr>
              <a:t>specificații tehnice</a:t>
            </a:r>
            <a:endParaRPr lang="en-US" sz="950" dirty="0"/>
          </a:p>
        </p:txBody>
      </p:sp>
      <p:sp>
        <p:nvSpPr>
          <p:cNvPr id="43" name="Text 41"/>
          <p:cNvSpPr/>
          <p:nvPr/>
        </p:nvSpPr>
        <p:spPr>
          <a:xfrm>
            <a:off x="365760" y="4919472"/>
            <a:ext cx="8412480" cy="201168"/>
          </a:xfrm>
          <a:prstGeom prst="rect">
            <a:avLst/>
          </a:prstGeom>
          <a:noFill/>
          <a:ln/>
        </p:spPr>
        <p:txBody>
          <a:bodyPr wrap="square" lIns="0" tIns="0" rIns="0" bIns="0" rtlCol="0" anchor="ctr"/>
          <a:lstStyle/>
          <a:p>
            <a:pPr marL="0" indent="0">
              <a:buNone/>
            </a:pPr>
            <a:r>
              <a:rPr lang="en-US" sz="900" b="1" dirty="0">
                <a:solidFill>
                  <a:srgbClr val="20C9B7"/>
                </a:solidFill>
                <a:latin typeface="Calibri" pitchFamily="34" charset="0"/>
                <a:ea typeface="Calibri" pitchFamily="34" charset="-122"/>
                <a:cs typeface="Calibri" pitchFamily="34" charset="-120"/>
              </a:rPr>
              <a:t>🔗  github.com/Valentin5643/LiftrixApp · 95 commit-uri locale analizate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3E"/>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TRANSPARENȚĂ &amp; RESURSE</a:t>
            </a:r>
            <a:endParaRPr lang="en-US" sz="900" dirty="0"/>
          </a:p>
        </p:txBody>
      </p:sp>
      <p:sp>
        <p:nvSpPr>
          <p:cNvPr id="3" name="Text 1"/>
          <p:cNvSpPr/>
          <p:nvPr/>
        </p:nvSpPr>
        <p:spPr>
          <a:xfrm>
            <a:off x="457200" y="411480"/>
            <a:ext cx="8229600" cy="8229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Resurse externe folosite</a:t>
            </a:r>
            <a:endParaRPr lang="en-US" sz="2400" dirty="0"/>
          </a:p>
          <a:p>
            <a:pPr marL="0" indent="0" algn="l">
              <a:buNone/>
            </a:pPr>
            <a:r>
              <a:rPr lang="en-US" sz="2400" b="1" dirty="0">
                <a:solidFill>
                  <a:srgbClr val="FFFFFF"/>
                </a:solidFill>
                <a:latin typeface="Calibri" pitchFamily="34" charset="0"/>
                <a:ea typeface="Calibri" pitchFamily="34" charset="-122"/>
                <a:cs typeface="Calibri" pitchFamily="34" charset="-120"/>
              </a:rPr>
              <a:t>și rolul AI-ului în proiect</a:t>
            </a:r>
            <a:endParaRPr lang="en-US" sz="2400" dirty="0"/>
          </a:p>
        </p:txBody>
      </p:sp>
      <p:sp>
        <p:nvSpPr>
          <p:cNvPr id="4" name="Text 2"/>
          <p:cNvSpPr/>
          <p:nvPr/>
        </p:nvSpPr>
        <p:spPr>
          <a:xfrm>
            <a:off x="365760" y="1371600"/>
            <a:ext cx="4114800" cy="274320"/>
          </a:xfrm>
          <a:prstGeom prst="rect">
            <a:avLst/>
          </a:prstGeom>
          <a:noFill/>
          <a:ln/>
        </p:spPr>
        <p:txBody>
          <a:bodyPr wrap="square" lIns="0" tIns="0" rIns="0" bIns="0" rtlCol="0" anchor="ctr"/>
          <a:lstStyle/>
          <a:p>
            <a:pPr marL="0" indent="0">
              <a:buNone/>
            </a:pPr>
            <a:r>
              <a:rPr lang="en-US" sz="1200" b="1" dirty="0">
                <a:solidFill>
                  <a:srgbClr val="20C9B7"/>
                </a:solidFill>
                <a:latin typeface="Calibri" pitchFamily="34" charset="0"/>
                <a:ea typeface="Calibri" pitchFamily="34" charset="-122"/>
                <a:cs typeface="Calibri" pitchFamily="34" charset="-120"/>
              </a:rPr>
              <a:t>📦 Resurse Tehnice</a:t>
            </a:r>
            <a:endParaRPr lang="en-US" sz="1200" dirty="0"/>
          </a:p>
        </p:txBody>
      </p:sp>
      <p:sp>
        <p:nvSpPr>
          <p:cNvPr id="5" name="Text 3"/>
          <p:cNvSpPr/>
          <p:nvPr/>
        </p:nvSpPr>
        <p:spPr>
          <a:xfrm>
            <a:off x="365760" y="1719072"/>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UI/UX: </a:t>
            </a:r>
            <a:r>
              <a:rPr lang="en-US" sz="950" dirty="0">
                <a:solidFill>
                  <a:srgbClr val="C8D6E5"/>
                </a:solidFill>
                <a:latin typeface="Calibri" pitchFamily="34" charset="0"/>
                <a:ea typeface="Calibri" pitchFamily="34" charset="-122"/>
                <a:cs typeface="Calibri" pitchFamily="34" charset="-120"/>
              </a:rPr>
              <a:t>Jetpack Compose · Material 3 (Google)</a:t>
            </a:r>
            <a:endParaRPr lang="en-US" sz="950" dirty="0"/>
          </a:p>
        </p:txBody>
      </p:sp>
      <p:sp>
        <p:nvSpPr>
          <p:cNvPr id="6" name="Text 4"/>
          <p:cNvSpPr/>
          <p:nvPr/>
        </p:nvSpPr>
        <p:spPr>
          <a:xfrm>
            <a:off x="365760" y="2011680"/>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Backend: </a:t>
            </a:r>
            <a:r>
              <a:rPr lang="en-US" sz="950" dirty="0">
                <a:solidFill>
                  <a:srgbClr val="C8D6E5"/>
                </a:solidFill>
                <a:latin typeface="Calibri" pitchFamily="34" charset="0"/>
                <a:ea typeface="Calibri" pitchFamily="34" charset="-122"/>
                <a:cs typeface="Calibri" pitchFamily="34" charset="-120"/>
              </a:rPr>
              <a:t>Firebase Firestore · Auth · Storage · Analytics · Crashlytics · Performance · Remote Config · Firebase AI</a:t>
            </a:r>
            <a:endParaRPr lang="en-US" sz="950" dirty="0"/>
          </a:p>
        </p:txBody>
      </p:sp>
      <p:sp>
        <p:nvSpPr>
          <p:cNvPr id="7" name="Text 5"/>
          <p:cNvSpPr/>
          <p:nvPr/>
        </p:nvSpPr>
        <p:spPr>
          <a:xfrm>
            <a:off x="365760" y="2304288"/>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DB Local: </a:t>
            </a:r>
            <a:r>
              <a:rPr lang="en-US" sz="950" dirty="0">
                <a:solidFill>
                  <a:srgbClr val="C8D6E5"/>
                </a:solidFill>
                <a:latin typeface="Calibri" pitchFamily="34" charset="0"/>
                <a:ea typeface="Calibri" pitchFamily="34" charset="-122"/>
                <a:cs typeface="Calibri" pitchFamily="34" charset="-120"/>
              </a:rPr>
              <a:t>Room (Android Jetpack) · Paging3</a:t>
            </a:r>
            <a:endParaRPr lang="en-US" sz="950" dirty="0"/>
          </a:p>
        </p:txBody>
      </p:sp>
      <p:sp>
        <p:nvSpPr>
          <p:cNvPr id="8" name="Text 6"/>
          <p:cNvSpPr/>
          <p:nvPr/>
        </p:nvSpPr>
        <p:spPr>
          <a:xfrm>
            <a:off x="365760" y="2596896"/>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DI: </a:t>
            </a:r>
            <a:r>
              <a:rPr lang="en-US" sz="950" dirty="0">
                <a:solidFill>
                  <a:srgbClr val="C8D6E5"/>
                </a:solidFill>
                <a:latin typeface="Calibri" pitchFamily="34" charset="0"/>
                <a:ea typeface="Calibri" pitchFamily="34" charset="-122"/>
                <a:cs typeface="Calibri" pitchFamily="34" charset="-120"/>
              </a:rPr>
              <a:t>Hilt / Dagger (Google)</a:t>
            </a:r>
            <a:endParaRPr lang="en-US" sz="950" dirty="0"/>
          </a:p>
        </p:txBody>
      </p:sp>
      <p:sp>
        <p:nvSpPr>
          <p:cNvPr id="9" name="Text 7"/>
          <p:cNvSpPr/>
          <p:nvPr/>
        </p:nvSpPr>
        <p:spPr>
          <a:xfrm>
            <a:off x="365760" y="2889504"/>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Async: </a:t>
            </a:r>
            <a:r>
              <a:rPr lang="en-US" sz="950" dirty="0">
                <a:solidFill>
                  <a:srgbClr val="C8D6E5"/>
                </a:solidFill>
                <a:latin typeface="Calibri" pitchFamily="34" charset="0"/>
                <a:ea typeface="Calibri" pitchFamily="34" charset="-122"/>
                <a:cs typeface="Calibri" pitchFamily="34" charset="-120"/>
              </a:rPr>
              <a:t>Kotlin Coroutines · Flow · StateFlow</a:t>
            </a:r>
            <a:endParaRPr lang="en-US" sz="950" dirty="0"/>
          </a:p>
        </p:txBody>
      </p:sp>
      <p:sp>
        <p:nvSpPr>
          <p:cNvPr id="10" name="Text 8"/>
          <p:cNvSpPr/>
          <p:nvPr/>
        </p:nvSpPr>
        <p:spPr>
          <a:xfrm>
            <a:off x="365760" y="3182112"/>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Sync: </a:t>
            </a:r>
            <a:r>
              <a:rPr lang="en-US" sz="950" dirty="0">
                <a:solidFill>
                  <a:srgbClr val="C8D6E5"/>
                </a:solidFill>
                <a:latin typeface="Calibri" pitchFamily="34" charset="0"/>
                <a:ea typeface="Calibri" pitchFamily="34" charset="-122"/>
                <a:cs typeface="Calibri" pitchFamily="34" charset="-120"/>
              </a:rPr>
              <a:t>WorkManager (Android Jetpack)</a:t>
            </a:r>
            <a:endParaRPr lang="en-US" sz="950" dirty="0"/>
          </a:p>
        </p:txBody>
      </p:sp>
      <p:sp>
        <p:nvSpPr>
          <p:cNvPr id="11" name="Text 9"/>
          <p:cNvSpPr/>
          <p:nvPr/>
        </p:nvSpPr>
        <p:spPr>
          <a:xfrm>
            <a:off x="365760" y="3474720"/>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QR Code: </a:t>
            </a:r>
            <a:r>
              <a:rPr lang="en-US" sz="950" dirty="0">
                <a:solidFill>
                  <a:srgbClr val="C8D6E5"/>
                </a:solidFill>
                <a:latin typeface="Calibri" pitchFamily="34" charset="0"/>
                <a:ea typeface="Calibri" pitchFamily="34" charset="-122"/>
                <a:cs typeface="Calibri" pitchFamily="34" charset="-120"/>
              </a:rPr>
              <a:t>ZXing (Apache 2.0) · zxing-android-embedded</a:t>
            </a:r>
            <a:endParaRPr lang="en-US" sz="950" dirty="0"/>
          </a:p>
        </p:txBody>
      </p:sp>
      <p:sp>
        <p:nvSpPr>
          <p:cNvPr id="12" name="Text 10"/>
          <p:cNvSpPr/>
          <p:nvPr/>
        </p:nvSpPr>
        <p:spPr>
          <a:xfrm>
            <a:off x="365760" y="3767328"/>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Security: </a:t>
            </a:r>
            <a:r>
              <a:rPr lang="en-US" sz="950" dirty="0">
                <a:solidFill>
                  <a:srgbClr val="C8D6E5"/>
                </a:solidFill>
                <a:latin typeface="Calibri" pitchFamily="34" charset="0"/>
                <a:ea typeface="Calibri" pitchFamily="34" charset="-122"/>
                <a:cs typeface="Calibri" pitchFamily="34" charset="-120"/>
              </a:rPr>
              <a:t>AndroidX Security Crypto · SQLCipher</a:t>
            </a:r>
            <a:endParaRPr lang="en-US" sz="950" dirty="0"/>
          </a:p>
        </p:txBody>
      </p:sp>
      <p:sp>
        <p:nvSpPr>
          <p:cNvPr id="13" name="Text 11"/>
          <p:cNvSpPr/>
          <p:nvPr/>
        </p:nvSpPr>
        <p:spPr>
          <a:xfrm>
            <a:off x="365760" y="4059936"/>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Testing: </a:t>
            </a:r>
            <a:r>
              <a:rPr lang="en-US" sz="950" dirty="0">
                <a:solidFill>
                  <a:srgbClr val="C8D6E5"/>
                </a:solidFill>
                <a:latin typeface="Calibri" pitchFamily="34" charset="0"/>
                <a:ea typeface="Calibri" pitchFamily="34" charset="-122"/>
                <a:cs typeface="Calibri" pitchFamily="34" charset="-120"/>
              </a:rPr>
              <a:t>MockK · Turbine · JUnit · Espresso</a:t>
            </a:r>
            <a:endParaRPr lang="en-US" sz="950" dirty="0"/>
          </a:p>
        </p:txBody>
      </p:sp>
      <p:sp>
        <p:nvSpPr>
          <p:cNvPr id="14" name="Text 12"/>
          <p:cNvSpPr/>
          <p:nvPr/>
        </p:nvSpPr>
        <p:spPr>
          <a:xfrm>
            <a:off x="365760" y="4352544"/>
            <a:ext cx="4663440" cy="256032"/>
          </a:xfrm>
          <a:prstGeom prst="rect">
            <a:avLst/>
          </a:prstGeom>
          <a:noFill/>
          <a:ln/>
        </p:spPr>
        <p:txBody>
          <a:bodyPr wrap="square" lIns="0" tIns="0" rIns="0" bIns="0" rtlCol="0" anchor="ctr"/>
          <a:lstStyle/>
          <a:p>
            <a:pPr marL="0" indent="0">
              <a:buNone/>
            </a:pPr>
            <a:r>
              <a:rPr lang="en-US" sz="950" b="1" dirty="0">
                <a:solidFill>
                  <a:srgbClr val="20C9B7"/>
                </a:solidFill>
                <a:latin typeface="Calibri" pitchFamily="34" charset="0"/>
                <a:ea typeface="Calibri" pitchFamily="34" charset="-122"/>
                <a:cs typeface="Calibri" pitchFamily="34" charset="-120"/>
              </a:rPr>
              <a:t>Auth extern: </a:t>
            </a:r>
            <a:r>
              <a:rPr lang="en-US" sz="950" dirty="0">
                <a:solidFill>
                  <a:srgbClr val="C8D6E5"/>
                </a:solidFill>
                <a:latin typeface="Calibri" pitchFamily="34" charset="0"/>
                <a:ea typeface="Calibri" pitchFamily="34" charset="-122"/>
                <a:cs typeface="Calibri" pitchFamily="34" charset="-120"/>
              </a:rPr>
              <a:t>Google Sign-In (play-services-auth)</a:t>
            </a:r>
            <a:endParaRPr lang="en-US" sz="950" dirty="0"/>
          </a:p>
        </p:txBody>
      </p:sp>
      <p:sp>
        <p:nvSpPr>
          <p:cNvPr id="15" name="Shape 13"/>
          <p:cNvSpPr/>
          <p:nvPr/>
        </p:nvSpPr>
        <p:spPr>
          <a:xfrm>
            <a:off x="5212080" y="1298448"/>
            <a:ext cx="3657600" cy="3566160"/>
          </a:xfrm>
          <a:prstGeom prst="rect">
            <a:avLst/>
          </a:prstGeom>
          <a:solidFill>
            <a:srgbClr val="FFFFFF">
              <a:alpha val="6000"/>
            </a:srgbClr>
          </a:solidFill>
          <a:ln w="12700">
            <a:solidFill>
              <a:srgbClr val="10B981">
                <a:alpha val="40000"/>
              </a:srgbClr>
            </a:solidFill>
            <a:prstDash val="solid"/>
          </a:ln>
        </p:spPr>
        <p:txBody>
          <a:bodyPr/>
          <a:lstStyle/>
          <a:p>
            <a:endParaRPr lang="en-US"/>
          </a:p>
        </p:txBody>
      </p:sp>
      <p:sp>
        <p:nvSpPr>
          <p:cNvPr id="16" name="Shape 14"/>
          <p:cNvSpPr/>
          <p:nvPr/>
        </p:nvSpPr>
        <p:spPr>
          <a:xfrm>
            <a:off x="5212080" y="1298448"/>
            <a:ext cx="3657600" cy="54864"/>
          </a:xfrm>
          <a:prstGeom prst="rect">
            <a:avLst/>
          </a:prstGeom>
          <a:solidFill>
            <a:srgbClr val="10B981"/>
          </a:solidFill>
          <a:ln w="12700">
            <a:solidFill>
              <a:srgbClr val="10B981"/>
            </a:solidFill>
            <a:prstDash val="solid"/>
          </a:ln>
        </p:spPr>
        <p:txBody>
          <a:bodyPr/>
          <a:lstStyle/>
          <a:p>
            <a:endParaRPr lang="en-US"/>
          </a:p>
        </p:txBody>
      </p:sp>
      <p:sp>
        <p:nvSpPr>
          <p:cNvPr id="17" name="Text 15"/>
          <p:cNvSpPr/>
          <p:nvPr/>
        </p:nvSpPr>
        <p:spPr>
          <a:xfrm>
            <a:off x="5349240" y="1371600"/>
            <a:ext cx="3383280" cy="27432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Unde a intervenit AI-ul</a:t>
            </a:r>
            <a:endParaRPr lang="en-US" sz="1200" dirty="0"/>
          </a:p>
        </p:txBody>
      </p:sp>
      <p:sp>
        <p:nvSpPr>
          <p:cNvPr id="18" name="Text 16"/>
          <p:cNvSpPr/>
          <p:nvPr/>
        </p:nvSpPr>
        <p:spPr>
          <a:xfrm>
            <a:off x="5349240" y="1719072"/>
            <a:ext cx="128016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Asistență</a:t>
            </a:r>
            <a:endParaRPr lang="en-US" sz="900" dirty="0"/>
          </a:p>
        </p:txBody>
      </p:sp>
      <p:sp>
        <p:nvSpPr>
          <p:cNvPr id="19" name="Text 17"/>
          <p:cNvSpPr/>
          <p:nvPr/>
        </p:nvSpPr>
        <p:spPr>
          <a:xfrm>
            <a:off x="5349240" y="1737360"/>
            <a:ext cx="3291840" cy="219456"/>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Brainstorming arhitectură</a:t>
            </a:r>
            <a:endParaRPr lang="en-US" sz="1000" dirty="0"/>
          </a:p>
        </p:txBody>
      </p:sp>
      <p:sp>
        <p:nvSpPr>
          <p:cNvPr id="20" name="Text 18"/>
          <p:cNvSpPr/>
          <p:nvPr/>
        </p:nvSpPr>
        <p:spPr>
          <a:xfrm>
            <a:off x="5349240" y="1956816"/>
            <a:ext cx="3383280" cy="201168"/>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Explorarea trade-off-urilor Clean Arch vs MVVM</a:t>
            </a:r>
            <a:endParaRPr lang="en-US" sz="900" dirty="0"/>
          </a:p>
        </p:txBody>
      </p:sp>
      <p:sp>
        <p:nvSpPr>
          <p:cNvPr id="21" name="Text 19"/>
          <p:cNvSpPr/>
          <p:nvPr/>
        </p:nvSpPr>
        <p:spPr>
          <a:xfrm>
            <a:off x="5349240" y="2194560"/>
            <a:ext cx="128016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Semnificativ</a:t>
            </a:r>
            <a:endParaRPr lang="en-US" sz="900" dirty="0"/>
          </a:p>
        </p:txBody>
      </p:sp>
      <p:sp>
        <p:nvSpPr>
          <p:cNvPr id="22" name="Text 20"/>
          <p:cNvSpPr/>
          <p:nvPr/>
        </p:nvSpPr>
        <p:spPr>
          <a:xfrm>
            <a:off x="5349240" y="2212848"/>
            <a:ext cx="3291840" cy="219456"/>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Generare documentație</a:t>
            </a:r>
            <a:endParaRPr lang="en-US" sz="1000" dirty="0"/>
          </a:p>
        </p:txBody>
      </p:sp>
      <p:sp>
        <p:nvSpPr>
          <p:cNvPr id="23" name="Text 21"/>
          <p:cNvSpPr/>
          <p:nvPr/>
        </p:nvSpPr>
        <p:spPr>
          <a:xfrm>
            <a:off x="5349240" y="2432304"/>
            <a:ext cx="3383280" cy="201168"/>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README.md, AGENTS.md/CLAUDE.md și docs/specs</a:t>
            </a:r>
            <a:endParaRPr lang="en-US" sz="900" dirty="0"/>
          </a:p>
        </p:txBody>
      </p:sp>
      <p:sp>
        <p:nvSpPr>
          <p:cNvPr id="24" name="Text 22"/>
          <p:cNvSpPr/>
          <p:nvPr/>
        </p:nvSpPr>
        <p:spPr>
          <a:xfrm>
            <a:off x="5349240" y="2670048"/>
            <a:ext cx="128016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Asistență</a:t>
            </a:r>
            <a:endParaRPr lang="en-US" sz="900" dirty="0"/>
          </a:p>
        </p:txBody>
      </p:sp>
      <p:sp>
        <p:nvSpPr>
          <p:cNvPr id="25" name="Text 23"/>
          <p:cNvSpPr/>
          <p:nvPr/>
        </p:nvSpPr>
        <p:spPr>
          <a:xfrm>
            <a:off x="5349240" y="2688336"/>
            <a:ext cx="3291840" cy="219456"/>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Asistență cod</a:t>
            </a:r>
            <a:endParaRPr lang="en-US" sz="1000" dirty="0"/>
          </a:p>
        </p:txBody>
      </p:sp>
      <p:sp>
        <p:nvSpPr>
          <p:cNvPr id="26" name="Text 24"/>
          <p:cNvSpPr/>
          <p:nvPr/>
        </p:nvSpPr>
        <p:spPr>
          <a:xfrm>
            <a:off x="5349240" y="2907792"/>
            <a:ext cx="3383280" cy="201168"/>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Sugestii pentru pattern-uri specifice (WorkManager, etc.)</a:t>
            </a:r>
            <a:endParaRPr lang="en-US" sz="900" dirty="0"/>
          </a:p>
        </p:txBody>
      </p:sp>
      <p:sp>
        <p:nvSpPr>
          <p:cNvPr id="27" name="Text 25"/>
          <p:cNvSpPr/>
          <p:nvPr/>
        </p:nvSpPr>
        <p:spPr>
          <a:xfrm>
            <a:off x="5349240" y="3145536"/>
            <a:ext cx="128016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Asistență</a:t>
            </a:r>
            <a:endParaRPr lang="en-US" sz="900" dirty="0"/>
          </a:p>
        </p:txBody>
      </p:sp>
      <p:sp>
        <p:nvSpPr>
          <p:cNvPr id="28" name="Text 26"/>
          <p:cNvSpPr/>
          <p:nvPr/>
        </p:nvSpPr>
        <p:spPr>
          <a:xfrm>
            <a:off x="5349240" y="3163824"/>
            <a:ext cx="3291840" cy="219456"/>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Debugging</a:t>
            </a:r>
            <a:endParaRPr lang="en-US" sz="1000" dirty="0"/>
          </a:p>
        </p:txBody>
      </p:sp>
      <p:sp>
        <p:nvSpPr>
          <p:cNvPr id="29" name="Text 27"/>
          <p:cNvSpPr/>
          <p:nvPr/>
        </p:nvSpPr>
        <p:spPr>
          <a:xfrm>
            <a:off x="5349240" y="3383280"/>
            <a:ext cx="3383280" cy="201168"/>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Analiza erorilor de compilare și runtime</a:t>
            </a:r>
            <a:endParaRPr lang="en-US" sz="900" dirty="0"/>
          </a:p>
        </p:txBody>
      </p:sp>
      <p:sp>
        <p:nvSpPr>
          <p:cNvPr id="30" name="Text 28"/>
          <p:cNvSpPr/>
          <p:nvPr/>
        </p:nvSpPr>
        <p:spPr>
          <a:xfrm>
            <a:off x="5349240" y="3621024"/>
            <a:ext cx="128016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Minor</a:t>
            </a:r>
            <a:endParaRPr lang="en-US" sz="900" dirty="0"/>
          </a:p>
        </p:txBody>
      </p:sp>
      <p:sp>
        <p:nvSpPr>
          <p:cNvPr id="31" name="Text 29"/>
          <p:cNvSpPr/>
          <p:nvPr/>
        </p:nvSpPr>
        <p:spPr>
          <a:xfrm>
            <a:off x="5349240" y="3639312"/>
            <a:ext cx="3291840" cy="219456"/>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Design sistem</a:t>
            </a:r>
            <a:endParaRPr lang="en-US" sz="1000" dirty="0"/>
          </a:p>
        </p:txBody>
      </p:sp>
      <p:sp>
        <p:nvSpPr>
          <p:cNvPr id="32" name="Text 30"/>
          <p:cNvSpPr/>
          <p:nvPr/>
        </p:nvSpPr>
        <p:spPr>
          <a:xfrm>
            <a:off x="5349240" y="3858768"/>
            <a:ext cx="3383280" cy="201168"/>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Paleta de culori LiftrixColorsV2, spacing system</a:t>
            </a:r>
            <a:endParaRPr lang="en-US" sz="900" dirty="0"/>
          </a:p>
        </p:txBody>
      </p:sp>
      <p:sp>
        <p:nvSpPr>
          <p:cNvPr id="33" name="Text 31"/>
          <p:cNvSpPr/>
          <p:nvPr/>
        </p:nvSpPr>
        <p:spPr>
          <a:xfrm>
            <a:off x="5349240" y="4096512"/>
            <a:ext cx="128016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Autor 100%</a:t>
            </a:r>
            <a:endParaRPr lang="en-US" sz="900" dirty="0"/>
          </a:p>
        </p:txBody>
      </p:sp>
      <p:sp>
        <p:nvSpPr>
          <p:cNvPr id="34" name="Text 32"/>
          <p:cNvSpPr/>
          <p:nvPr/>
        </p:nvSpPr>
        <p:spPr>
          <a:xfrm>
            <a:off x="5349240" y="4114800"/>
            <a:ext cx="3291840" cy="219456"/>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Logică business</a:t>
            </a:r>
            <a:endParaRPr lang="en-US" sz="1000" dirty="0"/>
          </a:p>
        </p:txBody>
      </p:sp>
      <p:sp>
        <p:nvSpPr>
          <p:cNvPr id="35" name="Text 33"/>
          <p:cNvSpPr/>
          <p:nvPr/>
        </p:nvSpPr>
        <p:spPr>
          <a:xfrm>
            <a:off x="5349240" y="4334256"/>
            <a:ext cx="3383280" cy="201168"/>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Implementată de autor, AI nu a generat logica core</a:t>
            </a:r>
            <a:endParaRPr lang="en-US" sz="900" dirty="0"/>
          </a:p>
        </p:txBody>
      </p:sp>
      <p:sp>
        <p:nvSpPr>
          <p:cNvPr id="36" name="Text 34"/>
          <p:cNvSpPr/>
          <p:nvPr/>
        </p:nvSpPr>
        <p:spPr>
          <a:xfrm>
            <a:off x="365760" y="4919472"/>
            <a:ext cx="8412480" cy="201168"/>
          </a:xfrm>
          <a:prstGeom prst="rect">
            <a:avLst/>
          </a:prstGeom>
          <a:noFill/>
          <a:ln/>
        </p:spPr>
        <p:txBody>
          <a:bodyPr wrap="square" lIns="0" tIns="0" rIns="0" bIns="0" rtlCol="0" anchor="ctr"/>
          <a:lstStyle/>
          <a:p>
            <a:pPr marL="0" indent="0">
              <a:buNone/>
            </a:pPr>
            <a:r>
              <a:rPr lang="en-US" sz="900" i="1" dirty="0">
                <a:solidFill>
                  <a:srgbClr val="20C9B7"/>
                </a:solidFill>
                <a:latin typeface="Calibri" pitchFamily="34" charset="0"/>
                <a:ea typeface="Calibri" pitchFamily="34" charset="-122"/>
                <a:cs typeface="Calibri" pitchFamily="34" charset="-120"/>
              </a:rPr>
              <a:t>📌  Transparența în privința AI-ului demonstrează maturitate profesională și respectul față de regulile competiției.</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IMPACT &amp; VALOARE</a:t>
            </a:r>
            <a:endParaRPr lang="en-US" sz="900" dirty="0"/>
          </a:p>
        </p:txBody>
      </p:sp>
      <p:sp>
        <p:nvSpPr>
          <p:cNvPr id="3" name="Text 1"/>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2400" b="1" dirty="0">
                <a:solidFill>
                  <a:srgbClr val="1E2340"/>
                </a:solidFill>
                <a:latin typeface="Calibri" pitchFamily="34" charset="0"/>
                <a:ea typeface="Calibri" pitchFamily="34" charset="-122"/>
                <a:cs typeface="Calibri" pitchFamily="34" charset="-120"/>
              </a:rPr>
              <a:t>De ce Liftrix merită atenție?</a:t>
            </a:r>
            <a:endParaRPr lang="en-US" sz="2400" dirty="0"/>
          </a:p>
        </p:txBody>
      </p:sp>
      <p:sp>
        <p:nvSpPr>
          <p:cNvPr id="4" name="Shape 2"/>
          <p:cNvSpPr/>
          <p:nvPr/>
        </p:nvSpPr>
        <p:spPr>
          <a:xfrm>
            <a:off x="365760" y="987552"/>
            <a:ext cx="2606040" cy="34747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987552"/>
            <a:ext cx="2606040" cy="384048"/>
          </a:xfrm>
          <a:prstGeom prst="rect">
            <a:avLst/>
          </a:prstGeom>
          <a:solidFill>
            <a:srgbClr val="20C9B7">
              <a:alpha val="85000"/>
            </a:srgbClr>
          </a:solidFill>
          <a:ln w="12700">
            <a:solidFill>
              <a:srgbClr val="20C9B7">
                <a:alpha val="85000"/>
              </a:srgbClr>
            </a:solidFill>
            <a:prstDash val="solid"/>
          </a:ln>
        </p:spPr>
        <p:txBody>
          <a:bodyPr/>
          <a:lstStyle/>
          <a:p>
            <a:endParaRPr lang="en-US"/>
          </a:p>
        </p:txBody>
      </p:sp>
      <p:sp>
        <p:nvSpPr>
          <p:cNvPr id="6" name="Text 4"/>
          <p:cNvSpPr/>
          <p:nvPr/>
        </p:nvSpPr>
        <p:spPr>
          <a:xfrm>
            <a:off x="457200" y="1024128"/>
            <a:ext cx="23774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Impact Tehnic</a:t>
            </a:r>
            <a:endParaRPr lang="en-US" sz="1300" dirty="0"/>
          </a:p>
        </p:txBody>
      </p:sp>
      <p:sp>
        <p:nvSpPr>
          <p:cNvPr id="7" name="Text 5"/>
          <p:cNvSpPr/>
          <p:nvPr/>
        </p:nvSpPr>
        <p:spPr>
          <a:xfrm>
            <a:off x="457200" y="1463040"/>
            <a:ext cx="2423160" cy="65836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Arhitectură Clean care poate suporta echipe de 5+ devs</a:t>
            </a:r>
            <a:endParaRPr lang="en-US" sz="1000" dirty="0"/>
          </a:p>
        </p:txBody>
      </p:sp>
      <p:sp>
        <p:nvSpPr>
          <p:cNvPr id="8" name="Text 6"/>
          <p:cNvSpPr/>
          <p:nvPr/>
        </p:nvSpPr>
        <p:spPr>
          <a:xfrm>
            <a:off x="457200" y="2176272"/>
            <a:ext cx="2423160" cy="65836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Offline-first rezolvă o problemă reală în contexte cu conectivitate slabă</a:t>
            </a:r>
            <a:endParaRPr lang="en-US" sz="1000" dirty="0"/>
          </a:p>
        </p:txBody>
      </p:sp>
      <p:sp>
        <p:nvSpPr>
          <p:cNvPr id="9" name="Text 7"/>
          <p:cNvSpPr/>
          <p:nvPr/>
        </p:nvSpPr>
        <p:spPr>
          <a:xfrm>
            <a:off x="457200" y="2889504"/>
            <a:ext cx="2423160" cy="65836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65 entități Room + 64 DAO-uri + 43 interfețe repository / 41 implementări = codebase matur, cu build/test final necesar</a:t>
            </a:r>
            <a:endParaRPr lang="en-US" sz="1000" dirty="0"/>
          </a:p>
        </p:txBody>
      </p:sp>
      <p:sp>
        <p:nvSpPr>
          <p:cNvPr id="10" name="Text 8"/>
          <p:cNvSpPr/>
          <p:nvPr/>
        </p:nvSpPr>
        <p:spPr>
          <a:xfrm>
            <a:off x="457200" y="3602736"/>
            <a:ext cx="2423160" cy="658368"/>
          </a:xfrm>
          <a:prstGeom prst="rect">
            <a:avLst/>
          </a:prstGeom>
          <a:noFill/>
          <a:ln/>
        </p:spPr>
        <p:txBody>
          <a:bodyPr wrap="square" lIns="0" tIns="0" rIns="0" bIns="0" rtlCol="0" anchor="ctr"/>
          <a:lstStyle/>
          <a:p>
            <a:pPr marL="0" indent="0">
              <a:buNone/>
            </a:pPr>
            <a:r>
              <a:rPr lang="en-US" sz="1000" b="1" dirty="0">
                <a:solidFill>
                  <a:srgbClr val="20C9B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Securitate user-scoped aplicată consistent la toate nivelele</a:t>
            </a:r>
            <a:endParaRPr lang="en-US" sz="1000" dirty="0"/>
          </a:p>
        </p:txBody>
      </p:sp>
      <p:sp>
        <p:nvSpPr>
          <p:cNvPr id="11" name="Shape 9"/>
          <p:cNvSpPr/>
          <p:nvPr/>
        </p:nvSpPr>
        <p:spPr>
          <a:xfrm>
            <a:off x="3200400" y="987552"/>
            <a:ext cx="2606040" cy="34747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2" name="Shape 10"/>
          <p:cNvSpPr/>
          <p:nvPr/>
        </p:nvSpPr>
        <p:spPr>
          <a:xfrm>
            <a:off x="3200400" y="987552"/>
            <a:ext cx="2606040" cy="384048"/>
          </a:xfrm>
          <a:prstGeom prst="rect">
            <a:avLst/>
          </a:prstGeom>
          <a:solidFill>
            <a:srgbClr val="4F8EF7">
              <a:alpha val="85000"/>
            </a:srgbClr>
          </a:solidFill>
          <a:ln w="12700">
            <a:solidFill>
              <a:srgbClr val="4F8EF7">
                <a:alpha val="85000"/>
              </a:srgbClr>
            </a:solidFill>
            <a:prstDash val="solid"/>
          </a:ln>
        </p:spPr>
        <p:txBody>
          <a:bodyPr/>
          <a:lstStyle/>
          <a:p>
            <a:endParaRPr lang="en-US"/>
          </a:p>
        </p:txBody>
      </p:sp>
      <p:sp>
        <p:nvSpPr>
          <p:cNvPr id="13" name="Text 11"/>
          <p:cNvSpPr/>
          <p:nvPr/>
        </p:nvSpPr>
        <p:spPr>
          <a:xfrm>
            <a:off x="3291840" y="1024128"/>
            <a:ext cx="23774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Impact Utilizator</a:t>
            </a:r>
            <a:endParaRPr lang="en-US" sz="1300" dirty="0"/>
          </a:p>
        </p:txBody>
      </p:sp>
      <p:sp>
        <p:nvSpPr>
          <p:cNvPr id="14" name="Text 12"/>
          <p:cNvSpPr/>
          <p:nvPr/>
        </p:nvSpPr>
        <p:spPr>
          <a:xfrm>
            <a:off x="3291840" y="1463040"/>
            <a:ext cx="2423160" cy="65836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Elimină nevoia de 3-4 aplicații separate pentru tracking fitness</a:t>
            </a:r>
            <a:endParaRPr lang="en-US" sz="1000" dirty="0"/>
          </a:p>
        </p:txBody>
      </p:sp>
      <p:sp>
        <p:nvSpPr>
          <p:cNvPr id="15" name="Text 13"/>
          <p:cNvSpPr/>
          <p:nvPr/>
        </p:nvSpPr>
        <p:spPr>
          <a:xfrm>
            <a:off x="3291840" y="2176272"/>
            <a:ext cx="2423160" cy="65836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Funcționează complet offline — esențial în sălile de sport</a:t>
            </a:r>
            <a:endParaRPr lang="en-US" sz="1000" dirty="0"/>
          </a:p>
        </p:txBody>
      </p:sp>
      <p:sp>
        <p:nvSpPr>
          <p:cNvPr id="16" name="Text 14"/>
          <p:cNvSpPr/>
          <p:nvPr/>
        </p:nvSpPr>
        <p:spPr>
          <a:xfrm>
            <a:off x="3291840" y="2889504"/>
            <a:ext cx="2423160" cy="65836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AI Coach personalizat bazat pe datele tale reale, nu sfaturi generice</a:t>
            </a:r>
            <a:endParaRPr lang="en-US" sz="1000" dirty="0"/>
          </a:p>
        </p:txBody>
      </p:sp>
      <p:sp>
        <p:nvSpPr>
          <p:cNvPr id="17" name="Text 15"/>
          <p:cNvSpPr/>
          <p:nvPr/>
        </p:nvSpPr>
        <p:spPr>
          <a:xfrm>
            <a:off x="3291840" y="3602736"/>
            <a:ext cx="2423160" cy="658368"/>
          </a:xfrm>
          <a:prstGeom prst="rect">
            <a:avLst/>
          </a:prstGeom>
          <a:noFill/>
          <a:ln/>
        </p:spPr>
        <p:txBody>
          <a:bodyPr wrap="square" lIns="0" tIns="0" rIns="0" bIns="0" rtlCol="0" anchor="ctr"/>
          <a:lstStyle/>
          <a:p>
            <a:pPr marL="0" indent="0">
              <a:buNone/>
            </a:pPr>
            <a:r>
              <a:rPr lang="en-US" sz="1000" b="1" dirty="0">
                <a:solidFill>
                  <a:srgbClr val="4F8EF7"/>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Motivație socială contextualizată pe activitate sportivă</a:t>
            </a:r>
            <a:endParaRPr lang="en-US" sz="1000" dirty="0"/>
          </a:p>
        </p:txBody>
      </p:sp>
      <p:sp>
        <p:nvSpPr>
          <p:cNvPr id="18" name="Shape 16"/>
          <p:cNvSpPr/>
          <p:nvPr/>
        </p:nvSpPr>
        <p:spPr>
          <a:xfrm>
            <a:off x="6035040" y="987552"/>
            <a:ext cx="2606040" cy="3474720"/>
          </a:xfrm>
          <a:prstGeom prst="rect">
            <a:avLst/>
          </a:prstGeom>
          <a:solidFill>
            <a:srgbClr val="FAFAFA"/>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19" name="Shape 17"/>
          <p:cNvSpPr/>
          <p:nvPr/>
        </p:nvSpPr>
        <p:spPr>
          <a:xfrm>
            <a:off x="6035040" y="987552"/>
            <a:ext cx="2606040" cy="384048"/>
          </a:xfrm>
          <a:prstGeom prst="rect">
            <a:avLst/>
          </a:prstGeom>
          <a:solidFill>
            <a:srgbClr val="8B5CF6">
              <a:alpha val="85000"/>
            </a:srgbClr>
          </a:solidFill>
          <a:ln w="12700">
            <a:solidFill>
              <a:srgbClr val="8B5CF6">
                <a:alpha val="85000"/>
              </a:srgbClr>
            </a:solidFill>
            <a:prstDash val="solid"/>
          </a:ln>
        </p:spPr>
        <p:txBody>
          <a:bodyPr/>
          <a:lstStyle/>
          <a:p>
            <a:endParaRPr lang="en-US"/>
          </a:p>
        </p:txBody>
      </p:sp>
      <p:sp>
        <p:nvSpPr>
          <p:cNvPr id="20" name="Text 18"/>
          <p:cNvSpPr/>
          <p:nvPr/>
        </p:nvSpPr>
        <p:spPr>
          <a:xfrm>
            <a:off x="6126480" y="1024128"/>
            <a:ext cx="23774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Impact Educativ</a:t>
            </a:r>
            <a:endParaRPr lang="en-US" sz="1300" dirty="0"/>
          </a:p>
        </p:txBody>
      </p:sp>
      <p:sp>
        <p:nvSpPr>
          <p:cNvPr id="21" name="Text 19"/>
          <p:cNvSpPr/>
          <p:nvPr/>
        </p:nvSpPr>
        <p:spPr>
          <a:xfrm>
            <a:off x="6126480" y="1463040"/>
            <a:ext cx="2423160" cy="65836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Demonstrează aplicabilitatea pattern-urilor enterprise în proiecte individuale</a:t>
            </a:r>
            <a:endParaRPr lang="en-US" sz="1000" dirty="0"/>
          </a:p>
        </p:txBody>
      </p:sp>
      <p:sp>
        <p:nvSpPr>
          <p:cNvPr id="22" name="Text 20"/>
          <p:cNvSpPr/>
          <p:nvPr/>
        </p:nvSpPr>
        <p:spPr>
          <a:xfrm>
            <a:off x="6126480" y="2176272"/>
            <a:ext cx="2423160" cy="65836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Documentație tehnică amplă, cu README și specificații în docs/</a:t>
            </a:r>
            <a:endParaRPr lang="en-US" sz="1000" dirty="0"/>
          </a:p>
        </p:txBody>
      </p:sp>
      <p:sp>
        <p:nvSpPr>
          <p:cNvPr id="23" name="Text 21"/>
          <p:cNvSpPr/>
          <p:nvPr/>
        </p:nvSpPr>
        <p:spPr>
          <a:xfrm>
            <a:off x="6126480" y="2889504"/>
            <a:ext cx="2423160" cy="65836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Integrare AI responsabilă: rate limiting, abuse prevention, transparență</a:t>
            </a:r>
            <a:endParaRPr lang="en-US" sz="1000" dirty="0"/>
          </a:p>
        </p:txBody>
      </p:sp>
      <p:sp>
        <p:nvSpPr>
          <p:cNvPr id="24" name="Text 22"/>
          <p:cNvSpPr/>
          <p:nvPr/>
        </p:nvSpPr>
        <p:spPr>
          <a:xfrm>
            <a:off x="6126480" y="3602736"/>
            <a:ext cx="2423160" cy="658368"/>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 </a:t>
            </a:r>
            <a:r>
              <a:rPr lang="en-US" sz="1000" dirty="0">
                <a:solidFill>
                  <a:srgbClr val="6B7280"/>
                </a:solidFill>
                <a:latin typeface="Calibri" pitchFamily="34" charset="0"/>
                <a:ea typeface="Calibri" pitchFamily="34" charset="-122"/>
                <a:cs typeface="Calibri" pitchFamily="34" charset="-120"/>
              </a:rPr>
              <a:t>Accesibilitate țintă WCAG 2.1 AA; necesită audit final</a:t>
            </a:r>
            <a:endParaRPr lang="en-US" sz="1000" dirty="0"/>
          </a:p>
        </p:txBody>
      </p:sp>
      <p:sp>
        <p:nvSpPr>
          <p:cNvPr id="25" name="Shape 23"/>
          <p:cNvSpPr/>
          <p:nvPr/>
        </p:nvSpPr>
        <p:spPr>
          <a:xfrm>
            <a:off x="365760" y="4572000"/>
            <a:ext cx="8412480" cy="347472"/>
          </a:xfrm>
          <a:prstGeom prst="rect">
            <a:avLst/>
          </a:prstGeom>
          <a:solidFill>
            <a:srgbClr val="F0FFFE"/>
          </a:solidFill>
          <a:ln w="6350">
            <a:solidFill>
              <a:srgbClr val="E5E7EB"/>
            </a:solidFill>
            <a:prstDash val="solid"/>
          </a:ln>
          <a:effectLst>
            <a:outerShdw blurRad="101600" dist="25400" dir="8100000" algn="bl" rotWithShape="0">
              <a:srgbClr val="000000">
                <a:alpha val="8000"/>
              </a:srgbClr>
            </a:outerShdw>
          </a:effectLst>
        </p:spPr>
        <p:txBody>
          <a:bodyPr/>
          <a:lstStyle/>
          <a:p>
            <a:endParaRPr lang="en-US"/>
          </a:p>
        </p:txBody>
      </p:sp>
      <p:sp>
        <p:nvSpPr>
          <p:cNvPr id="26" name="Text 24"/>
          <p:cNvSpPr/>
          <p:nvPr/>
        </p:nvSpPr>
        <p:spPr>
          <a:xfrm>
            <a:off x="502920" y="4626864"/>
            <a:ext cx="8229600" cy="256032"/>
          </a:xfrm>
          <a:prstGeom prst="rect">
            <a:avLst/>
          </a:prstGeom>
          <a:noFill/>
          <a:ln/>
        </p:spPr>
        <p:txBody>
          <a:bodyPr wrap="square" lIns="0" tIns="0" rIns="0" bIns="0" rtlCol="0" anchor="ctr"/>
          <a:lstStyle/>
          <a:p>
            <a:pPr marL="0" indent="0">
              <a:buNone/>
            </a:pPr>
            <a:r>
              <a:rPr lang="en-US" sz="1000" b="1" dirty="0">
                <a:solidFill>
                  <a:srgbClr val="0FA897"/>
                </a:solidFill>
                <a:latin typeface="Calibri" pitchFamily="34" charset="0"/>
                <a:ea typeface="Calibri" pitchFamily="34" charset="-122"/>
                <a:cs typeface="Calibri" pitchFamily="34" charset="-120"/>
              </a:rPr>
              <a:t>🏆  Liftrix este mai mult decât o aplicație de fitness — este o demonstrație practică de inginerie software profesionistă aplicată unui produs real, funcțional și util.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0C9B7"/>
          </a:solidFill>
          <a:ln w="12700">
            <a:solidFill>
              <a:srgbClr val="20C9B7"/>
            </a:solidFill>
            <a:prstDash val="solid"/>
          </a:ln>
        </p:spPr>
        <p:txBody>
          <a:bodyPr/>
          <a:lstStyle/>
          <a:p>
            <a:endParaRPr lang="en-US"/>
          </a:p>
        </p:txBody>
      </p:sp>
      <p:sp>
        <p:nvSpPr>
          <p:cNvPr id="3" name="Shape 1"/>
          <p:cNvSpPr/>
          <p:nvPr/>
        </p:nvSpPr>
        <p:spPr>
          <a:xfrm>
            <a:off x="6858000" y="457200"/>
            <a:ext cx="3200400" cy="3200400"/>
          </a:xfrm>
          <a:prstGeom prst="ellipse">
            <a:avLst/>
          </a:prstGeom>
          <a:solidFill>
            <a:srgbClr val="20C9B7">
              <a:alpha val="9000"/>
            </a:srgbClr>
          </a:solidFill>
          <a:ln w="12700">
            <a:solidFill>
              <a:srgbClr val="20C9B7">
                <a:alpha val="12000"/>
              </a:srgbClr>
            </a:solidFill>
            <a:prstDash val="solid"/>
          </a:ln>
        </p:spPr>
        <p:txBody>
          <a:bodyPr/>
          <a:lstStyle/>
          <a:p>
            <a:endParaRPr lang="en-US"/>
          </a:p>
        </p:txBody>
      </p:sp>
      <p:sp>
        <p:nvSpPr>
          <p:cNvPr id="4" name="Text 2"/>
          <p:cNvSpPr/>
          <p:nvPr/>
        </p:nvSpPr>
        <p:spPr>
          <a:xfrm>
            <a:off x="457200" y="228600"/>
            <a:ext cx="3657600" cy="256032"/>
          </a:xfrm>
          <a:prstGeom prst="rect">
            <a:avLst/>
          </a:prstGeom>
          <a:noFill/>
          <a:ln/>
        </p:spPr>
        <p:txBody>
          <a:bodyPr wrap="square" lIns="0" tIns="0" rIns="0" bIns="0" rtlCol="0" anchor="ctr"/>
          <a:lstStyle/>
          <a:p>
            <a:pPr marL="0" indent="0" algn="l">
              <a:buNone/>
            </a:pPr>
            <a:r>
              <a:rPr lang="en-US" sz="900" b="1" kern="0" spc="300" dirty="0">
                <a:solidFill>
                  <a:srgbClr val="20C9B7"/>
                </a:solidFill>
                <a:latin typeface="Calibri" pitchFamily="34" charset="0"/>
                <a:ea typeface="Calibri" pitchFamily="34" charset="-122"/>
                <a:cs typeface="Calibri" pitchFamily="34" charset="-120"/>
              </a:rPr>
              <a:t>CONCLUZIE</a:t>
            </a:r>
            <a:endParaRPr lang="en-US" sz="900" dirty="0"/>
          </a:p>
        </p:txBody>
      </p:sp>
      <p:sp>
        <p:nvSpPr>
          <p:cNvPr id="5" name="Text 3"/>
          <p:cNvSpPr/>
          <p:nvPr/>
        </p:nvSpPr>
        <p:spPr>
          <a:xfrm>
            <a:off x="457200" y="548640"/>
            <a:ext cx="64008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Liftrix — Ready for the next level</a:t>
            </a:r>
            <a:endParaRPr lang="en-US" sz="2800" dirty="0"/>
          </a:p>
        </p:txBody>
      </p:sp>
      <p:sp>
        <p:nvSpPr>
          <p:cNvPr id="6" name="Text 4"/>
          <p:cNvSpPr/>
          <p:nvPr/>
        </p:nvSpPr>
        <p:spPr>
          <a:xfrm>
            <a:off x="457200" y="1170432"/>
            <a:ext cx="6858000" cy="548640"/>
          </a:xfrm>
          <a:prstGeom prst="rect">
            <a:avLst/>
          </a:prstGeom>
          <a:noFill/>
          <a:ln/>
        </p:spPr>
        <p:txBody>
          <a:bodyPr wrap="square" lIns="0" tIns="0" rIns="0" bIns="0" rtlCol="0" anchor="ctr"/>
          <a:lstStyle/>
          <a:p>
            <a:pPr marL="0" indent="0">
              <a:buNone/>
            </a:pPr>
            <a:r>
              <a:rPr lang="en-US" sz="1400" dirty="0">
                <a:solidFill>
                  <a:srgbClr val="B2F5EF"/>
                </a:solidFill>
                <a:latin typeface="Calibri" pitchFamily="34" charset="0"/>
                <a:ea typeface="Calibri" pitchFamily="34" charset="-122"/>
                <a:cs typeface="Calibri" pitchFamily="34" charset="-120"/>
              </a:rPr>
              <a:t>O platformă fitness completă, arhitecturată profesionist,</a:t>
            </a:r>
            <a:endParaRPr lang="en-US" sz="1400" dirty="0"/>
          </a:p>
          <a:p>
            <a:pPr marL="0" indent="0">
              <a:buNone/>
            </a:pPr>
            <a:r>
              <a:rPr lang="en-US" sz="1400" dirty="0">
                <a:solidFill>
                  <a:srgbClr val="B2F5EF"/>
                </a:solidFill>
                <a:latin typeface="Calibri" pitchFamily="34" charset="0"/>
                <a:ea typeface="Calibri" pitchFamily="34" charset="-122"/>
                <a:cs typeface="Calibri" pitchFamily="34" charset="-120"/>
              </a:rPr>
              <a:t>cu AI integrat și design offline-first</a:t>
            </a:r>
            <a:endParaRPr lang="en-US" sz="1400" dirty="0"/>
          </a:p>
        </p:txBody>
      </p:sp>
      <p:sp>
        <p:nvSpPr>
          <p:cNvPr id="7" name="Text 5"/>
          <p:cNvSpPr/>
          <p:nvPr/>
        </p:nvSpPr>
        <p:spPr>
          <a:xfrm>
            <a:off x="457200" y="1874520"/>
            <a:ext cx="4114800" cy="292608"/>
          </a:xfrm>
          <a:prstGeom prst="rect">
            <a:avLst/>
          </a:prstGeom>
          <a:noFill/>
          <a:ln/>
        </p:spPr>
        <p:txBody>
          <a:bodyPr wrap="square" lIns="0" tIns="0" rIns="0" bIns="0" rtlCol="0" anchor="ctr"/>
          <a:lstStyle/>
          <a:p>
            <a:pPr marL="0" indent="0">
              <a:buNone/>
            </a:pPr>
            <a:r>
              <a:rPr lang="en-US" sz="1200" b="1" dirty="0">
                <a:solidFill>
                  <a:srgbClr val="20C9B7"/>
                </a:solidFill>
                <a:latin typeface="Calibri" pitchFamily="34" charset="0"/>
                <a:ea typeface="Calibri" pitchFamily="34" charset="-122"/>
                <a:cs typeface="Calibri" pitchFamily="34" charset="-120"/>
              </a:rPr>
              <a:t>✅ Realizat</a:t>
            </a:r>
            <a:endParaRPr lang="en-US" sz="1200" dirty="0"/>
          </a:p>
        </p:txBody>
      </p:sp>
      <p:sp>
        <p:nvSpPr>
          <p:cNvPr id="8" name="Text 6"/>
          <p:cNvSpPr/>
          <p:nvPr/>
        </p:nvSpPr>
        <p:spPr>
          <a:xfrm>
            <a:off x="457200" y="2212848"/>
            <a:ext cx="4572000" cy="274320"/>
          </a:xfrm>
          <a:prstGeom prst="rect">
            <a:avLst/>
          </a:prstGeom>
          <a:noFill/>
          <a:ln/>
        </p:spPr>
        <p:txBody>
          <a:bodyPr wrap="square" lIns="0" tIns="0" rIns="0" bIns="0" rtlCol="0" anchor="ctr"/>
          <a:lstStyle/>
          <a:p>
            <a:pPr marL="0" indent="0">
              <a:buNone/>
            </a:pPr>
            <a:r>
              <a:rPr lang="en-US" sz="1050" b="1" dirty="0">
                <a:solidFill>
                  <a:srgbClr val="20C9B7"/>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Workout tracking complet (real-time, offline, sync)</a:t>
            </a:r>
            <a:endParaRPr lang="en-US" sz="1050" dirty="0"/>
          </a:p>
        </p:txBody>
      </p:sp>
      <p:sp>
        <p:nvSpPr>
          <p:cNvPr id="9" name="Text 7"/>
          <p:cNvSpPr/>
          <p:nvPr/>
        </p:nvSpPr>
        <p:spPr>
          <a:xfrm>
            <a:off x="457200" y="2523744"/>
            <a:ext cx="4572000" cy="274320"/>
          </a:xfrm>
          <a:prstGeom prst="rect">
            <a:avLst/>
          </a:prstGeom>
          <a:noFill/>
          <a:ln/>
        </p:spPr>
        <p:txBody>
          <a:bodyPr wrap="square" lIns="0" tIns="0" rIns="0" bIns="0" rtlCol="0" anchor="ctr"/>
          <a:lstStyle/>
          <a:p>
            <a:pPr marL="0" indent="0">
              <a:buNone/>
            </a:pPr>
            <a:r>
              <a:rPr lang="en-US" sz="1050" b="1" dirty="0">
                <a:solidFill>
                  <a:srgbClr val="20C9B7"/>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Progress analytics cu 15 widget-uri custom, țintă 60fps</a:t>
            </a:r>
            <a:endParaRPr lang="en-US" sz="1050" dirty="0"/>
          </a:p>
        </p:txBody>
      </p:sp>
      <p:sp>
        <p:nvSpPr>
          <p:cNvPr id="10" name="Text 8"/>
          <p:cNvSpPr/>
          <p:nvPr/>
        </p:nvSpPr>
        <p:spPr>
          <a:xfrm>
            <a:off x="457200" y="2834640"/>
            <a:ext cx="4572000" cy="274320"/>
          </a:xfrm>
          <a:prstGeom prst="rect">
            <a:avLst/>
          </a:prstGeom>
          <a:noFill/>
          <a:ln/>
        </p:spPr>
        <p:txBody>
          <a:bodyPr wrap="square" lIns="0" tIns="0" rIns="0" bIns="0" rtlCol="0" anchor="ctr"/>
          <a:lstStyle/>
          <a:p>
            <a:pPr marL="0" indent="0">
              <a:buNone/>
            </a:pPr>
            <a:r>
              <a:rPr lang="en-US" sz="1050" b="1" dirty="0">
                <a:solidFill>
                  <a:srgbClr val="20C9B7"/>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Social feed cu privacy 3 niveluri + QR pairing</a:t>
            </a:r>
            <a:endParaRPr lang="en-US" sz="1050" dirty="0"/>
          </a:p>
        </p:txBody>
      </p:sp>
      <p:sp>
        <p:nvSpPr>
          <p:cNvPr id="11" name="Text 9"/>
          <p:cNvSpPr/>
          <p:nvPr/>
        </p:nvSpPr>
        <p:spPr>
          <a:xfrm>
            <a:off x="457200" y="3145536"/>
            <a:ext cx="4572000" cy="274320"/>
          </a:xfrm>
          <a:prstGeom prst="rect">
            <a:avLst/>
          </a:prstGeom>
          <a:noFill/>
          <a:ln/>
        </p:spPr>
        <p:txBody>
          <a:bodyPr wrap="square" lIns="0" tIns="0" rIns="0" bIns="0" rtlCol="0" anchor="ctr"/>
          <a:lstStyle/>
          <a:p>
            <a:pPr marL="0" indent="0">
              <a:buNone/>
            </a:pPr>
            <a:r>
              <a:rPr lang="en-US" sz="1050" b="1" dirty="0">
                <a:solidFill>
                  <a:srgbClr val="20C9B7"/>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AI Coaching (Gemini 2.5 Flash Lite) — în testare</a:t>
            </a:r>
            <a:endParaRPr lang="en-US" sz="1050" dirty="0"/>
          </a:p>
        </p:txBody>
      </p:sp>
      <p:sp>
        <p:nvSpPr>
          <p:cNvPr id="12" name="Text 10"/>
          <p:cNvSpPr/>
          <p:nvPr/>
        </p:nvSpPr>
        <p:spPr>
          <a:xfrm>
            <a:off x="457200" y="3456432"/>
            <a:ext cx="4572000" cy="274320"/>
          </a:xfrm>
          <a:prstGeom prst="rect">
            <a:avLst/>
          </a:prstGeom>
          <a:noFill/>
          <a:ln/>
        </p:spPr>
        <p:txBody>
          <a:bodyPr wrap="square" lIns="0" tIns="0" rIns="0" bIns="0" rtlCol="0" anchor="ctr"/>
          <a:lstStyle/>
          <a:p>
            <a:pPr marL="0" indent="0">
              <a:buNone/>
            </a:pPr>
            <a:r>
              <a:rPr lang="en-US" sz="1050" b="1" dirty="0">
                <a:solidFill>
                  <a:srgbClr val="20C9B7"/>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Clean Architecture completă (30 module Hilt)</a:t>
            </a:r>
            <a:endParaRPr lang="en-US" sz="1050" dirty="0"/>
          </a:p>
        </p:txBody>
      </p:sp>
      <p:sp>
        <p:nvSpPr>
          <p:cNvPr id="13" name="Text 11"/>
          <p:cNvSpPr/>
          <p:nvPr/>
        </p:nvSpPr>
        <p:spPr>
          <a:xfrm>
            <a:off x="5212080" y="1874520"/>
            <a:ext cx="3657600" cy="292608"/>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Următorii pași</a:t>
            </a:r>
            <a:endParaRPr lang="en-US" sz="1200" dirty="0"/>
          </a:p>
        </p:txBody>
      </p:sp>
      <p:sp>
        <p:nvSpPr>
          <p:cNvPr id="14" name="Text 12"/>
          <p:cNvSpPr/>
          <p:nvPr/>
        </p:nvSpPr>
        <p:spPr>
          <a:xfrm>
            <a:off x="5212080" y="2212848"/>
            <a:ext cx="3657600" cy="274320"/>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Pregătire publicare Google Play</a:t>
            </a:r>
            <a:endParaRPr lang="en-US" sz="1050" dirty="0"/>
          </a:p>
        </p:txBody>
      </p:sp>
      <p:sp>
        <p:nvSpPr>
          <p:cNvPr id="15" name="Text 13"/>
          <p:cNvSpPr/>
          <p:nvPr/>
        </p:nvSpPr>
        <p:spPr>
          <a:xfrm>
            <a:off x="5212080" y="2523744"/>
            <a:ext cx="3657600" cy="274320"/>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Integrare wearable (WearOS)</a:t>
            </a:r>
            <a:endParaRPr lang="en-US" sz="1050" dirty="0"/>
          </a:p>
        </p:txBody>
      </p:sp>
      <p:sp>
        <p:nvSpPr>
          <p:cNvPr id="16" name="Text 14"/>
          <p:cNvSpPr/>
          <p:nvPr/>
        </p:nvSpPr>
        <p:spPr>
          <a:xfrm>
            <a:off x="5212080" y="2834640"/>
            <a:ext cx="3657600" cy="274320"/>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Analiză video formă exerciții</a:t>
            </a:r>
            <a:endParaRPr lang="en-US" sz="1050" dirty="0"/>
          </a:p>
        </p:txBody>
      </p:sp>
      <p:sp>
        <p:nvSpPr>
          <p:cNvPr id="17" name="Text 15"/>
          <p:cNvSpPr/>
          <p:nvPr/>
        </p:nvSpPr>
        <p:spPr>
          <a:xfrm>
            <a:off x="5212080" y="3145536"/>
            <a:ext cx="3657600" cy="274320"/>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Tracking nutriție</a:t>
            </a:r>
            <a:endParaRPr lang="en-US" sz="1050" dirty="0"/>
          </a:p>
        </p:txBody>
      </p:sp>
      <p:sp>
        <p:nvSpPr>
          <p:cNvPr id="18" name="Text 16"/>
          <p:cNvSpPr/>
          <p:nvPr/>
        </p:nvSpPr>
        <p:spPr>
          <a:xfrm>
            <a:off x="5212080" y="3456432"/>
            <a:ext cx="3657600" cy="274320"/>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Web dashboard companion</a:t>
            </a:r>
            <a:endParaRPr lang="en-US" sz="1050" dirty="0"/>
          </a:p>
        </p:txBody>
      </p:sp>
      <p:sp>
        <p:nvSpPr>
          <p:cNvPr id="19" name="Text 17"/>
          <p:cNvSpPr/>
          <p:nvPr/>
        </p:nvSpPr>
        <p:spPr>
          <a:xfrm>
            <a:off x="5212080" y="3767328"/>
            <a:ext cx="3657600" cy="274320"/>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  </a:t>
            </a:r>
            <a:r>
              <a:rPr lang="en-US" sz="1050" dirty="0">
                <a:solidFill>
                  <a:srgbClr val="C8D6E5"/>
                </a:solidFill>
                <a:latin typeface="Calibri" pitchFamily="34" charset="0"/>
                <a:ea typeface="Calibri" pitchFamily="34" charset="-122"/>
                <a:cs typeface="Calibri" pitchFamily="34" charset="-120"/>
              </a:rPr>
              <a:t>AI personalizare avansată</a:t>
            </a:r>
            <a:endParaRPr lang="en-US" sz="1050" dirty="0"/>
          </a:p>
        </p:txBody>
      </p:sp>
      <p:sp>
        <p:nvSpPr>
          <p:cNvPr id="20" name="Shape 18"/>
          <p:cNvSpPr/>
          <p:nvPr/>
        </p:nvSpPr>
        <p:spPr>
          <a:xfrm>
            <a:off x="457200" y="4224528"/>
            <a:ext cx="8321040" cy="713232"/>
          </a:xfrm>
          <a:prstGeom prst="rect">
            <a:avLst/>
          </a:prstGeom>
          <a:solidFill>
            <a:srgbClr val="FFFFFF">
              <a:alpha val="6000"/>
            </a:srgbClr>
          </a:solidFill>
          <a:ln w="12700">
            <a:solidFill>
              <a:srgbClr val="20C9B7">
                <a:alpha val="40000"/>
              </a:srgbClr>
            </a:solidFill>
            <a:prstDash val="solid"/>
          </a:ln>
        </p:spPr>
        <p:txBody>
          <a:bodyPr/>
          <a:lstStyle/>
          <a:p>
            <a:endParaRPr lang="en-US"/>
          </a:p>
        </p:txBody>
      </p:sp>
      <p:sp>
        <p:nvSpPr>
          <p:cNvPr id="21" name="Text 19"/>
          <p:cNvSpPr/>
          <p:nvPr/>
        </p:nvSpPr>
        <p:spPr>
          <a:xfrm>
            <a:off x="548640" y="4279392"/>
            <a:ext cx="8138160" cy="274320"/>
          </a:xfrm>
          <a:prstGeom prst="rect">
            <a:avLst/>
          </a:prstGeom>
          <a:noFill/>
          <a:ln/>
        </p:spPr>
        <p:txBody>
          <a:bodyPr wrap="square" lIns="0" tIns="0" rIns="0" bIns="0" rtlCol="0" anchor="ctr"/>
          <a:lstStyle/>
          <a:p>
            <a:pPr marL="0" indent="0" algn="ctr">
              <a:buNone/>
            </a:pPr>
            <a:r>
              <a:rPr lang="en-US" sz="1000" dirty="0">
                <a:solidFill>
                  <a:srgbClr val="B2F5EF"/>
                </a:solidFill>
                <a:latin typeface="Calibri" pitchFamily="34" charset="0"/>
                <a:ea typeface="Calibri" pitchFamily="34" charset="-122"/>
                <a:cs typeface="Calibri" pitchFamily="34" charset="-120"/>
              </a:rPr>
              <a:t>📧  valijianu98@gmail.com  |  🔗  github.com/Valentin5643/LiftrixApp  |  📱  APK disponibil după generarea release-ului Gradle</a:t>
            </a:r>
            <a:endParaRPr lang="en-US" sz="1000" dirty="0"/>
          </a:p>
        </p:txBody>
      </p:sp>
      <p:sp>
        <p:nvSpPr>
          <p:cNvPr id="22" name="Text 20"/>
          <p:cNvSpPr/>
          <p:nvPr/>
        </p:nvSpPr>
        <p:spPr>
          <a:xfrm>
            <a:off x="548640" y="4553712"/>
            <a:ext cx="81381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Vă mulțumesc! — Sunt deschis oricăror întrebări.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TotalTime>
  <Words>3204</Words>
  <Application>Microsoft Office PowerPoint</Application>
  <PresentationFormat>On-screen Show (16:9)</PresentationFormat>
  <Paragraphs>420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Liftrix — InfoEducație</dc:title>
  <dc:subject>PptxGenJS Presentation</dc:subject>
  <dc:creator>Liftrix</dc:creator>
  <cp:lastModifiedBy>Gheorghe Narcis</cp:lastModifiedBy>
  <cp:revision>2</cp:revision>
  <dcterms:created xsi:type="dcterms:W3CDTF">2026-04-20T09:14:47Z</dcterms:created>
  <dcterms:modified xsi:type="dcterms:W3CDTF">2026-04-26T15:34:53Z</dcterms:modified>
</cp:coreProperties>
</file>